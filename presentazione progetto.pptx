
<file path=[Content_Types].xml><?xml version="1.0" encoding="utf-8"?>
<Types xmlns="http://schemas.openxmlformats.org/package/2006/content-types">
  <Default Extension="xml" ContentType="application/xml"/>
  <Default Extension="jpg" ContentType="image/jpeg"/>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16.xml" ContentType="application/vnd.openxmlformats-officedocument.presentationml.notesSlide+xml"/>
  <Override PartName="/ppt/notesSlides/notesSlide14.xml" ContentType="application/vnd.openxmlformats-officedocument.presentationml.notesSlide+xml"/>
  <Override PartName="/ppt/notesSlides/notesSlide12.xml" ContentType="application/vnd.openxmlformats-officedocument.presentationml.notesSlide+xml"/>
  <Override PartName="/ppt/slideLayouts/slideLayout3.xml" ContentType="application/vnd.openxmlformats-officedocument.presentationml.slideLayout+xml"/>
  <Override PartName="/ppt/slideLayouts/slideLayout9.xml" ContentType="application/vnd.openxmlformats-officedocument.presentationml.slideLayout+xml"/>
  <Override PartName="/ppt/slides/slide13.xml" ContentType="application/vnd.openxmlformats-officedocument.presentationml.slide+xml"/>
  <Override PartName="/ppt/theme/theme2.xml" ContentType="application/vnd.openxmlformats-officedocument.theme+xml"/>
  <Override PartName="/ppt/theme/theme1.xml" ContentType="application/vnd.openxmlformats-officedocument.theme+xml"/>
  <Override PartName="/ppt/slides/slide3.xml" ContentType="application/vnd.openxmlformats-officedocument.presentationml.slide+xml"/>
  <Override PartName="/ppt/slideLayouts/slideLayout4.xml" ContentType="application/vnd.openxmlformats-officedocument.presentationml.slideLayout+xml"/>
  <Override PartName="/ppt/notesSlides/notesSlide5.xml" ContentType="application/vnd.openxmlformats-officedocument.presentationml.notesSlide+xml"/>
  <Override PartName="/ppt/slideLayouts/slideLayout1.xml" ContentType="application/vnd.openxmlformats-officedocument.presentationml.slideLayout+xml"/>
  <Override PartName="/ppt/slides/slide12.xml" ContentType="application/vnd.openxmlformats-officedocument.presentationml.slide+xml"/>
  <Override PartName="/ppt/slideLayouts/slideLayout5.xml" ContentType="application/vnd.openxmlformats-officedocument.presentationml.slideLayout+xml"/>
  <Override PartName="/ppt/slides/slide7.xml" ContentType="application/vnd.openxmlformats-officedocument.presentationml.slide+xml"/>
  <Override PartName="/ppt/notesSlides/notesSlide2.xml" ContentType="application/vnd.openxmlformats-officedocument.presentationml.notesSlide+xml"/>
  <Override PartName="/docProps/app.xml" ContentType="application/vnd.openxmlformats-officedocument.extended-properties+xml"/>
  <Override PartName="/ppt/viewProps.xml" ContentType="application/vnd.openxmlformats-officedocument.presentationml.viewProps+xml"/>
  <Override PartName="/ppt/slides/slide8.xml" ContentType="application/vnd.openxmlformats-officedocument.presentationml.slide+xml"/>
  <Override PartName="/ppt/notesSlides/notesSlide8.xml" ContentType="application/vnd.openxmlformats-officedocument.presentationml.notesSlide+xml"/>
  <Override PartName="/ppt/slideLayouts/slideLayout2.xml" ContentType="application/vnd.openxmlformats-officedocument.presentationml.slideLayout+xml"/>
  <Override PartName="/ppt/presProps.xml" ContentType="application/vnd.openxmlformats-officedocument.presentationml.presProps+xml"/>
  <Override PartName="/ppt/slideLayouts/slideLayout8.xml" ContentType="application/vnd.openxmlformats-officedocument.presentationml.slideLayout+xml"/>
  <Override PartName="/docProps/core.xml" ContentType="application/vnd.openxmlformats-package.core-properties+xml"/>
  <Override PartName="/ppt/slideLayouts/slideLayout6.xml" ContentType="application/vnd.openxmlformats-officedocument.presentationml.slideLayout+xml"/>
  <Override PartName="/ppt/slides/slide2.xml" ContentType="application/vnd.openxmlformats-officedocument.presentationml.slide+xml"/>
  <Override PartName="/ppt/slideMasters/slideMaster1.xml" ContentType="application/vnd.openxmlformats-officedocument.presentationml.slideMaster+xml"/>
  <Override PartName="/ppt/slides/slide6.xml" ContentType="application/vnd.openxmlformats-officedocument.presentationml.slide+xml"/>
  <Override PartName="/ppt/notesMasters/notesMaster1.xml" ContentType="application/vnd.openxmlformats-officedocument.presentationml.notesMaster+xml"/>
  <Override PartName="/ppt/slides/slide1.xml" ContentType="application/vnd.openxmlformats-officedocument.presentationml.slide+xml"/>
  <Override PartName="/ppt/slides/slide5.xml" ContentType="application/vnd.openxmlformats-officedocument.presentationml.slide+xml"/>
  <Override PartName="/ppt/notesSlides/notesSlide13.xml" ContentType="application/vnd.openxmlformats-officedocument.presentationml.notesSlide+xml"/>
  <Override PartName="/ppt/slides/slide9.xml" ContentType="application/vnd.openxmlformats-officedocument.presentationml.slide+xml"/>
  <Override PartName="/ppt/notesSlides/notesSlide1.xml" ContentType="application/vnd.openxmlformats-officedocument.presentationml.notesSlide+xml"/>
  <Override PartName="/ppt/slides/slide11.xml" ContentType="application/vnd.openxmlformats-officedocument.presentationml.slide+xml"/>
  <Override PartName="/ppt/notesSlides/notesSlide15.xml" ContentType="application/vnd.openxmlformats-officedocument.presentationml.notesSlide+xml"/>
  <Override PartName="/ppt/slides/slide14.xml" ContentType="application/vnd.openxmlformats-officedocument.presentationml.slide+xml"/>
  <Override PartName="/ppt/notesSlides/notesSlide3.xml" ContentType="application/vnd.openxmlformats-officedocument.presentationml.notesSlide+xml"/>
  <Override PartName="/ppt/slideLayouts/slideLayout7.xml" ContentType="application/vnd.openxmlformats-officedocument.presentationml.slideLayout+xml"/>
  <Override PartName="/ppt/slides/slide15.xml" ContentType="application/vnd.openxmlformats-officedocument.presentationml.slide+xml"/>
  <Override PartName="/ppt/slides/slide16.xml" ContentType="application/vnd.openxmlformats-officedocument.presentationml.slide+xml"/>
  <Override PartName="/ppt/tableStyles.xml" ContentType="application/vnd.openxmlformats-officedocument.presentationml.tableStyles+xml"/>
  <Override PartName="/ppt/notesSlides/notesSlide4.xml" ContentType="application/vnd.openxmlformats-officedocument.presentationml.notesSlide+xml"/>
  <Override PartName="/ppt/slides/slide4.xml" ContentType="application/vnd.openxmlformats-officedocument.presentationml.slide+xml"/>
  <Override PartName="/ppt/notesSlides/notesSlide6.xml" ContentType="application/vnd.openxmlformats-officedocument.presentationml.notesSlide+xml"/>
  <Override PartName="/ppt/presentation.xml" ContentType="application/vnd.openxmlformats-officedocument.presentationml.presentation.main+xml"/>
  <Override PartName="/ppt/notesSlides/notesSlide7.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slides/slide10.xml" ContentType="application/vnd.openxmlformats-officedocument.presentationml.slide+xml"/>
  <Override PartName="/ppt/notesSlides/notesSlide11.xml" ContentType="application/vnd.openxmlformats-officedocument.presentationml.notes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autoCompressPictures="0" embedTrueTypeFonts="1" saveSubsetFonts="1" strictFirstAndLastChars="0">
  <p:sldMasterIdLst>
    <p:sldMasterId id="2147483648" r:id="rId1"/>
  </p:sldMasterIdLst>
  <p:notesMasterIdLst>
    <p:notesMasterId r:id="rId20"/>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Lst>
  <p:sldSz cx="9144000" cy="51435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EA37CDA1-CCFA-4E4F-8383-CC0F6BD98904}">
  <a:tblStyle styleId="{EA37CDA1-CCFA-4E4F-8383-CC0F6BD98904}" styleName="Table_0">
    <a:wholeTbl>
      <a:tcTxStyle>
        <a:srgbClr val="000000"/>
      </a:tcTxStyle>
      <a:tcStyle>
        <a:tcBdr>
          <a:left>
            <a:ln w="9525">
              <a:solidFill>
                <a:srgbClr val="9E9E9E"/>
              </a:solidFill>
            </a:ln>
          </a:left>
          <a:right>
            <a:ln w="9525">
              <a:solidFill>
                <a:srgbClr val="9E9E9E"/>
              </a:solidFill>
            </a:ln>
          </a:right>
          <a:top>
            <a:ln w="9525">
              <a:solidFill>
                <a:srgbClr val="9E9E9E"/>
              </a:solidFill>
            </a:ln>
          </a:top>
          <a:bottom>
            <a:ln w="9525">
              <a:solidFill>
                <a:srgbClr val="9E9E9E"/>
              </a:solidFill>
            </a:ln>
          </a:bottom>
          <a:insideH>
            <a:ln w="9525">
              <a:solidFill>
                <a:srgbClr val="9E9E9E"/>
              </a:solidFill>
            </a:ln>
          </a:insideH>
          <a:insideV>
            <a:ln w="9525">
              <a:solidFill>
                <a:srgbClr val="9E9E9E"/>
              </a:solidFill>
            </a:ln>
          </a:insideV>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p:cViewPr>
        <p:scale>
          <a:sx n="0" d="6"/>
          <a:sy n="0" d="2"/>
        </p:scale>
        <p:origin x="1068309264" y="0"/>
      </p:cViewPr>
      <p:guideLst>
        <p:guide pos="2880"/>
        <p:guide pos="1620" orient="horz"/>
      </p:guideLst>
    </p:cSldViewPr>
  </p:slideViewPr>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notesMaster" Target="notesMasters/notesMaster1.xml"/><Relationship Id="rId21" Type="http://schemas.openxmlformats.org/officeDocument/2006/relationships/presProps" Target="presProps.xml" /><Relationship Id="rId22" Type="http://schemas.openxmlformats.org/officeDocument/2006/relationships/tableStyles" Target="tableStyles.xml" /><Relationship Id="rId23"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spTree>
      <p:nvGrpSpPr>
        <p:cNvPr id="1" name=""/>
        <p:cNvGrpSpPr/>
        <p:nvPr/>
      </p:nvGrpSpPr>
      <p:grpSpPr bwMode="auto">
        <a:xfrm>
          <a:off x="0" y="0"/>
          <a:ext cx="0" cy="0"/>
          <a:chOff x="0" y="0"/>
          <a:chExt cx="0" cy="0"/>
        </a:xfrm>
      </p:grpSpPr>
      <p:sp>
        <p:nvSpPr>
          <p:cNvPr id="757604726" name="Google Shape;3;n"/>
          <p:cNvSpPr/>
          <p:nvPr>
            <p:ph type="sldImg" idx="2"/>
          </p:nvPr>
        </p:nvSpPr>
        <p:spPr bwMode="auto">
          <a:xfrm>
            <a:off x="381300" y="685800"/>
            <a:ext cx="6096075"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37306373" name="Google Shape;4;n"/>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pPr>
              <a:defRPr/>
            </a:pPr>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724172847" name="Google Shape;95;g4dfce81f19_0_45: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986960515" name="Google Shape;96;g4dfce81f19_0_45: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358283593" name="Google Shape;161;g339bffbd1fc_0_597: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961648087" name="Google Shape;162;g339bffbd1fc_0_597: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638216515" name="Google Shape;161;g339bffbd1fc_0_597:notes"/>
          <p:cNvSpPr/>
          <p:nvPr>
            <p:ph type="sldImg" idx="2"/>
          </p:nvPr>
        </p:nvSpPr>
        <p:spPr bwMode="auto">
          <a:xfrm>
            <a:off x="381299" y="685800"/>
            <a:ext cx="6095999"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994225268" name="Google Shape;162;g339bffbd1fc_0_597:notes"/>
          <p:cNvSpPr txBox="1"/>
          <p:nvPr>
            <p:ph type="body" idx="1"/>
          </p:nvPr>
        </p:nvSpPr>
        <p:spPr bwMode="auto">
          <a:xfrm>
            <a:off x="685800" y="4343400"/>
            <a:ext cx="5486400" cy="4114800"/>
          </a:xfrm>
          <a:prstGeom prst="rect">
            <a:avLst/>
          </a:prstGeom>
        </p:spPr>
        <p:txBody>
          <a:bodyPr spcFirstLastPara="1" wrap="square" lIns="91424" tIns="91424" rIns="91424" bIns="91424"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589822081" name="Google Shape;130;g339bffbd1fc_5_4: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339733835" name="Google Shape;131;g339bffbd1fc_5_4: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485116514" name="Google Shape;103;g339bffbd1fc_0_503: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262359956" name="Google Shape;104;g339bffbd1fc_0_503: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682842434" name="Google Shape;138;g339bffbd1fc_0_374:notes"/>
          <p:cNvSpPr/>
          <p:nvPr>
            <p:ph type="sldImg" idx="2"/>
          </p:nvPr>
        </p:nvSpPr>
        <p:spPr bwMode="auto">
          <a:xfrm>
            <a:off x="381299" y="685800"/>
            <a:ext cx="6095999"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865598727" name="Google Shape;139;g339bffbd1fc_0_374:notes"/>
          <p:cNvSpPr txBox="1"/>
          <p:nvPr>
            <p:ph type="body" idx="1"/>
          </p:nvPr>
        </p:nvSpPr>
        <p:spPr bwMode="auto">
          <a:xfrm>
            <a:off x="685800" y="4343400"/>
            <a:ext cx="5486400" cy="4114800"/>
          </a:xfrm>
          <a:prstGeom prst="rect">
            <a:avLst/>
          </a:prstGeom>
        </p:spPr>
        <p:txBody>
          <a:bodyPr spcFirstLastPara="1" wrap="square" lIns="91424" tIns="91424" rIns="91424" bIns="91424"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441263848" name="Google Shape;103;g339bffbd1fc_0_503:notes"/>
          <p:cNvSpPr/>
          <p:nvPr>
            <p:ph type="sldImg" idx="2"/>
          </p:nvPr>
        </p:nvSpPr>
        <p:spPr bwMode="auto">
          <a:xfrm>
            <a:off x="381299" y="685800"/>
            <a:ext cx="6095999"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307321375" name="Google Shape;104;g339bffbd1fc_0_503:notes"/>
          <p:cNvSpPr txBox="1"/>
          <p:nvPr>
            <p:ph type="body" idx="1"/>
          </p:nvPr>
        </p:nvSpPr>
        <p:spPr bwMode="auto">
          <a:xfrm>
            <a:off x="685800" y="4343400"/>
            <a:ext cx="5486400" cy="4114800"/>
          </a:xfrm>
          <a:prstGeom prst="rect">
            <a:avLst/>
          </a:prstGeom>
        </p:spPr>
        <p:txBody>
          <a:bodyPr spcFirstLastPara="1" wrap="square" lIns="91424" tIns="91424" rIns="91424" bIns="91424"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571438572" name="Google Shape;130;g339bffbd1fc_5_4:notes"/>
          <p:cNvSpPr/>
          <p:nvPr>
            <p:ph type="sldImg" idx="2"/>
          </p:nvPr>
        </p:nvSpPr>
        <p:spPr bwMode="auto">
          <a:xfrm>
            <a:off x="381299" y="685800"/>
            <a:ext cx="6095999"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516558209" name="Google Shape;131;g339bffbd1fc_5_4:notes"/>
          <p:cNvSpPr txBox="1"/>
          <p:nvPr>
            <p:ph type="body" idx="1"/>
          </p:nvPr>
        </p:nvSpPr>
        <p:spPr bwMode="auto">
          <a:xfrm>
            <a:off x="685800" y="4343400"/>
            <a:ext cx="5486400" cy="4114800"/>
          </a:xfrm>
          <a:prstGeom prst="rect">
            <a:avLst/>
          </a:prstGeom>
        </p:spPr>
        <p:txBody>
          <a:bodyPr spcFirstLastPara="1" wrap="square" lIns="91424" tIns="91424" rIns="91424" bIns="91424"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670665224" name="Google Shape;103;g339bffbd1fc_0_503:notes"/>
          <p:cNvSpPr/>
          <p:nvPr>
            <p:ph type="sldImg" idx="2"/>
          </p:nvPr>
        </p:nvSpPr>
        <p:spPr bwMode="auto">
          <a:xfrm>
            <a:off x="381299" y="685800"/>
            <a:ext cx="6095999"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245521358" name="Google Shape;104;g339bffbd1fc_0_503:notes"/>
          <p:cNvSpPr txBox="1"/>
          <p:nvPr>
            <p:ph type="body" idx="1"/>
          </p:nvPr>
        </p:nvSpPr>
        <p:spPr bwMode="auto">
          <a:xfrm>
            <a:off x="685800" y="4343400"/>
            <a:ext cx="5486400" cy="4114800"/>
          </a:xfrm>
          <a:prstGeom prst="rect">
            <a:avLst/>
          </a:prstGeom>
        </p:spPr>
        <p:txBody>
          <a:bodyPr spcFirstLastPara="1" wrap="square" lIns="91424" tIns="91424" rIns="91424" bIns="91424"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469288105" name="Google Shape;130;g339bffbd1fc_5_4:notes"/>
          <p:cNvSpPr/>
          <p:nvPr>
            <p:ph type="sldImg" idx="2"/>
          </p:nvPr>
        </p:nvSpPr>
        <p:spPr bwMode="auto">
          <a:xfrm>
            <a:off x="381299" y="685800"/>
            <a:ext cx="6095999"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801169480" name="Google Shape;131;g339bffbd1fc_5_4:notes"/>
          <p:cNvSpPr txBox="1"/>
          <p:nvPr>
            <p:ph type="body" idx="1"/>
          </p:nvPr>
        </p:nvSpPr>
        <p:spPr bwMode="auto">
          <a:xfrm>
            <a:off x="685800" y="4343400"/>
            <a:ext cx="5486400" cy="4114800"/>
          </a:xfrm>
          <a:prstGeom prst="rect">
            <a:avLst/>
          </a:prstGeom>
        </p:spPr>
        <p:txBody>
          <a:bodyPr spcFirstLastPara="1" wrap="square" lIns="91424" tIns="91424" rIns="91424" bIns="91424"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2054129322" name="Google Shape;103;g339bffbd1fc_0_503:notes"/>
          <p:cNvSpPr/>
          <p:nvPr>
            <p:ph type="sldImg" idx="2"/>
          </p:nvPr>
        </p:nvSpPr>
        <p:spPr bwMode="auto">
          <a:xfrm>
            <a:off x="381299" y="685800"/>
            <a:ext cx="6095999"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399469817" name="Google Shape;104;g339bffbd1fc_0_503:notes"/>
          <p:cNvSpPr txBox="1"/>
          <p:nvPr>
            <p:ph type="body" idx="1"/>
          </p:nvPr>
        </p:nvSpPr>
        <p:spPr bwMode="auto">
          <a:xfrm>
            <a:off x="685800" y="4343400"/>
            <a:ext cx="5486400" cy="4114800"/>
          </a:xfrm>
          <a:prstGeom prst="rect">
            <a:avLst/>
          </a:prstGeom>
        </p:spPr>
        <p:txBody>
          <a:bodyPr spcFirstLastPara="1" wrap="square" lIns="91424" tIns="91424" rIns="91424" bIns="91424"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411556121" name="Google Shape;130;g339bffbd1fc_5_4:notes"/>
          <p:cNvSpPr/>
          <p:nvPr>
            <p:ph type="sldImg" idx="2"/>
          </p:nvPr>
        </p:nvSpPr>
        <p:spPr bwMode="auto">
          <a:xfrm>
            <a:off x="381299" y="685800"/>
            <a:ext cx="6095999"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909891697" name="Google Shape;131;g339bffbd1fc_5_4:notes"/>
          <p:cNvSpPr txBox="1"/>
          <p:nvPr>
            <p:ph type="body" idx="1"/>
          </p:nvPr>
        </p:nvSpPr>
        <p:spPr bwMode="auto">
          <a:xfrm>
            <a:off x="685800" y="4343400"/>
            <a:ext cx="5486400" cy="4114800"/>
          </a:xfrm>
          <a:prstGeom prst="rect">
            <a:avLst/>
          </a:prstGeom>
        </p:spPr>
        <p:txBody>
          <a:bodyPr spcFirstLastPara="1" wrap="square" lIns="91424" tIns="91424" rIns="91424" bIns="91424"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68873343" name="Google Shape;103;g339bffbd1fc_0_503:notes"/>
          <p:cNvSpPr/>
          <p:nvPr>
            <p:ph type="sldImg" idx="2"/>
          </p:nvPr>
        </p:nvSpPr>
        <p:spPr bwMode="auto">
          <a:xfrm>
            <a:off x="381299" y="685800"/>
            <a:ext cx="6095999"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858786348" name="Google Shape;104;g339bffbd1fc_0_503:notes"/>
          <p:cNvSpPr txBox="1"/>
          <p:nvPr>
            <p:ph type="body" idx="1"/>
          </p:nvPr>
        </p:nvSpPr>
        <p:spPr bwMode="auto">
          <a:xfrm>
            <a:off x="685800" y="4343400"/>
            <a:ext cx="5486400" cy="4114800"/>
          </a:xfrm>
          <a:prstGeom prst="rect">
            <a:avLst/>
          </a:prstGeom>
        </p:spPr>
        <p:txBody>
          <a:bodyPr spcFirstLastPara="1" wrap="square" lIns="91424" tIns="91424" rIns="91424" bIns="91424"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843314109" name="Google Shape;103;g339bffbd1fc_0_503:notes"/>
          <p:cNvSpPr/>
          <p:nvPr>
            <p:ph type="sldImg" idx="2"/>
          </p:nvPr>
        </p:nvSpPr>
        <p:spPr bwMode="auto">
          <a:xfrm>
            <a:off x="381299" y="685800"/>
            <a:ext cx="6095999"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716596886" name="Google Shape;104;g339bffbd1fc_0_503:notes"/>
          <p:cNvSpPr txBox="1"/>
          <p:nvPr>
            <p:ph type="body" idx="1"/>
          </p:nvPr>
        </p:nvSpPr>
        <p:spPr bwMode="auto">
          <a:xfrm>
            <a:off x="685800" y="4343400"/>
            <a:ext cx="5486400" cy="4114800"/>
          </a:xfrm>
          <a:prstGeom prst="rect">
            <a:avLst/>
          </a:prstGeom>
        </p:spPr>
        <p:txBody>
          <a:bodyPr spcFirstLastPara="1" wrap="square" lIns="91424" tIns="91424" rIns="91424" bIns="91424"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011297814" name="Google Shape;103;g339bffbd1fc_0_503:notes"/>
          <p:cNvSpPr/>
          <p:nvPr>
            <p:ph type="sldImg" idx="2"/>
          </p:nvPr>
        </p:nvSpPr>
        <p:spPr bwMode="auto">
          <a:xfrm>
            <a:off x="381299" y="685800"/>
            <a:ext cx="6095999"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343800593" name="Google Shape;104;g339bffbd1fc_0_503:notes"/>
          <p:cNvSpPr txBox="1"/>
          <p:nvPr>
            <p:ph type="body" idx="1"/>
          </p:nvPr>
        </p:nvSpPr>
        <p:spPr bwMode="auto">
          <a:xfrm>
            <a:off x="685800" y="4343400"/>
            <a:ext cx="5486400" cy="4114800"/>
          </a:xfrm>
          <a:prstGeom prst="rect">
            <a:avLst/>
          </a:prstGeom>
        </p:spPr>
        <p:txBody>
          <a:bodyPr spcFirstLastPara="1" wrap="square" lIns="91424" tIns="91424" rIns="91424" bIns="91424" anchor="t" anchorCtr="0">
            <a:noAutofit/>
          </a:bodyPr>
          <a:lstStyle/>
          <a:p>
            <a:pPr marL="0" lvl="0" indent="0" algn="l" rtl="0">
              <a:spcBef>
                <a:spcPts val="0"/>
              </a:spcBef>
              <a:spcAft>
                <a:spcPts val="0"/>
              </a:spcAft>
              <a:buNone/>
              <a:defRPr/>
            </a:pPr>
            <a:r>
              <a:rPr lang="it-IT"/>
              <a:t>Nota: nel paper originale viene usato anche BERT per una prima analisi inziale. Però quando mostra i risultati fa’ vedere solo l’accuracy raggiunta in train (che è un po’ un valore falso). Solo dopo quando fa vedere il risultato dell’addestramento tagliando un 20% del dataset di validazione (dato molto più significativo che corrisponde all’esperimento replicato qui) mostra solo i dati di ROBERTA senza BERT. </a:t>
            </a:r>
            <a:r>
              <a:rPr lang="it-IT" b="1"/>
              <a:t>(</a:t>
            </a:r>
            <a:r>
              <a:rPr lang="it-IT" sz="1100" b="1" i="0" u="none" strike="noStrike" cap="none" spc="0">
                <a:solidFill>
                  <a:srgbClr val="000000"/>
                </a:solidFill>
                <a:latin typeface="Arial"/>
                <a:ea typeface="Arial"/>
                <a:cs typeface="Arial"/>
              </a:rPr>
              <a:t>Generalizability of Verbalizers (RQ3))</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800875596" name="Google Shape;130;g339bffbd1fc_5_4:notes"/>
          <p:cNvSpPr/>
          <p:nvPr>
            <p:ph type="sldImg" idx="2"/>
          </p:nvPr>
        </p:nvSpPr>
        <p:spPr bwMode="auto">
          <a:xfrm>
            <a:off x="381299" y="685800"/>
            <a:ext cx="6095999"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812473034" name="Google Shape;131;g339bffbd1fc_5_4:notes"/>
          <p:cNvSpPr txBox="1"/>
          <p:nvPr>
            <p:ph type="body" idx="1"/>
          </p:nvPr>
        </p:nvSpPr>
        <p:spPr bwMode="auto">
          <a:xfrm>
            <a:off x="685800" y="4343400"/>
            <a:ext cx="5486400" cy="4114800"/>
          </a:xfrm>
          <a:prstGeom prst="rect">
            <a:avLst/>
          </a:prstGeom>
        </p:spPr>
        <p:txBody>
          <a:bodyPr spcFirstLastPara="1" wrap="square" lIns="91424" tIns="91424" rIns="91424" bIns="91424" anchor="t" anchorCtr="0">
            <a:noAutofit/>
          </a:bodyPr>
          <a:lstStyle/>
          <a:p>
            <a:pPr marL="0" lvl="0" indent="0" algn="l" rtl="0">
              <a:spcBef>
                <a:spcPts val="0"/>
              </a:spcBef>
              <a:spcAft>
                <a:spcPts val="0"/>
              </a:spcAft>
              <a:buNone/>
              <a:defRPr/>
            </a:pPr>
            <a:endParaRP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le slide" preserve="0" showMasterPhAnim="0" showMasterSp="1" type="title" userDrawn="1">
  <p:cSld name="TITLE">
    <p:spTree>
      <p:nvGrpSpPr>
        <p:cNvPr id="1" name=""/>
        <p:cNvGrpSpPr/>
        <p:nvPr/>
      </p:nvGrpSpPr>
      <p:grpSpPr bwMode="auto">
        <a:xfrm>
          <a:off x="0" y="0"/>
          <a:ext cx="0" cy="0"/>
          <a:chOff x="0" y="0"/>
          <a:chExt cx="0" cy="0"/>
        </a:xfrm>
      </p:grpSpPr>
      <p:pic>
        <p:nvPicPr>
          <p:cNvPr id="1112830716" name="Google Shape;9;p2" title="shadow-background-natural-palm-leaves.jpg"/>
          <p:cNvPicPr/>
          <p:nvPr/>
        </p:nvPicPr>
        <p:blipFill rotWithShape="1">
          <a:blip r:embed="rId2">
            <a:alphaModFix/>
          </a:blip>
          <a:srcRect l="0" t="0" r="0" b="15596"/>
          <a:stretch/>
        </p:blipFill>
        <p:spPr bwMode="auto">
          <a:xfrm>
            <a:off x="0" y="0"/>
            <a:ext cx="9144003" cy="5143501"/>
          </a:xfrm>
          <a:prstGeom prst="rect">
            <a:avLst/>
          </a:prstGeom>
          <a:noFill/>
          <a:ln>
            <a:noFill/>
          </a:ln>
        </p:spPr>
      </p:pic>
      <p:sp>
        <p:nvSpPr>
          <p:cNvPr id="1803643901" name="Google Shape;10;p2"/>
          <p:cNvSpPr/>
          <p:nvPr/>
        </p:nvSpPr>
        <p:spPr bwMode="auto">
          <a:xfrm>
            <a:off x="243300" y="259500"/>
            <a:ext cx="8657400" cy="46245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defRPr/>
            </a:pPr>
            <a:endParaRPr>
              <a:latin typeface="DM Sans"/>
              <a:ea typeface="DM Sans"/>
              <a:cs typeface="DM Sans"/>
            </a:endParaRPr>
          </a:p>
        </p:txBody>
      </p:sp>
      <p:sp>
        <p:nvSpPr>
          <p:cNvPr id="1215873397" name="Google Shape;11;p2"/>
          <p:cNvSpPr txBox="1"/>
          <p:nvPr>
            <p:ph type="ctrTitle"/>
          </p:nvPr>
        </p:nvSpPr>
        <p:spPr bwMode="auto">
          <a:xfrm>
            <a:off x="470625" y="828100"/>
            <a:ext cx="8116200" cy="1374000"/>
          </a:xfrm>
          <a:prstGeom prst="rect">
            <a:avLst/>
          </a:prstGeom>
        </p:spPr>
        <p:txBody>
          <a:bodyPr spcFirstLastPara="1" wrap="square" lIns="91425" tIns="91425" rIns="91425" bIns="91425" anchor="t" anchorCtr="0">
            <a:noAutofit/>
          </a:bodyPr>
          <a:lstStyle>
            <a:lvl1pPr lvl="0">
              <a:spcBef>
                <a:spcPts val="0"/>
              </a:spcBef>
              <a:spcAft>
                <a:spcPts val="0"/>
              </a:spcAft>
              <a:buClr>
                <a:srgbClr val="191919"/>
              </a:buClr>
              <a:buSzPts val="5200"/>
              <a:buNone/>
              <a:defRPr sz="38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pPr>
              <a:defRPr/>
            </a:pPr>
            <a:endParaRPr/>
          </a:p>
        </p:txBody>
      </p:sp>
      <p:sp>
        <p:nvSpPr>
          <p:cNvPr id="1421155327" name="Google Shape;12;p2"/>
          <p:cNvSpPr txBox="1"/>
          <p:nvPr>
            <p:ph type="subTitle" idx="1"/>
          </p:nvPr>
        </p:nvSpPr>
        <p:spPr bwMode="auto">
          <a:xfrm>
            <a:off x="557100" y="3834200"/>
            <a:ext cx="8029800" cy="76560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SzPts val="12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pPr>
              <a:defRPr/>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Section header" preserve="0" showMasterPhAnim="0" showMasterSp="1" type="secHead" userDrawn="1">
  <p:cSld name="SECTION_HEADER">
    <p:spTree>
      <p:nvGrpSpPr>
        <p:cNvPr id="1" name=""/>
        <p:cNvGrpSpPr/>
        <p:nvPr/>
      </p:nvGrpSpPr>
      <p:grpSpPr bwMode="auto">
        <a:xfrm>
          <a:off x="0" y="0"/>
          <a:ext cx="0" cy="0"/>
          <a:chOff x="0" y="0"/>
          <a:chExt cx="0" cy="0"/>
        </a:xfrm>
      </p:grpSpPr>
      <p:pic>
        <p:nvPicPr>
          <p:cNvPr id="1965091313" name="Google Shape;14;p3" title="abstract-grainy-texture-background (2).jpg"/>
          <p:cNvPicPr/>
          <p:nvPr/>
        </p:nvPicPr>
        <p:blipFill rotWithShape="1">
          <a:blip r:embed="rId2">
            <a:alphaModFix/>
          </a:blip>
          <a:srcRect l="0" t="0" r="0" b="1536"/>
          <a:stretch/>
        </p:blipFill>
        <p:spPr bwMode="auto">
          <a:xfrm>
            <a:off x="0" y="0"/>
            <a:ext cx="9143997" cy="5143501"/>
          </a:xfrm>
          <a:prstGeom prst="rect">
            <a:avLst/>
          </a:prstGeom>
          <a:noFill/>
          <a:ln>
            <a:noFill/>
          </a:ln>
        </p:spPr>
      </p:pic>
      <p:sp>
        <p:nvSpPr>
          <p:cNvPr id="636006093" name="Google Shape;15;p3"/>
          <p:cNvSpPr/>
          <p:nvPr/>
        </p:nvSpPr>
        <p:spPr bwMode="auto">
          <a:xfrm>
            <a:off x="243300" y="259500"/>
            <a:ext cx="8657400" cy="46245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defRPr/>
            </a:pPr>
            <a:endParaRPr>
              <a:latin typeface="DM Sans"/>
              <a:ea typeface="DM Sans"/>
              <a:cs typeface="DM Sans"/>
            </a:endParaRPr>
          </a:p>
        </p:txBody>
      </p:sp>
      <p:sp>
        <p:nvSpPr>
          <p:cNvPr id="1599491907" name="Google Shape;16;p3"/>
          <p:cNvSpPr txBox="1"/>
          <p:nvPr>
            <p:ph type="title"/>
          </p:nvPr>
        </p:nvSpPr>
        <p:spPr bwMode="auto">
          <a:xfrm>
            <a:off x="4176150" y="1670492"/>
            <a:ext cx="4342200" cy="1782000"/>
          </a:xfrm>
          <a:prstGeom prst="rect">
            <a:avLst/>
          </a:prstGeom>
        </p:spPr>
        <p:txBody>
          <a:bodyPr spcFirstLastPara="1" wrap="square" lIns="91425" tIns="91425" rIns="91425" bIns="91425" anchor="b" anchorCtr="0">
            <a:noAutofit/>
          </a:bodyPr>
          <a:lstStyle>
            <a:lvl1pPr lvl="0" algn="r">
              <a:spcBef>
                <a:spcPts val="0"/>
              </a:spcBef>
              <a:spcAft>
                <a:spcPts val="0"/>
              </a:spcAft>
              <a:buSzPts val="3600"/>
              <a:buNone/>
              <a:defRPr sz="45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pPr>
              <a:defRPr/>
            </a:pPr>
            <a:endParaRPr/>
          </a:p>
        </p:txBody>
      </p:sp>
      <p:sp>
        <p:nvSpPr>
          <p:cNvPr id="1585398021" name="Google Shape;17;p3"/>
          <p:cNvSpPr txBox="1"/>
          <p:nvPr>
            <p:ph type="subTitle" idx="1"/>
          </p:nvPr>
        </p:nvSpPr>
        <p:spPr bwMode="auto">
          <a:xfrm>
            <a:off x="542675" y="2965199"/>
            <a:ext cx="3014699" cy="1580400"/>
          </a:xfrm>
          <a:prstGeom prst="rect">
            <a:avLst/>
          </a:prstGeom>
        </p:spPr>
        <p:txBody>
          <a:bodyPr spcFirstLastPara="1" wrap="square" lIns="91425" tIns="91425" rIns="91425" bIns="91425" anchor="b" anchorCtr="0">
            <a:noAutofit/>
          </a:bodyPr>
          <a:lstStyle>
            <a:lvl1pPr lvl="0">
              <a:spcBef>
                <a:spcPts val="0"/>
              </a:spcBef>
              <a:spcAft>
                <a:spcPts val="0"/>
              </a:spcAft>
              <a:buSzPts val="1200"/>
              <a:buNone/>
              <a:defRPr sz="1400"/>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a:pPr>
              <a:defRPr/>
            </a:pPr>
            <a:endParaRPr/>
          </a:p>
        </p:txBody>
      </p:sp>
      <p:sp>
        <p:nvSpPr>
          <p:cNvPr id="1762802173" name="Google Shape;18;p3"/>
          <p:cNvSpPr txBox="1"/>
          <p:nvPr>
            <p:ph type="title" idx="2" hasCustomPrompt="1"/>
          </p:nvPr>
        </p:nvSpPr>
        <p:spPr bwMode="auto">
          <a:xfrm>
            <a:off x="464024" y="424696"/>
            <a:ext cx="859800" cy="669000"/>
          </a:xfrm>
          <a:prstGeom prst="rect">
            <a:avLst/>
          </a:prstGeom>
        </p:spPr>
        <p:txBody>
          <a:bodyPr spcFirstLastPara="1" wrap="square" lIns="91425" tIns="91425" rIns="91425" bIns="91425" anchor="ctr" anchorCtr="0">
            <a:noAutofit/>
          </a:bodyPr>
          <a:lstStyle>
            <a:lvl1pPr lvl="0">
              <a:spcBef>
                <a:spcPts val="0"/>
              </a:spcBef>
              <a:spcAft>
                <a:spcPts val="0"/>
              </a:spcAft>
              <a:buSzPts val="9600"/>
              <a:buNone/>
              <a:defRPr sz="42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pPr>
              <a:defRPr/>
            </a:pPr>
            <a:r>
              <a:rPr/>
              <a:t>xx%</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le and body" preserve="0" showMasterPhAnim="0" showMasterSp="1" type="tx" userDrawn="1">
  <p:cSld name="TITLE_AND_BODY">
    <p:spTree>
      <p:nvGrpSpPr>
        <p:cNvPr id="1" name=""/>
        <p:cNvGrpSpPr/>
        <p:nvPr/>
      </p:nvGrpSpPr>
      <p:grpSpPr bwMode="auto">
        <a:xfrm>
          <a:off x="0" y="0"/>
          <a:ext cx="0" cy="0"/>
          <a:chOff x="0" y="0"/>
          <a:chExt cx="0" cy="0"/>
        </a:xfrm>
      </p:grpSpPr>
      <p:sp>
        <p:nvSpPr>
          <p:cNvPr id="854152197" name="Google Shape;20;p4"/>
          <p:cNvSpPr txBox="1"/>
          <p:nvPr>
            <p:ph type="title"/>
          </p:nvPr>
        </p:nvSpPr>
        <p:spPr bwMode="auto">
          <a:xfrm>
            <a:off x="720000" y="5212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500"/>
              <a:buNone/>
              <a:defRPr/>
            </a:lvl1pPr>
            <a:lvl2pPr lvl="1" rtl="0">
              <a:spcBef>
                <a:spcPts val="0"/>
              </a:spcBef>
              <a:spcAft>
                <a:spcPts val="0"/>
              </a:spcAft>
              <a:buSzPts val="2500"/>
              <a:buNone/>
              <a:defRPr/>
            </a:lvl2pPr>
            <a:lvl3pPr lvl="2" rtl="0">
              <a:spcBef>
                <a:spcPts val="0"/>
              </a:spcBef>
              <a:spcAft>
                <a:spcPts val="0"/>
              </a:spcAft>
              <a:buSzPts val="2500"/>
              <a:buNone/>
              <a:defRPr/>
            </a:lvl3pPr>
            <a:lvl4pPr lvl="3" rtl="0">
              <a:spcBef>
                <a:spcPts val="0"/>
              </a:spcBef>
              <a:spcAft>
                <a:spcPts val="0"/>
              </a:spcAft>
              <a:buSzPts val="2500"/>
              <a:buNone/>
              <a:defRPr/>
            </a:lvl4pPr>
            <a:lvl5pPr lvl="4" rtl="0">
              <a:spcBef>
                <a:spcPts val="0"/>
              </a:spcBef>
              <a:spcAft>
                <a:spcPts val="0"/>
              </a:spcAft>
              <a:buSzPts val="2500"/>
              <a:buNone/>
              <a:defRPr/>
            </a:lvl5pPr>
            <a:lvl6pPr lvl="5" rtl="0">
              <a:spcBef>
                <a:spcPts val="0"/>
              </a:spcBef>
              <a:spcAft>
                <a:spcPts val="0"/>
              </a:spcAft>
              <a:buSzPts val="2500"/>
              <a:buNone/>
              <a:defRPr/>
            </a:lvl6pPr>
            <a:lvl7pPr lvl="6" rtl="0">
              <a:spcBef>
                <a:spcPts val="0"/>
              </a:spcBef>
              <a:spcAft>
                <a:spcPts val="0"/>
              </a:spcAft>
              <a:buSzPts val="2500"/>
              <a:buNone/>
              <a:defRPr/>
            </a:lvl7pPr>
            <a:lvl8pPr lvl="7" rtl="0">
              <a:spcBef>
                <a:spcPts val="0"/>
              </a:spcBef>
              <a:spcAft>
                <a:spcPts val="0"/>
              </a:spcAft>
              <a:buSzPts val="2500"/>
              <a:buNone/>
              <a:defRPr/>
            </a:lvl8pPr>
            <a:lvl9pPr lvl="8" rtl="0">
              <a:spcBef>
                <a:spcPts val="0"/>
              </a:spcBef>
              <a:spcAft>
                <a:spcPts val="0"/>
              </a:spcAft>
              <a:buSzPts val="2500"/>
              <a:buNone/>
              <a:defRPr/>
            </a:lvl9pPr>
          </a:lstStyle>
          <a:p>
            <a:pPr>
              <a:defRPr/>
            </a:pPr>
            <a:endParaRPr/>
          </a:p>
        </p:txBody>
      </p:sp>
      <p:sp>
        <p:nvSpPr>
          <p:cNvPr id="299505191" name="Google Shape;21;p4"/>
          <p:cNvSpPr txBox="1"/>
          <p:nvPr>
            <p:ph type="body" idx="1"/>
          </p:nvPr>
        </p:nvSpPr>
        <p:spPr bwMode="auto">
          <a:xfrm>
            <a:off x="720000" y="1160700"/>
            <a:ext cx="7704000" cy="4122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Font typeface="Nunito Light"/>
              <a:buChar char="●"/>
              <a:defRPr/>
            </a:lvl1pPr>
            <a:lvl2pPr marL="914400" lvl="1" indent="-304800" rtl="0">
              <a:lnSpc>
                <a:spcPct val="100000"/>
              </a:lnSpc>
              <a:spcBef>
                <a:spcPts val="0"/>
              </a:spcBef>
              <a:spcAft>
                <a:spcPts val="0"/>
              </a:spcAft>
              <a:buSzPts val="1200"/>
              <a:buFont typeface="Nunito Light"/>
              <a:buChar char="○"/>
              <a:defRPr/>
            </a:lvl2pPr>
            <a:lvl3pPr marL="1371600" lvl="2" indent="-304800" rtl="0">
              <a:lnSpc>
                <a:spcPct val="100000"/>
              </a:lnSpc>
              <a:spcBef>
                <a:spcPts val="0"/>
              </a:spcBef>
              <a:spcAft>
                <a:spcPts val="0"/>
              </a:spcAft>
              <a:buSzPts val="1200"/>
              <a:buFont typeface="Nunito Light"/>
              <a:buChar char="■"/>
              <a:defRPr/>
            </a:lvl3pPr>
            <a:lvl4pPr marL="1828800" lvl="3" indent="-304800" rtl="0">
              <a:lnSpc>
                <a:spcPct val="100000"/>
              </a:lnSpc>
              <a:spcBef>
                <a:spcPts val="0"/>
              </a:spcBef>
              <a:spcAft>
                <a:spcPts val="0"/>
              </a:spcAft>
              <a:buSzPts val="1200"/>
              <a:buFont typeface="Nunito Light"/>
              <a:buChar char="●"/>
              <a:defRPr/>
            </a:lvl4pPr>
            <a:lvl5pPr marL="2286000" lvl="4" indent="-304800" rtl="0">
              <a:lnSpc>
                <a:spcPct val="100000"/>
              </a:lnSpc>
              <a:spcBef>
                <a:spcPts val="0"/>
              </a:spcBef>
              <a:spcAft>
                <a:spcPts val="0"/>
              </a:spcAft>
              <a:buSzPts val="1200"/>
              <a:buFont typeface="Nunito Light"/>
              <a:buChar char="○"/>
              <a:defRPr/>
            </a:lvl5pPr>
            <a:lvl6pPr marL="2743200" lvl="5" indent="-304800" rtl="0">
              <a:lnSpc>
                <a:spcPct val="100000"/>
              </a:lnSpc>
              <a:spcBef>
                <a:spcPts val="0"/>
              </a:spcBef>
              <a:spcAft>
                <a:spcPts val="0"/>
              </a:spcAft>
              <a:buSzPts val="1200"/>
              <a:buFont typeface="Nunito Light"/>
              <a:buChar char="■"/>
              <a:defRPr/>
            </a:lvl6pPr>
            <a:lvl7pPr marL="3200400" lvl="6" indent="-304800" rtl="0">
              <a:lnSpc>
                <a:spcPct val="100000"/>
              </a:lnSpc>
              <a:spcBef>
                <a:spcPts val="0"/>
              </a:spcBef>
              <a:spcAft>
                <a:spcPts val="0"/>
              </a:spcAft>
              <a:buSzPts val="1200"/>
              <a:buFont typeface="Nunito Light"/>
              <a:buChar char="●"/>
              <a:defRPr/>
            </a:lvl7pPr>
            <a:lvl8pPr marL="3657600" lvl="7" indent="-304800" rtl="0">
              <a:lnSpc>
                <a:spcPct val="100000"/>
              </a:lnSpc>
              <a:spcBef>
                <a:spcPts val="0"/>
              </a:spcBef>
              <a:spcAft>
                <a:spcPts val="0"/>
              </a:spcAft>
              <a:buSzPts val="1200"/>
              <a:buFont typeface="Nunito Light"/>
              <a:buChar char="○"/>
              <a:defRPr/>
            </a:lvl8pPr>
            <a:lvl9pPr marL="4114800" lvl="8" indent="-304800" rtl="0">
              <a:lnSpc>
                <a:spcPct val="100000"/>
              </a:lnSpc>
              <a:spcBef>
                <a:spcPts val="0"/>
              </a:spcBef>
              <a:spcAft>
                <a:spcPts val="0"/>
              </a:spcAft>
              <a:buSzPts val="1200"/>
              <a:buFont typeface="Nunito Light"/>
              <a:buChar char="■"/>
              <a:defRPr/>
            </a:lvl9pPr>
          </a:lstStyle>
          <a:p>
            <a:pPr>
              <a:defRPr/>
            </a:pPr>
            <a:endParaRPr/>
          </a:p>
        </p:txBody>
      </p:sp>
      <p:pic>
        <p:nvPicPr>
          <p:cNvPr id="767574295" name="Google Shape;22;p4" title="shadow-background-natural-palm-leaves.jpg"/>
          <p:cNvPicPr/>
          <p:nvPr/>
        </p:nvPicPr>
        <p:blipFill rotWithShape="1">
          <a:blip r:embed="rId2">
            <a:alphaModFix/>
          </a:blip>
          <a:srcRect l="49537" t="0" r="49537" b="0"/>
          <a:stretch/>
        </p:blipFill>
        <p:spPr bwMode="auto">
          <a:xfrm rot="5400000">
            <a:off x="4536451" y="591802"/>
            <a:ext cx="121375" cy="8737174"/>
          </a:xfrm>
          <a:prstGeom prst="rect">
            <a:avLst/>
          </a:prstGeom>
          <a:noFill/>
          <a:ln>
            <a:noFill/>
          </a:ln>
        </p:spPr>
      </p:pic>
      <p:cxnSp>
        <p:nvCxnSpPr>
          <p:cNvPr id="1825185599" name="Google Shape;23;p4"/>
          <p:cNvCxnSpPr/>
          <p:nvPr/>
        </p:nvCxnSpPr>
        <p:spPr bwMode="auto">
          <a:xfrm>
            <a:off x="218850" y="235949"/>
            <a:ext cx="87063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le and two columns" preserve="0" showMasterPhAnim="0" showMasterSp="1" type="twoColTx" userDrawn="1">
  <p:cSld name="TITLE_AND_TWO_COLUMNS">
    <p:spTree>
      <p:nvGrpSpPr>
        <p:cNvPr id="1" name=""/>
        <p:cNvGrpSpPr/>
        <p:nvPr/>
      </p:nvGrpSpPr>
      <p:grpSpPr bwMode="auto">
        <a:xfrm>
          <a:off x="0" y="0"/>
          <a:ext cx="0" cy="0"/>
          <a:chOff x="0" y="0"/>
          <a:chExt cx="0" cy="0"/>
        </a:xfrm>
      </p:grpSpPr>
      <p:sp>
        <p:nvSpPr>
          <p:cNvPr id="286473876" name="Google Shape;25;p5"/>
          <p:cNvSpPr txBox="1"/>
          <p:nvPr>
            <p:ph type="subTitle" idx="1"/>
          </p:nvPr>
        </p:nvSpPr>
        <p:spPr bwMode="auto">
          <a:xfrm>
            <a:off x="5712000" y="4494125"/>
            <a:ext cx="2564400" cy="572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Funnel Display"/>
              <a:buNone/>
              <a:defRPr sz="2000">
                <a:solidFill>
                  <a:schemeClr val="dk1"/>
                </a:solidFill>
                <a:latin typeface="Funnel Display"/>
                <a:ea typeface="Funnel Display"/>
                <a:cs typeface="Funnel Display"/>
              </a:defRPr>
            </a:lvl1pPr>
            <a:lvl2pPr lvl="1" algn="ctr" rtl="0">
              <a:lnSpc>
                <a:spcPct val="100000"/>
              </a:lnSpc>
              <a:spcBef>
                <a:spcPts val="0"/>
              </a:spcBef>
              <a:spcAft>
                <a:spcPts val="0"/>
              </a:spcAft>
              <a:buSzPts val="2400"/>
              <a:buFont typeface="Funnel Display"/>
              <a:buNone/>
              <a:defRPr sz="2400">
                <a:latin typeface="Funnel Display"/>
                <a:ea typeface="Funnel Display"/>
                <a:cs typeface="Funnel Display"/>
              </a:defRPr>
            </a:lvl2pPr>
            <a:lvl3pPr lvl="2" algn="ctr" rtl="0">
              <a:lnSpc>
                <a:spcPct val="100000"/>
              </a:lnSpc>
              <a:spcBef>
                <a:spcPts val="0"/>
              </a:spcBef>
              <a:spcAft>
                <a:spcPts val="0"/>
              </a:spcAft>
              <a:buSzPts val="2400"/>
              <a:buFont typeface="Funnel Display"/>
              <a:buNone/>
              <a:defRPr sz="2400">
                <a:latin typeface="Funnel Display"/>
                <a:ea typeface="Funnel Display"/>
                <a:cs typeface="Funnel Display"/>
              </a:defRPr>
            </a:lvl3pPr>
            <a:lvl4pPr lvl="3" algn="ctr" rtl="0">
              <a:lnSpc>
                <a:spcPct val="100000"/>
              </a:lnSpc>
              <a:spcBef>
                <a:spcPts val="0"/>
              </a:spcBef>
              <a:spcAft>
                <a:spcPts val="0"/>
              </a:spcAft>
              <a:buSzPts val="2400"/>
              <a:buFont typeface="Funnel Display"/>
              <a:buNone/>
              <a:defRPr sz="2400">
                <a:latin typeface="Funnel Display"/>
                <a:ea typeface="Funnel Display"/>
                <a:cs typeface="Funnel Display"/>
              </a:defRPr>
            </a:lvl4pPr>
            <a:lvl5pPr lvl="4" algn="ctr" rtl="0">
              <a:lnSpc>
                <a:spcPct val="100000"/>
              </a:lnSpc>
              <a:spcBef>
                <a:spcPts val="0"/>
              </a:spcBef>
              <a:spcAft>
                <a:spcPts val="0"/>
              </a:spcAft>
              <a:buSzPts val="2400"/>
              <a:buFont typeface="Funnel Display"/>
              <a:buNone/>
              <a:defRPr sz="2400">
                <a:latin typeface="Funnel Display"/>
                <a:ea typeface="Funnel Display"/>
                <a:cs typeface="Funnel Display"/>
              </a:defRPr>
            </a:lvl5pPr>
            <a:lvl6pPr lvl="5" algn="ctr" rtl="0">
              <a:lnSpc>
                <a:spcPct val="100000"/>
              </a:lnSpc>
              <a:spcBef>
                <a:spcPts val="0"/>
              </a:spcBef>
              <a:spcAft>
                <a:spcPts val="0"/>
              </a:spcAft>
              <a:buSzPts val="2400"/>
              <a:buFont typeface="Funnel Display"/>
              <a:buNone/>
              <a:defRPr sz="2400">
                <a:latin typeface="Funnel Display"/>
                <a:ea typeface="Funnel Display"/>
                <a:cs typeface="Funnel Display"/>
              </a:defRPr>
            </a:lvl6pPr>
            <a:lvl7pPr lvl="6" algn="ctr" rtl="0">
              <a:lnSpc>
                <a:spcPct val="100000"/>
              </a:lnSpc>
              <a:spcBef>
                <a:spcPts val="0"/>
              </a:spcBef>
              <a:spcAft>
                <a:spcPts val="0"/>
              </a:spcAft>
              <a:buSzPts val="2400"/>
              <a:buFont typeface="Funnel Display"/>
              <a:buNone/>
              <a:defRPr sz="2400">
                <a:latin typeface="Funnel Display"/>
                <a:ea typeface="Funnel Display"/>
                <a:cs typeface="Funnel Display"/>
              </a:defRPr>
            </a:lvl7pPr>
            <a:lvl8pPr lvl="7" algn="ctr" rtl="0">
              <a:lnSpc>
                <a:spcPct val="100000"/>
              </a:lnSpc>
              <a:spcBef>
                <a:spcPts val="0"/>
              </a:spcBef>
              <a:spcAft>
                <a:spcPts val="0"/>
              </a:spcAft>
              <a:buSzPts val="2400"/>
              <a:buFont typeface="Funnel Display"/>
              <a:buNone/>
              <a:defRPr sz="2400">
                <a:latin typeface="Funnel Display"/>
                <a:ea typeface="Funnel Display"/>
                <a:cs typeface="Funnel Display"/>
              </a:defRPr>
            </a:lvl8pPr>
            <a:lvl9pPr lvl="8" algn="ctr" rtl="0">
              <a:lnSpc>
                <a:spcPct val="100000"/>
              </a:lnSpc>
              <a:spcBef>
                <a:spcPts val="0"/>
              </a:spcBef>
              <a:spcAft>
                <a:spcPts val="0"/>
              </a:spcAft>
              <a:buSzPts val="2400"/>
              <a:buFont typeface="Funnel Display"/>
              <a:buNone/>
              <a:defRPr sz="2400">
                <a:latin typeface="Funnel Display"/>
                <a:ea typeface="Funnel Display"/>
                <a:cs typeface="Funnel Display"/>
              </a:defRPr>
            </a:lvl9pPr>
          </a:lstStyle>
          <a:p>
            <a:pPr>
              <a:defRPr/>
            </a:pPr>
            <a:endParaRPr/>
          </a:p>
        </p:txBody>
      </p:sp>
      <p:sp>
        <p:nvSpPr>
          <p:cNvPr id="405403244" name="Google Shape;26;p5"/>
          <p:cNvSpPr txBox="1"/>
          <p:nvPr>
            <p:ph type="subTitle" idx="2"/>
          </p:nvPr>
        </p:nvSpPr>
        <p:spPr bwMode="auto">
          <a:xfrm>
            <a:off x="867750" y="4494125"/>
            <a:ext cx="2564400" cy="572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Funnel Display"/>
              <a:buNone/>
              <a:defRPr sz="2000">
                <a:solidFill>
                  <a:schemeClr val="dk1"/>
                </a:solidFill>
                <a:latin typeface="Funnel Display"/>
                <a:ea typeface="Funnel Display"/>
                <a:cs typeface="Funnel Display"/>
              </a:defRPr>
            </a:lvl1pPr>
            <a:lvl2pPr lvl="1" algn="ctr" rtl="0">
              <a:lnSpc>
                <a:spcPct val="100000"/>
              </a:lnSpc>
              <a:spcBef>
                <a:spcPts val="0"/>
              </a:spcBef>
              <a:spcAft>
                <a:spcPts val="0"/>
              </a:spcAft>
              <a:buSzPts val="2400"/>
              <a:buFont typeface="Funnel Display"/>
              <a:buNone/>
              <a:defRPr sz="2400">
                <a:latin typeface="Funnel Display"/>
                <a:ea typeface="Funnel Display"/>
                <a:cs typeface="Funnel Display"/>
              </a:defRPr>
            </a:lvl2pPr>
            <a:lvl3pPr lvl="2" algn="ctr" rtl="0">
              <a:lnSpc>
                <a:spcPct val="100000"/>
              </a:lnSpc>
              <a:spcBef>
                <a:spcPts val="0"/>
              </a:spcBef>
              <a:spcAft>
                <a:spcPts val="0"/>
              </a:spcAft>
              <a:buSzPts val="2400"/>
              <a:buFont typeface="Funnel Display"/>
              <a:buNone/>
              <a:defRPr sz="2400">
                <a:latin typeface="Funnel Display"/>
                <a:ea typeface="Funnel Display"/>
                <a:cs typeface="Funnel Display"/>
              </a:defRPr>
            </a:lvl3pPr>
            <a:lvl4pPr lvl="3" algn="ctr" rtl="0">
              <a:lnSpc>
                <a:spcPct val="100000"/>
              </a:lnSpc>
              <a:spcBef>
                <a:spcPts val="0"/>
              </a:spcBef>
              <a:spcAft>
                <a:spcPts val="0"/>
              </a:spcAft>
              <a:buSzPts val="2400"/>
              <a:buFont typeface="Funnel Display"/>
              <a:buNone/>
              <a:defRPr sz="2400">
                <a:latin typeface="Funnel Display"/>
                <a:ea typeface="Funnel Display"/>
                <a:cs typeface="Funnel Display"/>
              </a:defRPr>
            </a:lvl4pPr>
            <a:lvl5pPr lvl="4" algn="ctr" rtl="0">
              <a:lnSpc>
                <a:spcPct val="100000"/>
              </a:lnSpc>
              <a:spcBef>
                <a:spcPts val="0"/>
              </a:spcBef>
              <a:spcAft>
                <a:spcPts val="0"/>
              </a:spcAft>
              <a:buSzPts val="2400"/>
              <a:buFont typeface="Funnel Display"/>
              <a:buNone/>
              <a:defRPr sz="2400">
                <a:latin typeface="Funnel Display"/>
                <a:ea typeface="Funnel Display"/>
                <a:cs typeface="Funnel Display"/>
              </a:defRPr>
            </a:lvl5pPr>
            <a:lvl6pPr lvl="5" algn="ctr" rtl="0">
              <a:lnSpc>
                <a:spcPct val="100000"/>
              </a:lnSpc>
              <a:spcBef>
                <a:spcPts val="0"/>
              </a:spcBef>
              <a:spcAft>
                <a:spcPts val="0"/>
              </a:spcAft>
              <a:buSzPts val="2400"/>
              <a:buFont typeface="Funnel Display"/>
              <a:buNone/>
              <a:defRPr sz="2400">
                <a:latin typeface="Funnel Display"/>
                <a:ea typeface="Funnel Display"/>
                <a:cs typeface="Funnel Display"/>
              </a:defRPr>
            </a:lvl6pPr>
            <a:lvl7pPr lvl="6" algn="ctr" rtl="0">
              <a:lnSpc>
                <a:spcPct val="100000"/>
              </a:lnSpc>
              <a:spcBef>
                <a:spcPts val="0"/>
              </a:spcBef>
              <a:spcAft>
                <a:spcPts val="0"/>
              </a:spcAft>
              <a:buSzPts val="2400"/>
              <a:buFont typeface="Funnel Display"/>
              <a:buNone/>
              <a:defRPr sz="2400">
                <a:latin typeface="Funnel Display"/>
                <a:ea typeface="Funnel Display"/>
                <a:cs typeface="Funnel Display"/>
              </a:defRPr>
            </a:lvl7pPr>
            <a:lvl8pPr lvl="7" algn="ctr" rtl="0">
              <a:lnSpc>
                <a:spcPct val="100000"/>
              </a:lnSpc>
              <a:spcBef>
                <a:spcPts val="0"/>
              </a:spcBef>
              <a:spcAft>
                <a:spcPts val="0"/>
              </a:spcAft>
              <a:buSzPts val="2400"/>
              <a:buFont typeface="Funnel Display"/>
              <a:buNone/>
              <a:defRPr sz="2400">
                <a:latin typeface="Funnel Display"/>
                <a:ea typeface="Funnel Display"/>
                <a:cs typeface="Funnel Display"/>
              </a:defRPr>
            </a:lvl8pPr>
            <a:lvl9pPr lvl="8" algn="ctr" rtl="0">
              <a:lnSpc>
                <a:spcPct val="100000"/>
              </a:lnSpc>
              <a:spcBef>
                <a:spcPts val="0"/>
              </a:spcBef>
              <a:spcAft>
                <a:spcPts val="0"/>
              </a:spcAft>
              <a:buSzPts val="2400"/>
              <a:buFont typeface="Funnel Display"/>
              <a:buNone/>
              <a:defRPr sz="2400">
                <a:latin typeface="Funnel Display"/>
                <a:ea typeface="Funnel Display"/>
                <a:cs typeface="Funnel Display"/>
              </a:defRPr>
            </a:lvl9pPr>
          </a:lstStyle>
          <a:p>
            <a:pPr>
              <a:defRPr/>
            </a:pPr>
            <a:endParaRPr/>
          </a:p>
        </p:txBody>
      </p:sp>
      <p:cxnSp>
        <p:nvCxnSpPr>
          <p:cNvPr id="789864695" name="Google Shape;27;p5"/>
          <p:cNvCxnSpPr/>
          <p:nvPr/>
        </p:nvCxnSpPr>
        <p:spPr bwMode="auto">
          <a:xfrm>
            <a:off x="218850" y="235949"/>
            <a:ext cx="87063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One column text" preserve="0" showMasterPhAnim="0" showMasterSp="1" userDrawn="1">
  <p:cSld name="ONE_COLUMN_TEXT">
    <p:spTree>
      <p:nvGrpSpPr>
        <p:cNvPr id="1" name=""/>
        <p:cNvGrpSpPr/>
        <p:nvPr/>
      </p:nvGrpSpPr>
      <p:grpSpPr bwMode="auto">
        <a:xfrm>
          <a:off x="0" y="0"/>
          <a:ext cx="0" cy="0"/>
          <a:chOff x="0" y="0"/>
          <a:chExt cx="0" cy="0"/>
        </a:xfrm>
      </p:grpSpPr>
      <p:sp>
        <p:nvSpPr>
          <p:cNvPr id="1366140182" name="Google Shape;32;p7"/>
          <p:cNvSpPr txBox="1"/>
          <p:nvPr>
            <p:ph type="title"/>
          </p:nvPr>
        </p:nvSpPr>
        <p:spPr bwMode="auto">
          <a:xfrm>
            <a:off x="3483675" y="529125"/>
            <a:ext cx="4644300" cy="1139700"/>
          </a:xfrm>
          <a:prstGeom prst="rect">
            <a:avLst/>
          </a:prstGeom>
        </p:spPr>
        <p:txBody>
          <a:bodyPr spcFirstLastPara="1" wrap="square" lIns="91425" tIns="91425" rIns="91425" bIns="91425" anchor="t" anchorCtr="0">
            <a:noAutofit/>
          </a:bodyPr>
          <a:lstStyle>
            <a:lvl1pPr lvl="0" algn="l" rtl="0">
              <a:spcBef>
                <a:spcPts val="0"/>
              </a:spcBef>
              <a:spcAft>
                <a:spcPts val="0"/>
              </a:spcAft>
              <a:buSzPts val="3600"/>
              <a:buNone/>
              <a:defRPr sz="2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pPr>
              <a:defRPr/>
            </a:pPr>
            <a:endParaRPr/>
          </a:p>
        </p:txBody>
      </p:sp>
      <p:sp>
        <p:nvSpPr>
          <p:cNvPr id="1896023361" name="Google Shape;33;p7"/>
          <p:cNvSpPr/>
          <p:nvPr>
            <p:ph type="pic" idx="2"/>
          </p:nvPr>
        </p:nvSpPr>
        <p:spPr bwMode="auto">
          <a:xfrm>
            <a:off x="228550" y="238199"/>
            <a:ext cx="3009000" cy="4676700"/>
          </a:xfrm>
          <a:prstGeom prst="rect">
            <a:avLst/>
          </a:prstGeom>
          <a:noFill/>
          <a:ln>
            <a:noFill/>
          </a:ln>
        </p:spPr>
      </p:sp>
      <p:sp>
        <p:nvSpPr>
          <p:cNvPr id="1569764112" name="Google Shape;34;p7"/>
          <p:cNvSpPr txBox="1"/>
          <p:nvPr>
            <p:ph type="subTitle" idx="1"/>
          </p:nvPr>
        </p:nvSpPr>
        <p:spPr bwMode="auto">
          <a:xfrm>
            <a:off x="3483675" y="1953400"/>
            <a:ext cx="4172400" cy="2423100"/>
          </a:xfrm>
          <a:prstGeom prst="rect">
            <a:avLst/>
          </a:prstGeom>
        </p:spPr>
        <p:txBody>
          <a:bodyPr spcFirstLastPara="1" wrap="square" lIns="91425" tIns="91425" rIns="91425" bIns="91425" anchor="t" anchorCtr="0">
            <a:noAutofit/>
          </a:bodyPr>
          <a:lstStyle>
            <a:lvl1pPr lvl="0">
              <a:spcBef>
                <a:spcPts val="0"/>
              </a:spcBef>
              <a:spcAft>
                <a:spcPts val="0"/>
              </a:spcAft>
              <a:buSzPts val="1200"/>
              <a:buChar char="●"/>
              <a:defRPr/>
            </a:lvl1pPr>
            <a:lvl2pPr lvl="1">
              <a:spcBef>
                <a:spcPts val="0"/>
              </a:spcBef>
              <a:spcAft>
                <a:spcPts val="0"/>
              </a:spcAft>
              <a:buSzPts val="1200"/>
              <a:buChar char="○"/>
              <a:defRPr/>
            </a:lvl2pPr>
            <a:lvl3pPr lvl="2">
              <a:spcBef>
                <a:spcPts val="0"/>
              </a:spcBef>
              <a:spcAft>
                <a:spcPts val="0"/>
              </a:spcAft>
              <a:buSzPts val="1200"/>
              <a:buChar char="■"/>
              <a:defRPr/>
            </a:lvl3pPr>
            <a:lvl4pPr lvl="3">
              <a:spcBef>
                <a:spcPts val="0"/>
              </a:spcBef>
              <a:spcAft>
                <a:spcPts val="0"/>
              </a:spcAft>
              <a:buSzPts val="1200"/>
              <a:buChar char="●"/>
              <a:defRPr/>
            </a:lvl4pPr>
            <a:lvl5pPr lvl="4">
              <a:spcBef>
                <a:spcPts val="0"/>
              </a:spcBef>
              <a:spcAft>
                <a:spcPts val="0"/>
              </a:spcAft>
              <a:buSzPts val="1200"/>
              <a:buChar char="○"/>
              <a:defRPr/>
            </a:lvl5pPr>
            <a:lvl6pPr lvl="5">
              <a:spcBef>
                <a:spcPts val="0"/>
              </a:spcBef>
              <a:spcAft>
                <a:spcPts val="0"/>
              </a:spcAft>
              <a:buSzPts val="1200"/>
              <a:buChar char="■"/>
              <a:defRPr/>
            </a:lvl6pPr>
            <a:lvl7pPr lvl="6">
              <a:spcBef>
                <a:spcPts val="0"/>
              </a:spcBef>
              <a:spcAft>
                <a:spcPts val="0"/>
              </a:spcAft>
              <a:buSzPts val="1200"/>
              <a:buChar char="●"/>
              <a:defRPr/>
            </a:lvl7pPr>
            <a:lvl8pPr lvl="7">
              <a:spcBef>
                <a:spcPts val="0"/>
              </a:spcBef>
              <a:spcAft>
                <a:spcPts val="0"/>
              </a:spcAft>
              <a:buSzPts val="1200"/>
              <a:buChar char="○"/>
              <a:defRPr/>
            </a:lvl8pPr>
            <a:lvl9pPr lvl="8">
              <a:spcBef>
                <a:spcPts val="0"/>
              </a:spcBef>
              <a:spcAft>
                <a:spcPts val="0"/>
              </a:spcAft>
              <a:buSzPts val="1200"/>
              <a:buChar char="■"/>
              <a:defRPr/>
            </a:lvl9pPr>
          </a:lstStyle>
          <a:p>
            <a:pPr>
              <a:defRPr/>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Main point" preserve="0" showMasterPhAnim="0" showMasterSp="1" userDrawn="1">
  <p:cSld name="MAIN_POINT">
    <p:spTree>
      <p:nvGrpSpPr>
        <p:cNvPr id="1" name=""/>
        <p:cNvGrpSpPr/>
        <p:nvPr/>
      </p:nvGrpSpPr>
      <p:grpSpPr bwMode="auto">
        <a:xfrm>
          <a:off x="0" y="0"/>
          <a:ext cx="0" cy="0"/>
          <a:chOff x="0" y="0"/>
          <a:chExt cx="0" cy="0"/>
        </a:xfrm>
      </p:grpSpPr>
      <p:sp>
        <p:nvSpPr>
          <p:cNvPr id="1862219833" name="Google Shape;36;p8"/>
          <p:cNvSpPr txBox="1"/>
          <p:nvPr>
            <p:ph type="title"/>
          </p:nvPr>
        </p:nvSpPr>
        <p:spPr bwMode="auto">
          <a:xfrm>
            <a:off x="557100" y="1771800"/>
            <a:ext cx="5657400" cy="1680000"/>
          </a:xfrm>
          <a:prstGeom prst="rect">
            <a:avLst/>
          </a:prstGeom>
        </p:spPr>
        <p:txBody>
          <a:bodyPr spcFirstLastPara="1" wrap="square" lIns="91425" tIns="91425" rIns="91425" bIns="91425" anchor="t" anchorCtr="0">
            <a:noAutofit/>
          </a:bodyPr>
          <a:lstStyle>
            <a:lvl1pPr lvl="0">
              <a:spcBef>
                <a:spcPts val="0"/>
              </a:spcBef>
              <a:spcAft>
                <a:spcPts val="0"/>
              </a:spcAft>
              <a:buSzPts val="4800"/>
              <a:buNone/>
              <a:defRPr sz="5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pPr>
              <a:defRPr/>
            </a:pPr>
            <a:endParaRPr/>
          </a:p>
        </p:txBody>
      </p:sp>
      <p:cxnSp>
        <p:nvCxnSpPr>
          <p:cNvPr id="738566592" name="Google Shape;37;p8"/>
          <p:cNvCxnSpPr/>
          <p:nvPr/>
        </p:nvCxnSpPr>
        <p:spPr bwMode="auto">
          <a:xfrm>
            <a:off x="218850" y="252463"/>
            <a:ext cx="8706300" cy="0"/>
          </a:xfrm>
          <a:prstGeom prst="straightConnector1">
            <a:avLst/>
          </a:prstGeom>
          <a:noFill/>
          <a:ln w="9525" cap="flat" cmpd="sng">
            <a:solidFill>
              <a:schemeClr val="dk1"/>
            </a:solidFill>
            <a:prstDash val="solid"/>
            <a:round/>
            <a:headEnd type="none" w="med" len="med"/>
            <a:tailEnd type="none" w="med" len="med"/>
          </a:ln>
        </p:spPr>
      </p:cxnSp>
      <p:cxnSp>
        <p:nvCxnSpPr>
          <p:cNvPr id="465431562" name="Google Shape;38;p8"/>
          <p:cNvCxnSpPr/>
          <p:nvPr/>
        </p:nvCxnSpPr>
        <p:spPr bwMode="auto">
          <a:xfrm>
            <a:off x="218850" y="4891038"/>
            <a:ext cx="87063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Big number" preserve="0" showMasterPhAnim="0" showMasterSp="1" userDrawn="1">
  <p:cSld name="BIG_NUMBER">
    <p:spTree>
      <p:nvGrpSpPr>
        <p:cNvPr id="1" name=""/>
        <p:cNvGrpSpPr/>
        <p:nvPr/>
      </p:nvGrpSpPr>
      <p:grpSpPr bwMode="auto">
        <a:xfrm>
          <a:off x="0" y="0"/>
          <a:ext cx="0" cy="0"/>
          <a:chOff x="0" y="0"/>
          <a:chExt cx="0" cy="0"/>
        </a:xfrm>
      </p:grpSpPr>
      <p:sp>
        <p:nvSpPr>
          <p:cNvPr id="1250151656" name="Google Shape;47;p11"/>
          <p:cNvSpPr txBox="1"/>
          <p:nvPr>
            <p:ph type="title" hasCustomPrompt="1"/>
          </p:nvPr>
        </p:nvSpPr>
        <p:spPr bwMode="auto">
          <a:xfrm>
            <a:off x="1284000" y="1349538"/>
            <a:ext cx="6576000" cy="1378800"/>
          </a:xfrm>
          <a:prstGeom prst="rect">
            <a:avLst/>
          </a:prstGeom>
        </p:spPr>
        <p:txBody>
          <a:bodyPr spcFirstLastPara="1" wrap="square" lIns="91425" tIns="91425" rIns="91425" bIns="91425" anchor="b" anchorCtr="0">
            <a:noAutofit/>
          </a:bodyPr>
          <a:lstStyle>
            <a:lvl1pPr lvl="0" algn="ctr">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pPr>
              <a:defRPr/>
            </a:pPr>
            <a:r>
              <a:rPr/>
              <a:t>xx%</a:t>
            </a:r>
            <a:endParaRPr/>
          </a:p>
        </p:txBody>
      </p:sp>
      <p:sp>
        <p:nvSpPr>
          <p:cNvPr id="1501471057" name="Google Shape;48;p11"/>
          <p:cNvSpPr txBox="1"/>
          <p:nvPr>
            <p:ph type="subTitle" idx="1"/>
          </p:nvPr>
        </p:nvSpPr>
        <p:spPr bwMode="auto">
          <a:xfrm>
            <a:off x="1284000" y="2807524"/>
            <a:ext cx="6576000" cy="497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20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pPr>
              <a:defRPr/>
            </a:pPr>
            <a:endParaRPr/>
          </a:p>
        </p:txBody>
      </p:sp>
      <p:cxnSp>
        <p:nvCxnSpPr>
          <p:cNvPr id="668048748" name="Google Shape;49;p11"/>
          <p:cNvCxnSpPr/>
          <p:nvPr/>
        </p:nvCxnSpPr>
        <p:spPr bwMode="auto">
          <a:xfrm>
            <a:off x="218850" y="272663"/>
            <a:ext cx="8706300" cy="0"/>
          </a:xfrm>
          <a:prstGeom prst="straightConnector1">
            <a:avLst/>
          </a:prstGeom>
          <a:noFill/>
          <a:ln w="9525" cap="flat" cmpd="sng">
            <a:solidFill>
              <a:schemeClr val="dk1"/>
            </a:solidFill>
            <a:prstDash val="solid"/>
            <a:round/>
            <a:headEnd type="none" w="med" len="med"/>
            <a:tailEnd type="none" w="med" len="med"/>
          </a:ln>
        </p:spPr>
      </p:cxnSp>
      <p:cxnSp>
        <p:nvCxnSpPr>
          <p:cNvPr id="682166990" name="Google Shape;50;p11"/>
          <p:cNvCxnSpPr/>
          <p:nvPr/>
        </p:nvCxnSpPr>
        <p:spPr bwMode="auto">
          <a:xfrm>
            <a:off x="218850" y="4870838"/>
            <a:ext cx="87063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Blank" preserve="0" showMasterPhAnim="0" showMasterSp="1" type="blank" userDrawn="1">
  <p:cSld name="BLANK">
    <p:spTree>
      <p:nvGrpSpPr>
        <p:cNvPr id="1" name=""/>
        <p:cNvGrpSpPr/>
        <p:nvPr/>
      </p:nvGrpSpPr>
      <p:grpSpPr bwMode="auto">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le and text" preserve="0" showMasterPhAnim="0" showMasterSp="1" userDrawn="1">
  <p:cSld name="CUSTOM_4_2_1">
    <p:spTree>
      <p:nvGrpSpPr>
        <p:cNvPr id="1" name=""/>
        <p:cNvGrpSpPr/>
        <p:nvPr/>
      </p:nvGrpSpPr>
      <p:grpSpPr bwMode="auto">
        <a:xfrm>
          <a:off x="0" y="0"/>
          <a:ext cx="0" cy="0"/>
          <a:chOff x="0" y="0"/>
          <a:chExt cx="0" cy="0"/>
        </a:xfrm>
      </p:grpSpPr>
      <p:pic>
        <p:nvPicPr>
          <p:cNvPr id="2021847315" name="Google Shape;53;p13" title="silhouette-person-city (2).jpg"/>
          <p:cNvPicPr/>
          <p:nvPr/>
        </p:nvPicPr>
        <p:blipFill rotWithShape="1">
          <a:blip r:embed="rId2">
            <a:alphaModFix/>
          </a:blip>
          <a:srcRect l="0" t="0" r="0" b="15418"/>
          <a:stretch/>
        </p:blipFill>
        <p:spPr bwMode="auto">
          <a:xfrm>
            <a:off x="-2" y="0"/>
            <a:ext cx="9144003" cy="5143501"/>
          </a:xfrm>
          <a:prstGeom prst="rect">
            <a:avLst/>
          </a:prstGeom>
          <a:solidFill>
            <a:schemeClr val="lt1"/>
          </a:solidFill>
          <a:ln>
            <a:noFill/>
          </a:ln>
        </p:spPr>
      </p:pic>
      <p:sp>
        <p:nvSpPr>
          <p:cNvPr id="2108635247" name="Google Shape;54;p13"/>
          <p:cNvSpPr/>
          <p:nvPr/>
        </p:nvSpPr>
        <p:spPr bwMode="auto">
          <a:xfrm>
            <a:off x="243300" y="259500"/>
            <a:ext cx="8657400" cy="46245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defRPr/>
            </a:pPr>
            <a:endParaRPr>
              <a:latin typeface="DM Sans"/>
              <a:ea typeface="DM Sans"/>
              <a:cs typeface="DM Sans"/>
            </a:endParaRPr>
          </a:p>
        </p:txBody>
      </p:sp>
      <p:sp>
        <p:nvSpPr>
          <p:cNvPr id="1232390172" name="Google Shape;55;p13"/>
          <p:cNvSpPr txBox="1"/>
          <p:nvPr>
            <p:ph type="title"/>
          </p:nvPr>
        </p:nvSpPr>
        <p:spPr bwMode="auto">
          <a:xfrm>
            <a:off x="571475" y="521225"/>
            <a:ext cx="8001000" cy="573300"/>
          </a:xfrm>
          <a:prstGeom prst="rect">
            <a:avLst/>
          </a:prstGeom>
        </p:spPr>
        <p:txBody>
          <a:bodyPr spcFirstLastPara="1" wrap="square" lIns="91425" tIns="91425" rIns="91425" bIns="91425" anchor="t" anchorCtr="0">
            <a:noAutofit/>
          </a:bodyPr>
          <a:lstStyle>
            <a:lvl1pPr lvl="0">
              <a:spcBef>
                <a:spcPts val="0"/>
              </a:spcBef>
              <a:spcAft>
                <a:spcPts val="0"/>
              </a:spcAft>
              <a:buSzPts val="2500"/>
              <a:buNone/>
              <a:defRPr/>
            </a:lvl1pPr>
            <a:lvl2pPr lvl="1">
              <a:spcBef>
                <a:spcPts val="0"/>
              </a:spcBef>
              <a:spcAft>
                <a:spcPts val="0"/>
              </a:spcAft>
              <a:buSzPts val="2500"/>
              <a:buNone/>
              <a:defRPr/>
            </a:lvl2pPr>
            <a:lvl3pPr lvl="2">
              <a:spcBef>
                <a:spcPts val="0"/>
              </a:spcBef>
              <a:spcAft>
                <a:spcPts val="0"/>
              </a:spcAft>
              <a:buSzPts val="2500"/>
              <a:buNone/>
              <a:defRPr/>
            </a:lvl3pPr>
            <a:lvl4pPr lvl="3">
              <a:spcBef>
                <a:spcPts val="0"/>
              </a:spcBef>
              <a:spcAft>
                <a:spcPts val="0"/>
              </a:spcAft>
              <a:buSzPts val="2500"/>
              <a:buNone/>
              <a:defRPr/>
            </a:lvl4pPr>
            <a:lvl5pPr lvl="4">
              <a:spcBef>
                <a:spcPts val="0"/>
              </a:spcBef>
              <a:spcAft>
                <a:spcPts val="0"/>
              </a:spcAft>
              <a:buSzPts val="2500"/>
              <a:buNone/>
              <a:defRPr/>
            </a:lvl5pPr>
            <a:lvl6pPr lvl="5">
              <a:spcBef>
                <a:spcPts val="0"/>
              </a:spcBef>
              <a:spcAft>
                <a:spcPts val="0"/>
              </a:spcAft>
              <a:buSzPts val="2500"/>
              <a:buNone/>
              <a:defRPr/>
            </a:lvl6pPr>
            <a:lvl7pPr lvl="6">
              <a:spcBef>
                <a:spcPts val="0"/>
              </a:spcBef>
              <a:spcAft>
                <a:spcPts val="0"/>
              </a:spcAft>
              <a:buSzPts val="2500"/>
              <a:buNone/>
              <a:defRPr/>
            </a:lvl7pPr>
            <a:lvl8pPr lvl="7">
              <a:spcBef>
                <a:spcPts val="0"/>
              </a:spcBef>
              <a:spcAft>
                <a:spcPts val="0"/>
              </a:spcAft>
              <a:buSzPts val="2500"/>
              <a:buNone/>
              <a:defRPr/>
            </a:lvl8pPr>
            <a:lvl9pPr lvl="8">
              <a:spcBef>
                <a:spcPts val="0"/>
              </a:spcBef>
              <a:spcAft>
                <a:spcPts val="0"/>
              </a:spcAft>
              <a:buSzPts val="2500"/>
              <a:buNone/>
              <a:defRPr/>
            </a:lvl9pPr>
          </a:lstStyle>
          <a:p>
            <a:pPr>
              <a:defRPr/>
            </a:pPr>
            <a:endParaRPr/>
          </a:p>
        </p:txBody>
      </p:sp>
      <p:sp>
        <p:nvSpPr>
          <p:cNvPr id="89366042" name="Google Shape;56;p13"/>
          <p:cNvSpPr txBox="1"/>
          <p:nvPr>
            <p:ph type="subTitle" idx="1"/>
          </p:nvPr>
        </p:nvSpPr>
        <p:spPr bwMode="auto">
          <a:xfrm>
            <a:off x="2840200" y="1274600"/>
            <a:ext cx="5583899" cy="3418500"/>
          </a:xfrm>
          <a:prstGeom prst="rect">
            <a:avLst/>
          </a:prstGeom>
        </p:spPr>
        <p:txBody>
          <a:bodyPr spcFirstLastPara="1" wrap="square" lIns="91425" tIns="91425" rIns="91425" bIns="91425" anchor="t" anchorCtr="0">
            <a:noAutofit/>
          </a:bodyPr>
          <a:lstStyle>
            <a:lvl1pPr lvl="0">
              <a:spcBef>
                <a:spcPts val="0"/>
              </a:spcBef>
              <a:spcAft>
                <a:spcPts val="0"/>
              </a:spcAft>
              <a:buSzPts val="1200"/>
              <a:buNone/>
              <a:defRPr b="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a:pPr>
              <a:defRPr/>
            </a:pPr>
            <a:endParaRPr/>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simple-light-2">
    <p:bg>
      <p:bgPr shadeToTitle="0">
        <a:solidFill>
          <a:schemeClr val="lt1"/>
        </a:solidFill>
      </p:bgPr>
    </p:bg>
    <p:spTree>
      <p:nvGrpSpPr>
        <p:cNvPr id="1" name=""/>
        <p:cNvGrpSpPr/>
        <p:nvPr/>
      </p:nvGrpSpPr>
      <p:grpSpPr bwMode="auto">
        <a:xfrm>
          <a:off x="0" y="0"/>
          <a:ext cx="0" cy="0"/>
          <a:chOff x="0" y="0"/>
          <a:chExt cx="0" cy="0"/>
        </a:xfrm>
      </p:grpSpPr>
      <p:sp>
        <p:nvSpPr>
          <p:cNvPr id="477705272" name="Google Shape;6;p1"/>
          <p:cNvSpPr txBox="1"/>
          <p:nvPr>
            <p:ph type="title"/>
          </p:nvPr>
        </p:nvSpPr>
        <p:spPr bwMode="auto">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500"/>
              <a:buFont typeface="Funnel Display"/>
              <a:buNone/>
              <a:defRPr sz="2500">
                <a:solidFill>
                  <a:schemeClr val="dk1"/>
                </a:solidFill>
                <a:latin typeface="Funnel Display"/>
                <a:ea typeface="Funnel Display"/>
                <a:cs typeface="Funnel Display"/>
              </a:defRPr>
            </a:lvl1pPr>
            <a:lvl2pPr lvl="1" rtl="0">
              <a:spcBef>
                <a:spcPts val="0"/>
              </a:spcBef>
              <a:spcAft>
                <a:spcPts val="0"/>
              </a:spcAft>
              <a:buClr>
                <a:schemeClr val="dk1"/>
              </a:buClr>
              <a:buSzPts val="2500"/>
              <a:buFont typeface="Funnel Display"/>
              <a:buNone/>
              <a:defRPr sz="2500">
                <a:solidFill>
                  <a:schemeClr val="dk1"/>
                </a:solidFill>
                <a:latin typeface="Funnel Display"/>
                <a:ea typeface="Funnel Display"/>
                <a:cs typeface="Funnel Display"/>
              </a:defRPr>
            </a:lvl2pPr>
            <a:lvl3pPr lvl="2" rtl="0">
              <a:spcBef>
                <a:spcPts val="0"/>
              </a:spcBef>
              <a:spcAft>
                <a:spcPts val="0"/>
              </a:spcAft>
              <a:buClr>
                <a:schemeClr val="dk1"/>
              </a:buClr>
              <a:buSzPts val="2500"/>
              <a:buFont typeface="Funnel Display"/>
              <a:buNone/>
              <a:defRPr sz="2500">
                <a:solidFill>
                  <a:schemeClr val="dk1"/>
                </a:solidFill>
                <a:latin typeface="Funnel Display"/>
                <a:ea typeface="Funnel Display"/>
                <a:cs typeface="Funnel Display"/>
              </a:defRPr>
            </a:lvl3pPr>
            <a:lvl4pPr lvl="3" rtl="0">
              <a:spcBef>
                <a:spcPts val="0"/>
              </a:spcBef>
              <a:spcAft>
                <a:spcPts val="0"/>
              </a:spcAft>
              <a:buClr>
                <a:schemeClr val="dk1"/>
              </a:buClr>
              <a:buSzPts val="2500"/>
              <a:buFont typeface="Funnel Display"/>
              <a:buNone/>
              <a:defRPr sz="2500">
                <a:solidFill>
                  <a:schemeClr val="dk1"/>
                </a:solidFill>
                <a:latin typeface="Funnel Display"/>
                <a:ea typeface="Funnel Display"/>
                <a:cs typeface="Funnel Display"/>
              </a:defRPr>
            </a:lvl4pPr>
            <a:lvl5pPr lvl="4" rtl="0">
              <a:spcBef>
                <a:spcPts val="0"/>
              </a:spcBef>
              <a:spcAft>
                <a:spcPts val="0"/>
              </a:spcAft>
              <a:buClr>
                <a:schemeClr val="dk1"/>
              </a:buClr>
              <a:buSzPts val="2500"/>
              <a:buFont typeface="Funnel Display"/>
              <a:buNone/>
              <a:defRPr sz="2500">
                <a:solidFill>
                  <a:schemeClr val="dk1"/>
                </a:solidFill>
                <a:latin typeface="Funnel Display"/>
                <a:ea typeface="Funnel Display"/>
                <a:cs typeface="Funnel Display"/>
              </a:defRPr>
            </a:lvl5pPr>
            <a:lvl6pPr lvl="5" rtl="0">
              <a:spcBef>
                <a:spcPts val="0"/>
              </a:spcBef>
              <a:spcAft>
                <a:spcPts val="0"/>
              </a:spcAft>
              <a:buClr>
                <a:schemeClr val="dk1"/>
              </a:buClr>
              <a:buSzPts val="2500"/>
              <a:buFont typeface="Funnel Display"/>
              <a:buNone/>
              <a:defRPr sz="2500">
                <a:solidFill>
                  <a:schemeClr val="dk1"/>
                </a:solidFill>
                <a:latin typeface="Funnel Display"/>
                <a:ea typeface="Funnel Display"/>
                <a:cs typeface="Funnel Display"/>
              </a:defRPr>
            </a:lvl6pPr>
            <a:lvl7pPr lvl="6" rtl="0">
              <a:spcBef>
                <a:spcPts val="0"/>
              </a:spcBef>
              <a:spcAft>
                <a:spcPts val="0"/>
              </a:spcAft>
              <a:buClr>
                <a:schemeClr val="dk1"/>
              </a:buClr>
              <a:buSzPts val="2500"/>
              <a:buFont typeface="Funnel Display"/>
              <a:buNone/>
              <a:defRPr sz="2500">
                <a:solidFill>
                  <a:schemeClr val="dk1"/>
                </a:solidFill>
                <a:latin typeface="Funnel Display"/>
                <a:ea typeface="Funnel Display"/>
                <a:cs typeface="Funnel Display"/>
              </a:defRPr>
            </a:lvl7pPr>
            <a:lvl8pPr lvl="7" rtl="0">
              <a:spcBef>
                <a:spcPts val="0"/>
              </a:spcBef>
              <a:spcAft>
                <a:spcPts val="0"/>
              </a:spcAft>
              <a:buClr>
                <a:schemeClr val="dk1"/>
              </a:buClr>
              <a:buSzPts val="2500"/>
              <a:buFont typeface="Funnel Display"/>
              <a:buNone/>
              <a:defRPr sz="2500">
                <a:solidFill>
                  <a:schemeClr val="dk1"/>
                </a:solidFill>
                <a:latin typeface="Funnel Display"/>
                <a:ea typeface="Funnel Display"/>
                <a:cs typeface="Funnel Display"/>
              </a:defRPr>
            </a:lvl8pPr>
            <a:lvl9pPr lvl="8" rtl="0">
              <a:spcBef>
                <a:spcPts val="0"/>
              </a:spcBef>
              <a:spcAft>
                <a:spcPts val="0"/>
              </a:spcAft>
              <a:buClr>
                <a:schemeClr val="dk1"/>
              </a:buClr>
              <a:buSzPts val="2500"/>
              <a:buFont typeface="Funnel Display"/>
              <a:buNone/>
              <a:defRPr sz="2500">
                <a:solidFill>
                  <a:schemeClr val="dk1"/>
                </a:solidFill>
                <a:latin typeface="Funnel Display"/>
                <a:ea typeface="Funnel Display"/>
                <a:cs typeface="Funnel Display"/>
              </a:defRPr>
            </a:lvl9pPr>
          </a:lstStyle>
          <a:p>
            <a:pPr>
              <a:defRPr/>
            </a:pPr>
            <a:endParaRPr/>
          </a:p>
        </p:txBody>
      </p:sp>
      <p:sp>
        <p:nvSpPr>
          <p:cNvPr id="1365384602" name="Google Shape;7;p1"/>
          <p:cNvSpPr txBox="1"/>
          <p:nvPr>
            <p:ph type="body" idx="1"/>
          </p:nvPr>
        </p:nvSpPr>
        <p:spPr bwMode="auto">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DM Sans"/>
              <a:buChar char="●"/>
              <a:defRPr sz="1200">
                <a:solidFill>
                  <a:schemeClr val="dk1"/>
                </a:solidFill>
                <a:latin typeface="DM Sans"/>
                <a:ea typeface="DM Sans"/>
                <a:cs typeface="DM Sans"/>
              </a:defRPr>
            </a:lvl1pPr>
            <a:lvl2pPr marL="914400" lvl="1" indent="-304800">
              <a:lnSpc>
                <a:spcPct val="100000"/>
              </a:lnSpc>
              <a:spcBef>
                <a:spcPts val="0"/>
              </a:spcBef>
              <a:spcAft>
                <a:spcPts val="0"/>
              </a:spcAft>
              <a:buClr>
                <a:schemeClr val="dk1"/>
              </a:buClr>
              <a:buSzPts val="1200"/>
              <a:buFont typeface="DM Sans"/>
              <a:buChar char="○"/>
              <a:defRPr sz="1200">
                <a:solidFill>
                  <a:schemeClr val="dk1"/>
                </a:solidFill>
                <a:latin typeface="DM Sans"/>
                <a:ea typeface="DM Sans"/>
                <a:cs typeface="DM Sans"/>
              </a:defRPr>
            </a:lvl2pPr>
            <a:lvl3pPr marL="1371600" lvl="2" indent="-304800">
              <a:lnSpc>
                <a:spcPct val="100000"/>
              </a:lnSpc>
              <a:spcBef>
                <a:spcPts val="0"/>
              </a:spcBef>
              <a:spcAft>
                <a:spcPts val="0"/>
              </a:spcAft>
              <a:buClr>
                <a:schemeClr val="dk1"/>
              </a:buClr>
              <a:buSzPts val="1200"/>
              <a:buFont typeface="DM Sans"/>
              <a:buChar char="■"/>
              <a:defRPr sz="1200">
                <a:solidFill>
                  <a:schemeClr val="dk1"/>
                </a:solidFill>
                <a:latin typeface="DM Sans"/>
                <a:ea typeface="DM Sans"/>
                <a:cs typeface="DM Sans"/>
              </a:defRPr>
            </a:lvl3pPr>
            <a:lvl4pPr marL="1828800" lvl="3" indent="-304800">
              <a:lnSpc>
                <a:spcPct val="100000"/>
              </a:lnSpc>
              <a:spcBef>
                <a:spcPts val="0"/>
              </a:spcBef>
              <a:spcAft>
                <a:spcPts val="0"/>
              </a:spcAft>
              <a:buClr>
                <a:schemeClr val="dk1"/>
              </a:buClr>
              <a:buSzPts val="1200"/>
              <a:buFont typeface="DM Sans"/>
              <a:buChar char="●"/>
              <a:defRPr sz="1200">
                <a:solidFill>
                  <a:schemeClr val="dk1"/>
                </a:solidFill>
                <a:latin typeface="DM Sans"/>
                <a:ea typeface="DM Sans"/>
                <a:cs typeface="DM Sans"/>
              </a:defRPr>
            </a:lvl4pPr>
            <a:lvl5pPr marL="2286000" lvl="4" indent="-304800">
              <a:lnSpc>
                <a:spcPct val="100000"/>
              </a:lnSpc>
              <a:spcBef>
                <a:spcPts val="0"/>
              </a:spcBef>
              <a:spcAft>
                <a:spcPts val="0"/>
              </a:spcAft>
              <a:buClr>
                <a:schemeClr val="dk1"/>
              </a:buClr>
              <a:buSzPts val="1200"/>
              <a:buFont typeface="DM Sans"/>
              <a:buChar char="○"/>
              <a:defRPr sz="1200">
                <a:solidFill>
                  <a:schemeClr val="dk1"/>
                </a:solidFill>
                <a:latin typeface="DM Sans"/>
                <a:ea typeface="DM Sans"/>
                <a:cs typeface="DM Sans"/>
              </a:defRPr>
            </a:lvl5pPr>
            <a:lvl6pPr marL="2743200" lvl="5" indent="-304800">
              <a:lnSpc>
                <a:spcPct val="100000"/>
              </a:lnSpc>
              <a:spcBef>
                <a:spcPts val="0"/>
              </a:spcBef>
              <a:spcAft>
                <a:spcPts val="0"/>
              </a:spcAft>
              <a:buClr>
                <a:schemeClr val="dk1"/>
              </a:buClr>
              <a:buSzPts val="1200"/>
              <a:buFont typeface="DM Sans"/>
              <a:buChar char="■"/>
              <a:defRPr sz="1200">
                <a:solidFill>
                  <a:schemeClr val="dk1"/>
                </a:solidFill>
                <a:latin typeface="DM Sans"/>
                <a:ea typeface="DM Sans"/>
                <a:cs typeface="DM Sans"/>
              </a:defRPr>
            </a:lvl6pPr>
            <a:lvl7pPr marL="3200400" lvl="6" indent="-304800">
              <a:lnSpc>
                <a:spcPct val="100000"/>
              </a:lnSpc>
              <a:spcBef>
                <a:spcPts val="0"/>
              </a:spcBef>
              <a:spcAft>
                <a:spcPts val="0"/>
              </a:spcAft>
              <a:buClr>
                <a:schemeClr val="dk1"/>
              </a:buClr>
              <a:buSzPts val="1200"/>
              <a:buFont typeface="DM Sans"/>
              <a:buChar char="●"/>
              <a:defRPr sz="1200">
                <a:solidFill>
                  <a:schemeClr val="dk1"/>
                </a:solidFill>
                <a:latin typeface="DM Sans"/>
                <a:ea typeface="DM Sans"/>
                <a:cs typeface="DM Sans"/>
              </a:defRPr>
            </a:lvl7pPr>
            <a:lvl8pPr marL="3657600" lvl="7" indent="-304800">
              <a:lnSpc>
                <a:spcPct val="100000"/>
              </a:lnSpc>
              <a:spcBef>
                <a:spcPts val="0"/>
              </a:spcBef>
              <a:spcAft>
                <a:spcPts val="0"/>
              </a:spcAft>
              <a:buClr>
                <a:schemeClr val="dk1"/>
              </a:buClr>
              <a:buSzPts val="1200"/>
              <a:buFont typeface="DM Sans"/>
              <a:buChar char="○"/>
              <a:defRPr sz="1200">
                <a:solidFill>
                  <a:schemeClr val="dk1"/>
                </a:solidFill>
                <a:latin typeface="DM Sans"/>
                <a:ea typeface="DM Sans"/>
                <a:cs typeface="DM Sans"/>
              </a:defRPr>
            </a:lvl8pPr>
            <a:lvl9pPr marL="4114800" lvl="8" indent="-304800">
              <a:lnSpc>
                <a:spcPct val="100000"/>
              </a:lnSpc>
              <a:spcBef>
                <a:spcPts val="0"/>
              </a:spcBef>
              <a:spcAft>
                <a:spcPts val="0"/>
              </a:spcAft>
              <a:buClr>
                <a:schemeClr val="dk1"/>
              </a:buClr>
              <a:buSzPts val="1200"/>
              <a:buFont typeface="DM Sans"/>
              <a:buChar char="■"/>
              <a:defRPr sz="1200">
                <a:solidFill>
                  <a:schemeClr val="dk1"/>
                </a:solidFill>
                <a:latin typeface="DM Sans"/>
                <a:ea typeface="DM Sans"/>
                <a:cs typeface="DM Sans"/>
              </a:defRPr>
            </a:lvl9pPr>
          </a:lstStyle>
          <a:p>
            <a:pPr>
              <a:defRPr/>
            </a:pPr>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dt="0" ftr="0" hdr="0" sldNum="1"/>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71007293" name="Google Shape;98;p24"/>
          <p:cNvSpPr txBox="1"/>
          <p:nvPr>
            <p:ph type="ctrTitle"/>
          </p:nvPr>
        </p:nvSpPr>
        <p:spPr bwMode="auto">
          <a:xfrm flipH="0" flipV="0">
            <a:off x="470624" y="828099"/>
            <a:ext cx="8116200" cy="2831505"/>
          </a:xfrm>
          <a:prstGeom prst="rect">
            <a:avLst/>
          </a:prstGeom>
        </p:spPr>
        <p:txBody>
          <a:bodyPr spcFirstLastPara="1" wrap="square" lIns="91424" tIns="91424" rIns="91424" bIns="91424" anchor="t" anchorCtr="0">
            <a:noAutofit/>
          </a:bodyPr>
          <a:lstStyle/>
          <a:p>
            <a:pPr marL="0" lvl="0" indent="0" algn="l" rtl="0">
              <a:spcBef>
                <a:spcPts val="0"/>
              </a:spcBef>
              <a:spcAft>
                <a:spcPts val="0"/>
              </a:spcAft>
              <a:buNone/>
              <a:defRPr/>
            </a:pPr>
            <a:r>
              <a:rPr lang="it-IT" sz="3800" b="0" i="0" u="none" strike="noStrike" cap="none" spc="0">
                <a:solidFill>
                  <a:schemeClr val="dk1"/>
                </a:solidFill>
                <a:latin typeface="Funnel Display"/>
                <a:ea typeface="Funnel Display"/>
                <a:cs typeface="Funnel Display"/>
              </a:rPr>
              <a:t>Probing Ontological Knowledge in Masked Language Models: </a:t>
            </a:r>
            <a:br>
              <a:rPr lang="it-IT" sz="3800" b="0" i="0" u="none" strike="noStrike" cap="none" spc="0">
                <a:solidFill>
                  <a:schemeClr val="dk1"/>
                </a:solidFill>
                <a:latin typeface="Funnel Display"/>
                <a:ea typeface="Funnel Display"/>
                <a:cs typeface="Funnel Display"/>
              </a:rPr>
            </a:br>
            <a:br>
              <a:rPr lang="it-IT" sz="3800" b="0" i="0" u="none" strike="noStrike" cap="none" spc="0">
                <a:solidFill>
                  <a:schemeClr val="dk1"/>
                </a:solidFill>
                <a:latin typeface="Funnel Display"/>
                <a:ea typeface="Funnel Display"/>
                <a:cs typeface="Funnel Display"/>
              </a:rPr>
            </a:br>
            <a:r>
              <a:rPr lang="it-IT" sz="2200" b="0" i="0" u="none" strike="noStrike" cap="none" spc="0">
                <a:solidFill>
                  <a:schemeClr val="dk1"/>
                </a:solidFill>
                <a:latin typeface="Funnel Display"/>
                <a:ea typeface="Funnel Display"/>
                <a:cs typeface="Funnel Display"/>
              </a:rPr>
              <a:t>A Comparative Study of BERT and RoBERTa using PRONTO and LMAOSI Approaches</a:t>
            </a:r>
            <a:endParaRPr/>
          </a:p>
          <a:p>
            <a:pPr marL="0" lvl="0" indent="0" algn="l" rtl="0">
              <a:spcBef>
                <a:spcPts val="0"/>
              </a:spcBef>
              <a:spcAft>
                <a:spcPts val="0"/>
              </a:spcAft>
              <a:buNone/>
              <a:defRPr/>
            </a:pPr>
            <a:endParaRPr/>
          </a:p>
        </p:txBody>
      </p:sp>
      <p:sp>
        <p:nvSpPr>
          <p:cNvPr id="364062745" name="Google Shape;99;p24"/>
          <p:cNvSpPr txBox="1"/>
          <p:nvPr>
            <p:ph type="subTitle" idx="1"/>
          </p:nvPr>
        </p:nvSpPr>
        <p:spPr bwMode="auto">
          <a:xfrm flipH="0" flipV="0">
            <a:off x="557099" y="4173453"/>
            <a:ext cx="8029800" cy="426345"/>
          </a:xfrm>
          <a:prstGeom prst="rect">
            <a:avLst/>
          </a:prstGeom>
        </p:spPr>
        <p:txBody>
          <a:bodyPr spcFirstLastPara="1" wrap="square" lIns="91424" tIns="91424" rIns="91424" bIns="91424" anchor="t" anchorCtr="0">
            <a:noAutofit/>
          </a:bodyPr>
          <a:lstStyle/>
          <a:p>
            <a:pPr marL="414250" indent="-261850">
              <a:buClr>
                <a:schemeClr val="dk1"/>
              </a:buClr>
              <a:buSzPts val="1200"/>
              <a:buFont typeface="Arial"/>
              <a:buChar char="–"/>
              <a:defRPr/>
            </a:pPr>
            <a:r>
              <a:rPr lang="it-IT"/>
              <a:t>Cavallini Francesco</a:t>
            </a:r>
            <a:endParaRPr/>
          </a:p>
        </p:txBody>
      </p:sp>
      <p:cxnSp>
        <p:nvCxnSpPr>
          <p:cNvPr id="481561359" name="Google Shape;100;p24"/>
          <p:cNvCxnSpPr/>
          <p:nvPr/>
        </p:nvCxnSpPr>
        <p:spPr bwMode="auto">
          <a:xfrm>
            <a:off x="557100" y="678600"/>
            <a:ext cx="8029800" cy="0"/>
          </a:xfrm>
          <a:prstGeom prst="straightConnector1">
            <a:avLst/>
          </a:prstGeom>
          <a:noFill/>
          <a:ln w="9525" cap="flat" cmpd="sng">
            <a:solidFill>
              <a:schemeClr val="dk1"/>
            </a:solidFill>
            <a:prstDash val="solid"/>
            <a:round/>
            <a:headEnd type="none" w="med" len="med"/>
            <a:tailEnd type="none" w="med" len="med"/>
          </a:ln>
        </p:spPr>
      </p:cxnSp>
      <p:sp>
        <p:nvSpPr>
          <p:cNvPr id="738660555" name="Google Shape;101;p24"/>
          <p:cNvSpPr txBox="1"/>
          <p:nvPr/>
        </p:nvSpPr>
        <p:spPr bwMode="auto">
          <a:xfrm>
            <a:off x="8028225" y="346050"/>
            <a:ext cx="652800" cy="377399"/>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defRPr/>
            </a:pPr>
            <a:r>
              <a:rPr lang="en" sz="1200">
                <a:solidFill>
                  <a:schemeClr val="dk1"/>
                </a:solidFill>
                <a:latin typeface="DM Sans"/>
                <a:ea typeface="DM Sans"/>
                <a:cs typeface="DM Sans"/>
              </a:rPr>
              <a:t>2</a:t>
            </a:r>
            <a:r>
              <a:rPr lang="it-IT" sz="1200">
                <a:solidFill>
                  <a:schemeClr val="dk1"/>
                </a:solidFill>
                <a:latin typeface="DM Sans"/>
                <a:ea typeface="DM Sans"/>
                <a:cs typeface="DM Sans"/>
              </a:rPr>
              <a:t>026</a:t>
            </a:r>
            <a:endParaRPr sz="1200">
              <a:solidFill>
                <a:schemeClr val="dk1"/>
              </a:solidFill>
              <a:latin typeface="DM Sans"/>
              <a:ea typeface="DM Sans"/>
              <a:cs typeface="DM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00134791" name="Google Shape;164;p32"/>
          <p:cNvSpPr txBox="1"/>
          <p:nvPr>
            <p:ph type="title"/>
          </p:nvPr>
        </p:nvSpPr>
        <p:spPr bwMode="auto">
          <a:xfrm>
            <a:off x="571475" y="521225"/>
            <a:ext cx="8001000" cy="573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r>
              <a:rPr lang="it-IT"/>
              <a:t>BACKGROUND:</a:t>
            </a:r>
            <a:endParaRPr/>
          </a:p>
        </p:txBody>
      </p:sp>
      <p:sp>
        <p:nvSpPr>
          <p:cNvPr id="1688024390" name="Google Shape;165;p32"/>
          <p:cNvSpPr txBox="1"/>
          <p:nvPr>
            <p:ph type="subTitle" idx="1"/>
          </p:nvPr>
        </p:nvSpPr>
        <p:spPr bwMode="auto">
          <a:xfrm flipH="0" flipV="0">
            <a:off x="668437" y="1274599"/>
            <a:ext cx="7755661" cy="3418499"/>
          </a:xfrm>
          <a:prstGeom prst="rect">
            <a:avLst/>
          </a:prstGeom>
        </p:spPr>
        <p:txBody>
          <a:bodyPr spcFirstLastPara="1" vertOverflow="overflow" horzOverflow="overflow" vert="horz" wrap="square" lIns="91424" tIns="91424" rIns="91424" bIns="91424" numCol="1" spcCol="0" rtlCol="0" fromWordArt="0" anchor="t" anchorCtr="0" forceAA="0" upright="0" compatLnSpc="0">
            <a:noAutofit/>
          </a:bodyPr>
          <a:lstStyle/>
          <a:p>
            <a:pPr marL="0" lvl="0" indent="0" algn="l" rtl="0">
              <a:spcBef>
                <a:spcPts val="0"/>
              </a:spcBef>
              <a:spcAft>
                <a:spcPts val="0"/>
              </a:spcAft>
              <a:buNone/>
              <a:defRPr/>
            </a:pPr>
            <a:r>
              <a:rPr lang="en" sz="1600" b="0" i="0" u="none" strike="noStrike" cap="none" spc="0">
                <a:solidFill>
                  <a:schemeClr val="dk1"/>
                </a:solidFill>
                <a:latin typeface="DM Sans"/>
                <a:ea typeface="DM Sans"/>
                <a:cs typeface="DM Sans"/>
              </a:rPr>
              <a:t>Masked Language Models (MLMs) have demonstrated remarkable performance across various NLP tasks, yet their capacity to encode structured ontological knowledge remains under-explored. Understanding whether and how MLMs capture hierarchical is-a relationships is crucial for knowledge-intensive applications.</a:t>
            </a:r>
            <a:endParaRPr lang="en" sz="1600"/>
          </a:p>
          <a:p>
            <a:pPr marL="0" lvl="0" indent="0" algn="l" rtl="0">
              <a:spcBef>
                <a:spcPts val="0"/>
              </a:spcBef>
              <a:spcAft>
                <a:spcPts val="0"/>
              </a:spcAft>
              <a:buNone/>
              <a:defRPr/>
            </a:pPr>
            <a:endParaRPr sz="1600"/>
          </a:p>
          <a:p>
            <a:pPr marL="0" lvl="0" indent="0" algn="l" rtl="0">
              <a:spcBef>
                <a:spcPts val="0"/>
              </a:spcBef>
              <a:spcAft>
                <a:spcPts val="0"/>
              </a:spcAft>
              <a:buNone/>
              <a:defRPr/>
            </a:pPr>
            <a:endParaRPr sz="1600"/>
          </a:p>
          <a:p>
            <a:pPr marL="0" lvl="0" indent="0" algn="l" rtl="0">
              <a:spcBef>
                <a:spcPts val="0"/>
              </a:spcBef>
              <a:spcAft>
                <a:spcPts val="0"/>
              </a:spcAft>
              <a:buNone/>
              <a:defRPr/>
            </a:pPr>
            <a:r>
              <a:rPr lang="it-IT" sz="1600" b="1"/>
              <a:t>Our queststion:</a:t>
            </a:r>
            <a:endParaRPr lang="it-IT" sz="1600"/>
          </a:p>
          <a:p>
            <a:pPr marL="0" lvl="0" indent="0" algn="ctr" rtl="0">
              <a:spcBef>
                <a:spcPts val="0"/>
              </a:spcBef>
              <a:spcAft>
                <a:spcPts val="0"/>
              </a:spcAft>
              <a:buNone/>
              <a:defRPr/>
            </a:pPr>
            <a:r>
              <a:rPr lang="it-IT" sz="1600" i="1">
                <a:latin typeface="DejaVu Sans Light"/>
                <a:ea typeface="DejaVu Sans Light"/>
                <a:cs typeface="DejaVu Sans Light"/>
              </a:rPr>
              <a:t>“</a:t>
            </a:r>
            <a:r>
              <a:rPr lang="it-IT" sz="1600" b="0" i="1" u="none" strike="noStrike" cap="none" spc="0">
                <a:solidFill>
                  <a:schemeClr val="dk1"/>
                </a:solidFill>
                <a:latin typeface="DejaVu Sans Light"/>
                <a:ea typeface="DejaVu Sans Light"/>
                <a:cs typeface="DejaVu Sans Light"/>
              </a:rPr>
              <a:t>To what extent can LMs infer conceptual knowledge modelled by an ontology?</a:t>
            </a:r>
            <a:r>
              <a:rPr lang="it-IT" sz="1600" i="1">
                <a:latin typeface="DejaVu Sans Light"/>
                <a:ea typeface="DejaVu Sans Light"/>
                <a:cs typeface="DejaVu Sans Light"/>
              </a:rPr>
              <a:t>”</a:t>
            </a:r>
            <a:endParaRPr/>
          </a:p>
        </p:txBody>
      </p:sp>
      <p:cxnSp>
        <p:nvCxnSpPr>
          <p:cNvPr id="1875673742" name="Google Shape;166;p32"/>
          <p:cNvCxnSpPr/>
          <p:nvPr/>
        </p:nvCxnSpPr>
        <p:spPr bwMode="auto">
          <a:xfrm>
            <a:off x="668438" y="1094375"/>
            <a:ext cx="79041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92520298" name="Google Shape;164;p32"/>
          <p:cNvSpPr txBox="1"/>
          <p:nvPr>
            <p:ph type="title"/>
          </p:nvPr>
        </p:nvSpPr>
        <p:spPr bwMode="auto">
          <a:xfrm>
            <a:off x="571474" y="521224"/>
            <a:ext cx="8001000" cy="573300"/>
          </a:xfrm>
          <a:prstGeom prst="rect">
            <a:avLst/>
          </a:prstGeom>
        </p:spPr>
        <p:txBody>
          <a:bodyPr spcFirstLastPara="1" wrap="square" lIns="91424" tIns="91424" rIns="91424" bIns="91424" anchor="t" anchorCtr="0">
            <a:noAutofit/>
          </a:bodyPr>
          <a:lstStyle/>
          <a:p>
            <a:pPr marL="0" lvl="0" indent="0" algn="l" rtl="0">
              <a:spcBef>
                <a:spcPts val="0"/>
              </a:spcBef>
              <a:spcAft>
                <a:spcPts val="0"/>
              </a:spcAft>
              <a:buNone/>
              <a:defRPr/>
            </a:pPr>
            <a:r>
              <a:rPr lang="it-IT"/>
              <a:t>OBJECTIVE:</a:t>
            </a:r>
            <a:endParaRPr/>
          </a:p>
        </p:txBody>
      </p:sp>
      <p:sp>
        <p:nvSpPr>
          <p:cNvPr id="1617676404" name="Google Shape;165;p32"/>
          <p:cNvSpPr txBox="1"/>
          <p:nvPr>
            <p:ph type="subTitle" idx="1"/>
          </p:nvPr>
        </p:nvSpPr>
        <p:spPr bwMode="auto">
          <a:xfrm flipH="0" flipV="0">
            <a:off x="668437" y="1274599"/>
            <a:ext cx="7755661" cy="3418499"/>
          </a:xfrm>
          <a:prstGeom prst="rect">
            <a:avLst/>
          </a:prstGeom>
        </p:spPr>
        <p:txBody>
          <a:bodyPr spcFirstLastPara="1" vertOverflow="overflow" horzOverflow="overflow" vert="horz" wrap="square" lIns="91424" tIns="91424" rIns="91424" bIns="91424" numCol="1" spcCol="0" rtlCol="0" fromWordArt="0" anchor="t" anchorCtr="0" forceAA="0" upright="0" compatLnSpc="0">
            <a:noAutofit/>
          </a:bodyPr>
          <a:lstStyle/>
          <a:p>
            <a:pPr marL="0" lvl="0" indent="0" algn="l" rtl="0">
              <a:spcBef>
                <a:spcPts val="0"/>
              </a:spcBef>
              <a:spcAft>
                <a:spcPts val="0"/>
              </a:spcAft>
              <a:buNone/>
              <a:defRPr/>
            </a:pPr>
            <a:r>
              <a:rPr lang="en-US" sz="1600" b="0" i="0" u="none" strike="noStrike" cap="none" spc="0">
                <a:solidFill>
                  <a:schemeClr val="dk1"/>
                </a:solidFill>
                <a:latin typeface="DM Sans"/>
                <a:ea typeface="DM Sans"/>
                <a:cs typeface="DM Sans"/>
              </a:rPr>
              <a:t>This study investigates the extent to which BERT and RoBERTa encode ontological subsumption relations by replicating and comparing two state-of-the-art probing methodologies: LMAOSI (Language Model Analysis for Ontology Subsumption Inference) and PRONTO (Prompt-Based Detection of Semantic Containment Patterns).</a:t>
            </a:r>
            <a:endParaRPr lang="en" sz="1600"/>
          </a:p>
          <a:p>
            <a:pPr marL="0" lvl="0" indent="0" algn="l" rtl="0">
              <a:spcBef>
                <a:spcPts val="0"/>
              </a:spcBef>
              <a:spcAft>
                <a:spcPts val="0"/>
              </a:spcAft>
              <a:buNone/>
              <a:defRPr/>
            </a:pPr>
            <a:endParaRPr sz="1600"/>
          </a:p>
          <a:p>
            <a:pPr marL="0" lvl="0" indent="0" algn="l" rtl="0">
              <a:spcBef>
                <a:spcPts val="0"/>
              </a:spcBef>
              <a:spcAft>
                <a:spcPts val="0"/>
              </a:spcAft>
              <a:buNone/>
              <a:defRPr/>
            </a:pPr>
            <a:endParaRPr sz="1600"/>
          </a:p>
          <a:p>
            <a:pPr marL="0" lvl="0" indent="0" algn="l" rtl="0">
              <a:spcBef>
                <a:spcPts val="0"/>
              </a:spcBef>
              <a:spcAft>
                <a:spcPts val="0"/>
              </a:spcAft>
              <a:buNone/>
              <a:defRPr/>
            </a:pPr>
            <a:r>
              <a:rPr lang="it-IT" sz="1600" b="1"/>
              <a:t>Our queststion:</a:t>
            </a:r>
            <a:endParaRPr lang="it-IT" sz="1600"/>
          </a:p>
          <a:p>
            <a:pPr marL="0" lvl="0" indent="0" algn="ctr" rtl="0">
              <a:spcBef>
                <a:spcPts val="0"/>
              </a:spcBef>
              <a:spcAft>
                <a:spcPts val="0"/>
              </a:spcAft>
              <a:buNone/>
              <a:defRPr/>
            </a:pPr>
            <a:r>
              <a:rPr lang="it-IT" sz="1600" i="1">
                <a:latin typeface="DejaVu Sans Light"/>
                <a:ea typeface="DejaVu Sans Light"/>
                <a:cs typeface="DejaVu Sans Light"/>
              </a:rPr>
              <a:t>“</a:t>
            </a:r>
            <a:r>
              <a:rPr lang="it-IT" sz="1600" b="0" i="1" u="none" strike="noStrike" cap="none" spc="0">
                <a:solidFill>
                  <a:schemeClr val="dk1"/>
                </a:solidFill>
                <a:latin typeface="DejaVu Sans Light"/>
                <a:ea typeface="DejaVu Sans Light"/>
                <a:cs typeface="DejaVu Sans Light"/>
              </a:rPr>
              <a:t>To what extent can LMs infer conceptual knowledge modelled by an ontology?</a:t>
            </a:r>
            <a:r>
              <a:rPr lang="it-IT" sz="1600" i="1">
                <a:latin typeface="DejaVu Sans Light"/>
                <a:ea typeface="DejaVu Sans Light"/>
                <a:cs typeface="DejaVu Sans Light"/>
              </a:rPr>
              <a:t>”</a:t>
            </a:r>
            <a:endParaRPr/>
          </a:p>
        </p:txBody>
      </p:sp>
      <p:cxnSp>
        <p:nvCxnSpPr>
          <p:cNvPr id="1906983933" name="Google Shape;166;p32"/>
          <p:cNvCxnSpPr/>
          <p:nvPr/>
        </p:nvCxnSpPr>
        <p:spPr bwMode="auto">
          <a:xfrm>
            <a:off x="668437" y="1094374"/>
            <a:ext cx="7904099"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82879497" name="Google Shape;133;p28"/>
          <p:cNvSpPr txBox="1"/>
          <p:nvPr>
            <p:ph type="title"/>
          </p:nvPr>
        </p:nvSpPr>
        <p:spPr bwMode="auto">
          <a:xfrm>
            <a:off x="4176150" y="1670492"/>
            <a:ext cx="4342200" cy="17820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defRPr/>
            </a:pPr>
            <a:r>
              <a:rPr lang="it-IT"/>
              <a:t>THE </a:t>
            </a:r>
            <a:br>
              <a:rPr lang="it-IT"/>
            </a:br>
            <a:r>
              <a:rPr lang="it-IT"/>
              <a:t>DATASET</a:t>
            </a:r>
            <a:endParaRPr/>
          </a:p>
        </p:txBody>
      </p:sp>
      <p:sp>
        <p:nvSpPr>
          <p:cNvPr id="701439793" name="Google Shape;134;p28"/>
          <p:cNvSpPr txBox="1"/>
          <p:nvPr>
            <p:ph type="title" idx="2"/>
          </p:nvPr>
        </p:nvSpPr>
        <p:spPr bwMode="auto">
          <a:xfrm>
            <a:off x="464024" y="424696"/>
            <a:ext cx="859800" cy="669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defRPr/>
            </a:pPr>
            <a:r>
              <a:rPr lang="en"/>
              <a:t>01</a:t>
            </a:r>
            <a:endParaRPr/>
          </a:p>
        </p:txBody>
      </p:sp>
      <p:cxnSp>
        <p:nvCxnSpPr>
          <p:cNvPr id="1872948689" name="Google Shape;136;p28"/>
          <p:cNvCxnSpPr/>
          <p:nvPr/>
        </p:nvCxnSpPr>
        <p:spPr bwMode="auto">
          <a:xfrm>
            <a:off x="1217750" y="928581"/>
            <a:ext cx="72918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33555106" name="Google Shape;106;p25"/>
          <p:cNvSpPr txBox="1"/>
          <p:nvPr>
            <p:ph type="title"/>
          </p:nvPr>
        </p:nvSpPr>
        <p:spPr bwMode="auto">
          <a:xfrm>
            <a:off x="720000" y="283099"/>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r>
              <a:rPr lang="it-IT" sz="2500" b="0" i="0" u="none" strike="noStrike" cap="none" spc="0">
                <a:solidFill>
                  <a:schemeClr val="dk1"/>
                </a:solidFill>
                <a:latin typeface="Funnel Display"/>
                <a:ea typeface="Funnel Display"/>
                <a:cs typeface="Funnel Display"/>
              </a:rPr>
              <a:t>DATASET: OntoLAMA / GO-Atomic-SI</a:t>
            </a:r>
            <a:endParaRPr sz="2500"/>
          </a:p>
          <a:p>
            <a:pPr>
              <a:defRPr/>
            </a:pPr>
            <a:endParaRPr/>
          </a:p>
        </p:txBody>
      </p:sp>
      <p:sp>
        <p:nvSpPr>
          <p:cNvPr id="1403087233" name="Google Shape;107;p25"/>
          <p:cNvSpPr txBox="1"/>
          <p:nvPr>
            <p:ph type="body" idx="1"/>
          </p:nvPr>
        </p:nvSpPr>
        <p:spPr bwMode="auto">
          <a:xfrm flipH="0" flipV="0">
            <a:off x="720000" y="863043"/>
            <a:ext cx="7704000" cy="3923268"/>
          </a:xfrm>
          <a:prstGeom prst="rect">
            <a:avLst/>
          </a:prstGeom>
        </p:spPr>
        <p:txBody>
          <a:bodyPr spcFirstLastPara="1" wrap="square" lIns="91424" tIns="91424" rIns="91424" bIns="91424" anchor="t" anchorCtr="0">
            <a:noAutofit/>
          </a:bodyPr>
          <a:lstStyle/>
          <a:p>
            <a:pPr marL="0" lvl="0" indent="0" algn="l" rtl="0">
              <a:lnSpc>
                <a:spcPct val="150000"/>
              </a:lnSpc>
              <a:spcBef>
                <a:spcPts val="0"/>
              </a:spcBef>
              <a:spcAft>
                <a:spcPts val="0"/>
              </a:spcAft>
              <a:buNone/>
              <a:defRPr/>
            </a:pPr>
            <a:r>
              <a:rPr lang="it-IT" sz="1200" b="0" i="0" u="none" strike="noStrike" cap="none" spc="0">
                <a:solidFill>
                  <a:schemeClr val="dk1"/>
                </a:solidFill>
                <a:latin typeface="DM Sans"/>
                <a:ea typeface="DM Sans"/>
                <a:cs typeface="DM Sans"/>
              </a:rPr>
              <a:t>We use one of the datasets suggested </a:t>
            </a:r>
            <a:r>
              <a:rPr lang="it-IT" sz="1200" b="1" i="0" u="none" strike="noStrike" cap="none" spc="0">
                <a:solidFill>
                  <a:schemeClr val="dk1"/>
                </a:solidFill>
                <a:latin typeface="DM Sans"/>
                <a:ea typeface="DM Sans"/>
                <a:cs typeface="DM Sans"/>
              </a:rPr>
              <a:t>from LMAOSI’s paper</a:t>
            </a:r>
            <a:r>
              <a:rPr lang="it-IT" sz="1200" b="0" i="0" u="none" strike="noStrike" cap="none" spc="0">
                <a:solidFill>
                  <a:schemeClr val="dk1"/>
                </a:solidFill>
                <a:latin typeface="DM Sans"/>
                <a:ea typeface="DM Sans"/>
                <a:cs typeface="DM Sans"/>
              </a:rPr>
              <a:t> for following reasons:</a:t>
            </a:r>
            <a:endParaRPr sz="1200" b="0" i="0" u="none" strike="noStrike" cap="none" spc="0">
              <a:solidFill>
                <a:schemeClr val="dk1"/>
              </a:solidFill>
              <a:latin typeface="DM Sans"/>
              <a:ea typeface="DM Sans"/>
              <a:cs typeface="DM Sans"/>
            </a:endParaRPr>
          </a:p>
          <a:p>
            <a:pPr marL="261849" marR="0" lvl="0" indent="-261849" algn="l" rtl="0">
              <a:lnSpc>
                <a:spcPct val="100000"/>
              </a:lnSpc>
              <a:spcBef>
                <a:spcPts val="0"/>
              </a:spcBef>
              <a:spcAft>
                <a:spcPts val="0"/>
              </a:spcAft>
              <a:buClr>
                <a:schemeClr val="dk1"/>
              </a:buClr>
              <a:buSzPts val="1200"/>
              <a:buFont typeface="DM Sans"/>
              <a:buAutoNum type="arabicPeriod" startAt="1"/>
              <a:defRPr/>
            </a:pPr>
            <a:r>
              <a:rPr lang="en-US" sz="1200" b="1" i="0" u="none" strike="noStrike" cap="none" spc="0">
                <a:solidFill>
                  <a:srgbClr val="000000"/>
                </a:solidFill>
                <a:latin typeface="Times New Roman"/>
                <a:ea typeface="Times New Roman"/>
                <a:cs typeface="Times New Roman"/>
              </a:rPr>
              <a:t>OntoLAMA</a:t>
            </a:r>
            <a:r>
              <a:rPr lang="en-US" sz="1200" b="1" i="0" u="none" strike="noStrike" cap="none" spc="0">
                <a:solidFill>
                  <a:srgbClr val="000000"/>
                </a:solidFill>
                <a:latin typeface="Times New Roman"/>
                <a:ea typeface="Times New Roman"/>
                <a:cs typeface="Times New Roman"/>
              </a:rPr>
              <a:t> </a:t>
            </a:r>
            <a:r>
              <a:rPr lang="en-US" sz="1200" b="0" i="0" u="none" strike="noStrike" cap="none" spc="0">
                <a:solidFill>
                  <a:srgbClr val="000000"/>
                </a:solidFill>
                <a:latin typeface="Times New Roman"/>
                <a:ea typeface="Times New Roman"/>
                <a:cs typeface="Times New Roman"/>
              </a:rPr>
              <a:t>is</a:t>
            </a:r>
            <a:r>
              <a:rPr lang="en-US" sz="1200" b="0" i="0" u="none" strike="noStrike" cap="none" spc="0">
                <a:solidFill>
                  <a:srgbClr val="000000"/>
                </a:solidFill>
                <a:latin typeface="Times New Roman"/>
                <a:ea typeface="Times New Roman"/>
                <a:cs typeface="Times New Roman"/>
              </a:rPr>
              <a:t> a set of language model (LM) probing datasets and a prompt-based  probing method for ontology subsumption inference or ontology  completion. The work follows the "LMs-as-KBs" literature but focuses on  conceptualised knowledge extracted from formalised KBs such as the OWL  ontologies. </a:t>
            </a:r>
            <a:br>
              <a:rPr lang="en-US" sz="1200" b="0" i="0" u="none" strike="noStrike" cap="none" spc="0">
                <a:solidFill>
                  <a:srgbClr val="000000"/>
                </a:solidFill>
                <a:latin typeface="Times New Roman"/>
                <a:ea typeface="Times New Roman"/>
                <a:cs typeface="Times New Roman"/>
              </a:rPr>
            </a:br>
            <a:r>
              <a:rPr lang="it-IT" sz="1200" b="0" i="0" u="none" strike="noStrike" cap="none" spc="0">
                <a:solidFill>
                  <a:srgbClr val="000000"/>
                </a:solidFill>
                <a:latin typeface="Times New Roman"/>
                <a:ea typeface="Times New Roman"/>
                <a:cs typeface="Times New Roman"/>
              </a:rPr>
              <a:t>In particular, </a:t>
            </a:r>
            <a:r>
              <a:rPr lang="it-IT" sz="1200" b="1" i="0" u="none" strike="noStrike" cap="none" spc="0">
                <a:solidFill>
                  <a:srgbClr val="000000"/>
                </a:solidFill>
                <a:latin typeface="Times New Roman"/>
                <a:ea typeface="Times New Roman"/>
                <a:cs typeface="Times New Roman"/>
              </a:rPr>
              <a:t>GO-Atomic-SI is the one with the most named concepts</a:t>
            </a:r>
            <a:r>
              <a:rPr lang="it-IT" sz="1200" b="0" i="0" u="none" strike="noStrike" cap="none" spc="0">
                <a:solidFill>
                  <a:srgbClr val="000000"/>
                </a:solidFill>
                <a:latin typeface="Times New Roman"/>
                <a:ea typeface="Times New Roman"/>
                <a:cs typeface="Times New Roman"/>
              </a:rPr>
              <a:t> in it, therefore we consider it as the most complete: </a:t>
            </a:r>
            <a:endParaRPr/>
          </a:p>
          <a:p>
            <a:pPr marL="261849" marR="0" lvl="0" indent="-261849" algn="l" rtl="0">
              <a:lnSpc>
                <a:spcPct val="100000"/>
              </a:lnSpc>
              <a:spcBef>
                <a:spcPts val="0"/>
              </a:spcBef>
              <a:spcAft>
                <a:spcPts val="0"/>
              </a:spcAft>
              <a:buClr>
                <a:schemeClr val="dk1"/>
              </a:buClr>
              <a:buSzPts val="1200"/>
              <a:buFont typeface="DM Sans"/>
              <a:buAutoNum type="arabicPeriod" startAt="1"/>
              <a:defRPr/>
            </a:pPr>
            <a:endParaRPr sz="1200" b="0" i="0" u="none" strike="noStrike" cap="none" spc="0">
              <a:solidFill>
                <a:schemeClr val="dk1"/>
              </a:solidFill>
              <a:latin typeface="DM Sans"/>
              <a:ea typeface="DM Sans"/>
              <a:cs typeface="DM Sans"/>
            </a:endParaRPr>
          </a:p>
          <a:p>
            <a:pPr marL="261849" marR="0" lvl="0" indent="-261849" algn="l" rtl="0">
              <a:lnSpc>
                <a:spcPct val="100000"/>
              </a:lnSpc>
              <a:spcBef>
                <a:spcPts val="0"/>
              </a:spcBef>
              <a:spcAft>
                <a:spcPts val="0"/>
              </a:spcAft>
              <a:buClr>
                <a:schemeClr val="dk1"/>
              </a:buClr>
              <a:buSzPts val="1200"/>
              <a:buFont typeface="DM Sans"/>
              <a:buAutoNum type="arabicPeriod" startAt="1"/>
              <a:defRPr/>
            </a:pPr>
            <a:endParaRPr sz="1200" b="0" i="0" u="none" strike="noStrike" cap="none" spc="0">
              <a:solidFill>
                <a:schemeClr val="dk1"/>
              </a:solidFill>
              <a:latin typeface="DM Sans"/>
              <a:ea typeface="DM Sans"/>
              <a:cs typeface="DM Sans"/>
            </a:endParaRPr>
          </a:p>
          <a:p>
            <a:pPr marL="261849" marR="0" lvl="0" indent="-261849" algn="l" rtl="0">
              <a:lnSpc>
                <a:spcPct val="100000"/>
              </a:lnSpc>
              <a:spcBef>
                <a:spcPts val="0"/>
              </a:spcBef>
              <a:spcAft>
                <a:spcPts val="0"/>
              </a:spcAft>
              <a:buClr>
                <a:schemeClr val="dk1"/>
              </a:buClr>
              <a:buSzPts val="1200"/>
              <a:buFont typeface="DM Sans"/>
              <a:buAutoNum type="arabicPeriod" startAt="1"/>
              <a:defRPr/>
            </a:pPr>
            <a:endParaRPr sz="1200" b="0" i="0" u="none" strike="noStrike" cap="none" spc="0">
              <a:solidFill>
                <a:schemeClr val="dk1"/>
              </a:solidFill>
              <a:latin typeface="DM Sans"/>
              <a:ea typeface="DM Sans"/>
              <a:cs typeface="DM Sans"/>
            </a:endParaRPr>
          </a:p>
          <a:p>
            <a:pPr marL="261849" marR="0" lvl="0" indent="-261849" algn="l" rtl="0">
              <a:lnSpc>
                <a:spcPct val="100000"/>
              </a:lnSpc>
              <a:spcBef>
                <a:spcPts val="0"/>
              </a:spcBef>
              <a:spcAft>
                <a:spcPts val="0"/>
              </a:spcAft>
              <a:buClr>
                <a:schemeClr val="dk1"/>
              </a:buClr>
              <a:buSzPts val="1200"/>
              <a:buFont typeface="DM Sans"/>
              <a:buAutoNum type="arabicPeriod" startAt="1"/>
              <a:defRPr/>
            </a:pPr>
            <a:endParaRPr sz="1200" b="0" i="0" u="none" strike="noStrike" cap="none" spc="0">
              <a:solidFill>
                <a:schemeClr val="dk1"/>
              </a:solidFill>
              <a:latin typeface="DM Sans"/>
              <a:ea typeface="DM Sans"/>
              <a:cs typeface="DM Sans"/>
            </a:endParaRPr>
          </a:p>
          <a:p>
            <a:pPr marL="261849" marR="0" lvl="0" indent="-261849" algn="l" rtl="0">
              <a:lnSpc>
                <a:spcPct val="100000"/>
              </a:lnSpc>
              <a:spcBef>
                <a:spcPts val="0"/>
              </a:spcBef>
              <a:spcAft>
                <a:spcPts val="0"/>
              </a:spcAft>
              <a:buClr>
                <a:schemeClr val="dk1"/>
              </a:buClr>
              <a:buSzPts val="1200"/>
              <a:buFont typeface="DM Sans"/>
              <a:buAutoNum type="arabicPeriod" startAt="1"/>
              <a:defRPr/>
            </a:pPr>
            <a:endParaRPr sz="1200" b="0" i="0" u="none" strike="noStrike" cap="none" spc="0">
              <a:solidFill>
                <a:schemeClr val="dk1"/>
              </a:solidFill>
              <a:latin typeface="DM Sans"/>
              <a:ea typeface="DM Sans"/>
              <a:cs typeface="DM Sans"/>
            </a:endParaRPr>
          </a:p>
          <a:p>
            <a:pPr marL="261849" marR="0" lvl="0" indent="-261849" algn="l" rtl="0">
              <a:lnSpc>
                <a:spcPct val="100000"/>
              </a:lnSpc>
              <a:spcBef>
                <a:spcPts val="0"/>
              </a:spcBef>
              <a:spcAft>
                <a:spcPts val="0"/>
              </a:spcAft>
              <a:buClr>
                <a:schemeClr val="dk1"/>
              </a:buClr>
              <a:buSzPts val="1200"/>
              <a:buFont typeface="DM Sans"/>
              <a:buAutoNum type="arabicPeriod" startAt="1"/>
              <a:defRPr/>
            </a:pPr>
            <a:endParaRPr sz="1200" b="0" i="0" u="none" strike="noStrike" cap="none" spc="0">
              <a:solidFill>
                <a:schemeClr val="dk1"/>
              </a:solidFill>
              <a:latin typeface="DM Sans"/>
              <a:ea typeface="DM Sans"/>
              <a:cs typeface="DM Sans"/>
            </a:endParaRPr>
          </a:p>
          <a:p>
            <a:pPr marL="261849" marR="0" lvl="0" indent="-261849" algn="l" rtl="0">
              <a:lnSpc>
                <a:spcPct val="100000"/>
              </a:lnSpc>
              <a:spcBef>
                <a:spcPts val="0"/>
              </a:spcBef>
              <a:spcAft>
                <a:spcPts val="0"/>
              </a:spcAft>
              <a:buClr>
                <a:schemeClr val="dk1"/>
              </a:buClr>
              <a:buSzPts val="1200"/>
              <a:buFont typeface="DM Sans"/>
              <a:buAutoNum type="arabicPeriod" startAt="1"/>
              <a:defRPr/>
            </a:pPr>
            <a:endParaRPr sz="1200" b="0" i="0" u="none" strike="noStrike" cap="none" spc="0">
              <a:solidFill>
                <a:schemeClr val="dk1"/>
              </a:solidFill>
              <a:latin typeface="DM Sans"/>
              <a:ea typeface="DM Sans"/>
              <a:cs typeface="DM Sans"/>
            </a:endParaRPr>
          </a:p>
          <a:p>
            <a:pPr marL="261849" marR="0" lvl="0" indent="-261849" algn="l" rtl="0">
              <a:lnSpc>
                <a:spcPct val="100000"/>
              </a:lnSpc>
              <a:spcBef>
                <a:spcPts val="0"/>
              </a:spcBef>
              <a:spcAft>
                <a:spcPts val="0"/>
              </a:spcAft>
              <a:buClr>
                <a:schemeClr val="dk1"/>
              </a:buClr>
              <a:buSzPts val="1200"/>
              <a:buFont typeface="DM Sans"/>
              <a:buAutoNum type="arabicPeriod" startAt="1"/>
              <a:defRPr/>
            </a:pPr>
            <a:endParaRPr sz="1200" b="0" i="0" u="none" strike="noStrike" cap="none" spc="0">
              <a:solidFill>
                <a:schemeClr val="dk1"/>
              </a:solidFill>
              <a:latin typeface="DM Sans"/>
              <a:ea typeface="DM Sans"/>
              <a:cs typeface="DM Sans"/>
            </a:endParaRPr>
          </a:p>
          <a:p>
            <a:pPr marL="261849" marR="0" lvl="0" indent="-261849" algn="l" rtl="0">
              <a:lnSpc>
                <a:spcPct val="100000"/>
              </a:lnSpc>
              <a:spcBef>
                <a:spcPts val="0"/>
              </a:spcBef>
              <a:spcAft>
                <a:spcPts val="0"/>
              </a:spcAft>
              <a:buClr>
                <a:schemeClr val="dk1"/>
              </a:buClr>
              <a:buSzPts val="1200"/>
              <a:buFont typeface="DM Sans"/>
              <a:buAutoNum type="arabicPeriod" startAt="1"/>
              <a:defRPr/>
            </a:pPr>
            <a:endParaRPr sz="1200" b="0" i="0" u="none" strike="noStrike" cap="none" spc="0">
              <a:solidFill>
                <a:schemeClr val="dk1"/>
              </a:solidFill>
              <a:latin typeface="DM Sans"/>
              <a:ea typeface="DM Sans"/>
              <a:cs typeface="DM Sans"/>
            </a:endParaRPr>
          </a:p>
          <a:p>
            <a:pPr marL="261849" marR="0" lvl="0" indent="-261849" algn="l" rtl="0">
              <a:lnSpc>
                <a:spcPct val="100000"/>
              </a:lnSpc>
              <a:spcBef>
                <a:spcPts val="0"/>
              </a:spcBef>
              <a:spcAft>
                <a:spcPts val="0"/>
              </a:spcAft>
              <a:buClr>
                <a:schemeClr val="dk1"/>
              </a:buClr>
              <a:buSzPts val="1200"/>
              <a:buFont typeface="DM Sans"/>
              <a:buAutoNum type="arabicPeriod" startAt="1"/>
              <a:defRPr/>
            </a:pPr>
            <a:endParaRPr sz="1200" b="0" i="0" u="none" strike="noStrike" cap="none" spc="0">
              <a:solidFill>
                <a:schemeClr val="dk1"/>
              </a:solidFill>
              <a:latin typeface="DM Sans"/>
              <a:ea typeface="DM Sans"/>
              <a:cs typeface="DM Sans"/>
            </a:endParaRPr>
          </a:p>
          <a:p>
            <a:pPr marL="261849" marR="0" lvl="0" indent="-261849" algn="l" rtl="0">
              <a:lnSpc>
                <a:spcPct val="100000"/>
              </a:lnSpc>
              <a:spcBef>
                <a:spcPts val="0"/>
              </a:spcBef>
              <a:spcAft>
                <a:spcPts val="0"/>
              </a:spcAft>
              <a:buClr>
                <a:schemeClr val="dk1"/>
              </a:buClr>
              <a:buSzPts val="1200"/>
              <a:buFont typeface="DM Sans"/>
              <a:buAutoNum type="arabicPeriod" startAt="1"/>
              <a:defRPr/>
            </a:pPr>
            <a:endParaRPr sz="1200" b="0" i="0" u="none" strike="noStrike" cap="none" spc="0">
              <a:solidFill>
                <a:schemeClr val="dk1"/>
              </a:solidFill>
              <a:latin typeface="DM Sans"/>
              <a:ea typeface="DM Sans"/>
              <a:cs typeface="DM Sans"/>
            </a:endParaRPr>
          </a:p>
          <a:p>
            <a:pPr marL="261849" marR="0" lvl="0" indent="-261849" algn="l" rtl="0">
              <a:lnSpc>
                <a:spcPct val="100000"/>
              </a:lnSpc>
              <a:spcBef>
                <a:spcPts val="0"/>
              </a:spcBef>
              <a:spcAft>
                <a:spcPts val="0"/>
              </a:spcAft>
              <a:buClr>
                <a:schemeClr val="dk1"/>
              </a:buClr>
              <a:buSzPts val="1200"/>
              <a:buFont typeface="DM Sans"/>
              <a:buAutoNum type="arabicPeriod" startAt="1"/>
              <a:defRPr/>
            </a:pPr>
            <a:r>
              <a:rPr lang="it-IT"/>
              <a:t>Having a dataset with already marked positive and negatives exaples (of </a:t>
            </a:r>
            <a:r>
              <a:rPr lang="it-IT">
                <a:solidFill>
                  <a:srgbClr val="FF0000"/>
                </a:solidFill>
              </a:rPr>
              <a:t>concept </a:t>
            </a:r>
            <a:r>
              <a:rPr lang="it-IT"/>
              <a:t>and </a:t>
            </a:r>
            <a:r>
              <a:rPr lang="it-IT">
                <a:solidFill>
                  <a:srgbClr val="FF0000"/>
                </a:solidFill>
              </a:rPr>
              <a:t>sub-concept</a:t>
            </a:r>
            <a:r>
              <a:rPr lang="it-IT"/>
              <a:t>) would certainly </a:t>
            </a:r>
            <a:r>
              <a:rPr lang="it-IT" b="1"/>
              <a:t>help replicate LMAOSI’s experiment</a:t>
            </a:r>
            <a:r>
              <a:rPr lang="it-IT"/>
              <a:t> but also </a:t>
            </a:r>
            <a:r>
              <a:rPr lang="it-IT" b="1"/>
              <a:t>facilitate dataset manipulation done in PRONTO’s paper.</a:t>
            </a:r>
            <a:endParaRPr sz="1200" b="0" i="0" u="none" strike="noStrike" cap="none" spc="0">
              <a:solidFill>
                <a:schemeClr val="dk1"/>
              </a:solidFill>
              <a:latin typeface="DM Sans"/>
              <a:ea typeface="DM Sans"/>
              <a:cs typeface="DM Sans"/>
            </a:endParaRPr>
          </a:p>
          <a:p>
            <a:pPr marL="0" lvl="0" indent="0" algn="l" rtl="0">
              <a:lnSpc>
                <a:spcPct val="150000"/>
              </a:lnSpc>
              <a:spcBef>
                <a:spcPts val="0"/>
              </a:spcBef>
              <a:spcAft>
                <a:spcPts val="0"/>
              </a:spcAft>
              <a:buNone/>
              <a:defRPr/>
            </a:pPr>
            <a:endParaRPr sz="1200" b="0" i="0" u="none" strike="noStrike" cap="none" spc="0">
              <a:solidFill>
                <a:schemeClr val="dk1"/>
              </a:solidFill>
              <a:latin typeface="DM Sans"/>
              <a:ea typeface="DM Sans"/>
              <a:cs typeface="DM Sans"/>
            </a:endParaRPr>
          </a:p>
          <a:p>
            <a:pPr>
              <a:defRPr/>
            </a:pPr>
            <a:endParaRPr/>
          </a:p>
        </p:txBody>
      </p:sp>
      <p:pic>
        <p:nvPicPr>
          <p:cNvPr id="117044406" name=""/>
          <p:cNvPicPr>
            <a:picLocks noChangeAspect="1"/>
          </p:cNvPicPr>
          <p:nvPr/>
        </p:nvPicPr>
        <p:blipFill rotWithShape="1">
          <a:blip r:embed="rId3"/>
          <a:stretch/>
        </p:blipFill>
        <p:spPr bwMode="auto">
          <a:xfrm flipH="0" flipV="0">
            <a:off x="2739299" y="1958783"/>
            <a:ext cx="3857623" cy="217268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69760861" name="Google Shape;125;p27"/>
          <p:cNvSpPr txBox="1"/>
          <p:nvPr>
            <p:ph type="title"/>
          </p:nvPr>
        </p:nvSpPr>
        <p:spPr bwMode="auto">
          <a:xfrm flipH="0" flipV="0">
            <a:off x="188963" y="262446"/>
            <a:ext cx="3148402" cy="592535"/>
          </a:xfrm>
          <a:prstGeom prst="rect">
            <a:avLst/>
          </a:prstGeom>
        </p:spPr>
        <p:txBody>
          <a:bodyPr spcFirstLastPara="1" vertOverflow="overflow" horzOverflow="overflow" vert="horz" wrap="square" lIns="91424" tIns="91424" rIns="91424" bIns="91424" numCol="1" spcCol="0" rtlCol="0" fromWordArt="0" anchor="t" anchorCtr="0" forceAA="0" upright="0" compatLnSpc="0">
            <a:noAutofit/>
          </a:bodyPr>
          <a:lstStyle/>
          <a:p>
            <a:pPr marL="0" lvl="0" indent="0" algn="l" rtl="0">
              <a:spcBef>
                <a:spcPts val="0"/>
              </a:spcBef>
              <a:spcAft>
                <a:spcPts val="0"/>
              </a:spcAft>
              <a:buNone/>
              <a:defRPr/>
            </a:pPr>
            <a:r>
              <a:rPr lang="it-IT" sz="1800"/>
              <a:t>Labels distribution:</a:t>
            </a:r>
            <a:endParaRPr sz="2800"/>
          </a:p>
        </p:txBody>
      </p:sp>
      <p:sp>
        <p:nvSpPr>
          <p:cNvPr id="759950591" name="Google Shape;127;p27"/>
          <p:cNvSpPr txBox="1"/>
          <p:nvPr/>
        </p:nvSpPr>
        <p:spPr bwMode="auto">
          <a:xfrm flipH="0" flipV="0">
            <a:off x="188963" y="4182192"/>
            <a:ext cx="3073954" cy="618407"/>
          </a:xfrm>
          <a:prstGeom prst="rect">
            <a:avLst/>
          </a:prstGeom>
        </p:spPr>
        <p:txBody>
          <a:bodyPr spcFirstLastPara="1" wrap="square" lIns="91424" tIns="91424" rIns="91424" bIns="91424" anchor="t" anchorCtr="0">
            <a:noAutofit/>
          </a:bodyPr>
          <a:lstStyle>
            <a:defPPr marR="0" lvl="0" algn="l" rtl="0">
              <a:lnSpc>
                <a:spcPct val="100000"/>
              </a:lnSpc>
              <a:spcBef>
                <a:spcPts val="0"/>
              </a:spcBef>
              <a:spcAft>
                <a:spcPts val="0"/>
              </a:spcAft>
            </a:defPPr>
            <a:lvl1pPr marL="457200" marR="0" lvl="0" indent="-304799"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defRPr>
            </a:lvl1pPr>
            <a:lvl2pPr marL="914400" marR="0" lvl="1" indent="-304799"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defRPr>
            </a:lvl2pPr>
            <a:lvl3pPr marL="1371600" marR="0" lvl="2" indent="-304799"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defRPr>
            </a:lvl3pPr>
            <a:lvl4pPr marL="1828800" marR="0" lvl="3" indent="-304799"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defRPr>
            </a:lvl4pPr>
            <a:lvl5pPr marL="2286000" marR="0" lvl="4" indent="-304799"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defRPr>
            </a:lvl5pPr>
            <a:lvl6pPr marL="2743200" marR="0" lvl="5" indent="-304799"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defRPr>
            </a:lvl6pPr>
            <a:lvl7pPr marL="3200400" marR="0" lvl="6" indent="-304799"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defRPr>
            </a:lvl7pPr>
            <a:lvl8pPr marL="3657600" marR="0" lvl="7" indent="-304799"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defRPr>
            </a:lvl8pPr>
            <a:lvl9pPr marL="4114800" marR="0" lvl="8" indent="-304799"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defRPr>
            </a:lvl9pPr>
          </a:lstStyle>
          <a:p>
            <a:pPr marL="0" marR="0" lvl="0" indent="0" algn="just" rtl="0">
              <a:lnSpc>
                <a:spcPct val="100000"/>
              </a:lnSpc>
              <a:spcBef>
                <a:spcPts val="0"/>
              </a:spcBef>
              <a:spcAft>
                <a:spcPts val="0"/>
              </a:spcAft>
              <a:buClr>
                <a:srgbClr val="273D40"/>
              </a:buClr>
              <a:buSzPts val="600"/>
              <a:buFont typeface="Arial"/>
              <a:buNone/>
              <a:defRPr/>
            </a:pPr>
            <a:r>
              <a:rPr lang="it-IT" sz="1200" b="0" i="0" u="none" strike="noStrike" cap="none" spc="0">
                <a:solidFill>
                  <a:schemeClr val="dk1"/>
                </a:solidFill>
                <a:latin typeface="DM Sans"/>
                <a:ea typeface="DM Sans"/>
                <a:cs typeface="DM Sans"/>
              </a:rPr>
              <a:t>W</a:t>
            </a:r>
            <a:r>
              <a:rPr lang="en" sz="1200" b="0" i="0" u="none" strike="noStrike" cap="none" spc="0">
                <a:solidFill>
                  <a:schemeClr val="dk1"/>
                </a:solidFill>
                <a:latin typeface="DM Sans"/>
                <a:ea typeface="DM Sans"/>
                <a:cs typeface="DM Sans"/>
              </a:rPr>
              <a:t>e have perfectly e</a:t>
            </a:r>
            <a:r>
              <a:rPr lang="en" sz="1200" b="0" i="0" u="none" strike="noStrike" cap="none" spc="0">
                <a:solidFill>
                  <a:schemeClr val="dk1"/>
                </a:solidFill>
                <a:latin typeface="DM Sans"/>
                <a:ea typeface="DM Sans"/>
                <a:cs typeface="DM Sans"/>
              </a:rPr>
              <a:t>ven distribution</a:t>
            </a:r>
            <a:r>
              <a:rPr lang="it-IT" sz="1200" b="0" i="0" u="none" strike="noStrike" cap="none" spc="0">
                <a:solidFill>
                  <a:schemeClr val="dk1"/>
                </a:solidFill>
                <a:latin typeface="DM Sans"/>
                <a:ea typeface="DM Sans"/>
                <a:cs typeface="DM Sans"/>
              </a:rPr>
              <a:t> </a:t>
            </a:r>
            <a:r>
              <a:rPr lang="it-IT" sz="1200" b="0" i="0" u="none" strike="noStrike" cap="none" spc="0">
                <a:solidFill>
                  <a:schemeClr val="dk1"/>
                </a:solidFill>
                <a:latin typeface="DM Sans"/>
                <a:ea typeface="DM Sans"/>
                <a:cs typeface="DM Sans"/>
              </a:rPr>
              <a:t>of labels</a:t>
            </a:r>
            <a:r>
              <a:rPr lang="en" sz="1200" b="0" i="0" u="none" strike="noStrike" cap="none" spc="0">
                <a:solidFill>
                  <a:schemeClr val="dk1"/>
                </a:solidFill>
                <a:latin typeface="DM Sans"/>
                <a:ea typeface="DM Sans"/>
                <a:cs typeface="DM Sans"/>
              </a:rPr>
              <a:t> </a:t>
            </a:r>
            <a:r>
              <a:rPr lang="it-IT" sz="1200" b="0" i="0" u="none" strike="noStrike" cap="none" spc="0">
                <a:solidFill>
                  <a:schemeClr val="dk1"/>
                </a:solidFill>
                <a:latin typeface="DM Sans"/>
                <a:ea typeface="DM Sans"/>
                <a:cs typeface="DM Sans"/>
              </a:rPr>
              <a:t>(</a:t>
            </a:r>
            <a:r>
              <a:rPr lang="it-IT" sz="1200" b="0" i="0" u="none" strike="noStrike" cap="none" spc="0">
                <a:solidFill>
                  <a:srgbClr val="FF0000"/>
                </a:solidFill>
                <a:latin typeface="DM Sans"/>
                <a:ea typeface="DM Sans"/>
                <a:cs typeface="DM Sans"/>
              </a:rPr>
              <a:t>is-a</a:t>
            </a:r>
            <a:r>
              <a:rPr lang="it-IT" sz="1200" b="0" i="0" u="none" strike="noStrike" cap="none" spc="0">
                <a:solidFill>
                  <a:schemeClr val="dk1"/>
                </a:solidFill>
                <a:latin typeface="DM Sans"/>
                <a:ea typeface="DM Sans"/>
                <a:cs typeface="DM Sans"/>
              </a:rPr>
              <a:t> and </a:t>
            </a:r>
            <a:r>
              <a:rPr lang="it-IT" sz="1200" b="0" i="0" u="none" strike="noStrike" cap="none" spc="0">
                <a:solidFill>
                  <a:srgbClr val="FF0000"/>
                </a:solidFill>
                <a:latin typeface="DM Sans"/>
                <a:ea typeface="DM Sans"/>
                <a:cs typeface="DM Sans"/>
              </a:rPr>
              <a:t>not-a</a:t>
            </a:r>
            <a:r>
              <a:rPr lang="it-IT" sz="1200" b="0" i="0" u="none" strike="noStrike" cap="none" spc="0">
                <a:solidFill>
                  <a:schemeClr val="dk1"/>
                </a:solidFill>
                <a:latin typeface="DM Sans"/>
                <a:ea typeface="DM Sans"/>
                <a:cs typeface="DM Sans"/>
              </a:rPr>
              <a:t>)</a:t>
            </a:r>
            <a:endParaRPr lang="it-IT" sz="1200" b="0" i="0" u="none" strike="noStrike" cap="none" spc="0">
              <a:solidFill>
                <a:schemeClr val="dk1"/>
              </a:solidFill>
              <a:latin typeface="DM Sans"/>
              <a:ea typeface="DM Sans"/>
              <a:cs typeface="DM Sans"/>
            </a:endParaRPr>
          </a:p>
          <a:p>
            <a:pPr marL="0" marR="0" lvl="0" indent="0" algn="l" rtl="0">
              <a:lnSpc>
                <a:spcPct val="100000"/>
              </a:lnSpc>
              <a:spcBef>
                <a:spcPts val="0"/>
              </a:spcBef>
              <a:spcAft>
                <a:spcPts val="0"/>
              </a:spcAft>
              <a:buClr>
                <a:srgbClr val="273D40"/>
              </a:buClr>
              <a:buSzPts val="600"/>
              <a:buFont typeface="Arial"/>
              <a:buNone/>
              <a:defRPr/>
            </a:pPr>
            <a:endParaRPr lang="it-IT" sz="1200" b="0" i="0" u="none" strike="noStrike" cap="none" spc="0">
              <a:solidFill>
                <a:schemeClr val="dk1"/>
              </a:solidFill>
              <a:latin typeface="DM Sans"/>
              <a:ea typeface="DM Sans"/>
              <a:cs typeface="DM Sans"/>
            </a:endParaRPr>
          </a:p>
          <a:p>
            <a:pPr marL="217793" marR="0" lvl="0" indent="-217793" algn="l" rtl="0">
              <a:lnSpc>
                <a:spcPct val="100000"/>
              </a:lnSpc>
              <a:spcBef>
                <a:spcPts val="0"/>
              </a:spcBef>
              <a:spcAft>
                <a:spcPts val="0"/>
              </a:spcAft>
              <a:buClr>
                <a:srgbClr val="273D40"/>
              </a:buClr>
              <a:buSzPts val="600"/>
              <a:buFont typeface="Arial"/>
              <a:buAutoNum type="arabicPeriod"/>
              <a:defRPr/>
            </a:pPr>
            <a:endParaRPr lang="it-IT" sz="1200" b="0" i="0" u="none" strike="noStrike" cap="none" spc="0">
              <a:solidFill>
                <a:schemeClr val="dk1"/>
              </a:solidFill>
              <a:latin typeface="DM Sans"/>
              <a:ea typeface="DM Sans"/>
              <a:cs typeface="DM Sans"/>
            </a:endParaRPr>
          </a:p>
          <a:p>
            <a:pPr marL="0" marR="0" lvl="0" indent="0" algn="l" rtl="0">
              <a:lnSpc>
                <a:spcPct val="100000"/>
              </a:lnSpc>
              <a:spcBef>
                <a:spcPts val="0"/>
              </a:spcBef>
              <a:spcAft>
                <a:spcPts val="0"/>
              </a:spcAft>
              <a:buClr>
                <a:srgbClr val="273D40"/>
              </a:buClr>
              <a:buSzPts val="600"/>
              <a:buFont typeface="Arial"/>
              <a:buNone/>
              <a:defRPr/>
            </a:pPr>
            <a:endParaRPr lang="en" sz="1200" b="0" i="0" u="none" strike="noStrike" cap="none" spc="0">
              <a:solidFill>
                <a:schemeClr val="dk1"/>
              </a:solidFill>
              <a:latin typeface="DM Sans"/>
              <a:cs typeface="DM Sans"/>
            </a:endParaRPr>
          </a:p>
          <a:p>
            <a:pPr marL="0" marR="0" lvl="0" indent="0" algn="l" rtl="0">
              <a:lnSpc>
                <a:spcPct val="100000"/>
              </a:lnSpc>
              <a:spcBef>
                <a:spcPts val="0"/>
              </a:spcBef>
              <a:spcAft>
                <a:spcPts val="0"/>
              </a:spcAft>
              <a:buClr>
                <a:srgbClr val="273D40"/>
              </a:buClr>
              <a:buSzPts val="600"/>
              <a:buFont typeface="Arial"/>
              <a:buNone/>
              <a:defRPr/>
            </a:pPr>
            <a:endParaRPr lang="en" sz="1200" b="0" i="0" u="none" strike="noStrike" cap="none" spc="0">
              <a:solidFill>
                <a:schemeClr val="dk1"/>
              </a:solidFill>
              <a:latin typeface="DM Sans"/>
              <a:cs typeface="DM Sans"/>
            </a:endParaRPr>
          </a:p>
        </p:txBody>
      </p:sp>
      <p:pic>
        <p:nvPicPr>
          <p:cNvPr id="1041895653" name=""/>
          <p:cNvPicPr>
            <a:picLocks noChangeAspect="1"/>
          </p:cNvPicPr>
          <p:nvPr/>
        </p:nvPicPr>
        <p:blipFill rotWithShape="1">
          <a:blip r:embed="rId3"/>
          <a:stretch/>
        </p:blipFill>
        <p:spPr bwMode="auto">
          <a:xfrm flipH="0" flipV="0">
            <a:off x="238150" y="664108"/>
            <a:ext cx="3024766" cy="1081703"/>
          </a:xfrm>
          <a:prstGeom prst="rect">
            <a:avLst/>
          </a:prstGeom>
        </p:spPr>
      </p:pic>
      <p:pic>
        <p:nvPicPr>
          <p:cNvPr id="1113631585" name=""/>
          <p:cNvPicPr>
            <a:picLocks noChangeAspect="1"/>
          </p:cNvPicPr>
          <p:nvPr/>
        </p:nvPicPr>
        <p:blipFill rotWithShape="1">
          <a:blip r:embed="rId4"/>
          <a:stretch/>
        </p:blipFill>
        <p:spPr bwMode="auto">
          <a:xfrm flipH="0" flipV="0">
            <a:off x="238150" y="1891391"/>
            <a:ext cx="3043969" cy="1088571"/>
          </a:xfrm>
          <a:prstGeom prst="rect">
            <a:avLst/>
          </a:prstGeom>
        </p:spPr>
      </p:pic>
      <p:pic>
        <p:nvPicPr>
          <p:cNvPr id="1532894745" name=""/>
          <p:cNvPicPr>
            <a:picLocks noChangeAspect="1"/>
          </p:cNvPicPr>
          <p:nvPr/>
        </p:nvPicPr>
        <p:blipFill rotWithShape="1">
          <a:blip r:embed="rId5"/>
          <a:stretch/>
        </p:blipFill>
        <p:spPr bwMode="auto">
          <a:xfrm flipH="0" flipV="0">
            <a:off x="256998" y="3102427"/>
            <a:ext cx="3005919" cy="1074963"/>
          </a:xfrm>
          <a:prstGeom prst="rect">
            <a:avLst/>
          </a:prstGeom>
        </p:spPr>
      </p:pic>
      <p:cxnSp>
        <p:nvCxnSpPr>
          <p:cNvPr id="1488101039" name=""/>
          <p:cNvCxnSpPr/>
          <p:nvPr/>
        </p:nvCxnSpPr>
        <p:spPr bwMode="auto">
          <a:xfrm flipH="0" flipV="0">
            <a:off x="3636999" y="333374"/>
            <a:ext cx="0" cy="4492624"/>
          </a:xfrm>
          <a:prstGeom prst="line">
            <a:avLst/>
          </a:prstGeom>
        </p:spPr>
        <p:style>
          <a:lnRef idx="1">
            <a:schemeClr val="accent1">
              <a:shade val="50000"/>
            </a:schemeClr>
          </a:lnRef>
          <a:fillRef idx="0">
            <a:schemeClr val="accent1"/>
          </a:fillRef>
          <a:effectRef idx="0">
            <a:schemeClr val="accent1"/>
          </a:effectRef>
          <a:fontRef idx="minor">
            <a:schemeClr val="tx1"/>
          </a:fontRef>
        </p:style>
      </p:cxnSp>
      <p:pic>
        <p:nvPicPr>
          <p:cNvPr id="308444685" name=""/>
          <p:cNvPicPr>
            <a:picLocks noChangeAspect="1"/>
          </p:cNvPicPr>
          <p:nvPr/>
        </p:nvPicPr>
        <p:blipFill rotWithShape="1">
          <a:blip r:embed="rId6"/>
          <a:stretch/>
        </p:blipFill>
        <p:spPr bwMode="auto">
          <a:xfrm flipH="0" flipV="0">
            <a:off x="3760872" y="955589"/>
            <a:ext cx="5151979" cy="2815317"/>
          </a:xfrm>
          <a:prstGeom prst="rect">
            <a:avLst/>
          </a:prstGeom>
        </p:spPr>
      </p:pic>
      <p:sp>
        <p:nvSpPr>
          <p:cNvPr id="447650903" name=""/>
          <p:cNvSpPr txBox="1"/>
          <p:nvPr/>
        </p:nvSpPr>
        <p:spPr bwMode="auto">
          <a:xfrm rot="0" flipH="0" flipV="0">
            <a:off x="3875124" y="3976366"/>
            <a:ext cx="4971649" cy="64044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marL="0" marR="0" indent="0" algn="ctr">
              <a:lnSpc>
                <a:spcPct val="100000"/>
              </a:lnSpc>
              <a:spcBef>
                <a:spcPts val="0"/>
              </a:spcBef>
              <a:spcAft>
                <a:spcPts val="0"/>
              </a:spcAft>
              <a:defRPr/>
            </a:pPr>
            <a:r>
              <a:rPr lang="it-IT" sz="1200" b="0" i="0" u="none" strike="noStrike" cap="none" spc="0">
                <a:solidFill>
                  <a:srgbClr val="000000"/>
                </a:solidFill>
                <a:latin typeface="Times New Roman"/>
                <a:ea typeface="Times New Roman"/>
                <a:cs typeface="Times New Roman"/>
              </a:rPr>
              <a:t>H</a:t>
            </a:r>
            <a:r>
              <a:rPr lang="en-US" sz="1200" b="0" i="0" u="none" strike="noStrike" cap="none" spc="0">
                <a:solidFill>
                  <a:srgbClr val="000000"/>
                </a:solidFill>
                <a:latin typeface="Times New Roman"/>
                <a:ea typeface="Times New Roman"/>
                <a:cs typeface="Times New Roman"/>
              </a:rPr>
              <a:t>ere w</a:t>
            </a:r>
            <a:r>
              <a:rPr lang="en-US" sz="1200" b="0" i="0" u="none" strike="noStrike" cap="none" spc="0">
                <a:solidFill>
                  <a:srgbClr val="000000"/>
                </a:solidFill>
                <a:latin typeface="Times New Roman"/>
                <a:ea typeface="Times New Roman"/>
                <a:cs typeface="Times New Roman"/>
              </a:rPr>
              <a:t>e can clearly see </a:t>
            </a:r>
            <a:r>
              <a:rPr lang="en-US" sz="1200" b="0" i="0" u="none" strike="noStrike" cap="none" spc="0">
                <a:solidFill>
                  <a:srgbClr val="000000"/>
                </a:solidFill>
                <a:latin typeface="Times New Roman"/>
                <a:ea typeface="Times New Roman"/>
                <a:cs typeface="Times New Roman"/>
              </a:rPr>
              <a:t>that </a:t>
            </a:r>
            <a:r>
              <a:rPr lang="en-US" sz="1200" b="0" i="0" u="none" strike="noStrike" cap="none" spc="0">
                <a:solidFill>
                  <a:srgbClr val="000000"/>
                </a:solidFill>
                <a:latin typeface="Times New Roman"/>
                <a:ea typeface="Times New Roman"/>
                <a:cs typeface="Times New Roman"/>
              </a:rPr>
              <a:t>most of tokens are made of 5 or less words (separated by space)</a:t>
            </a:r>
            <a:r>
              <a:rPr lang="en-US" sz="1200" b="0" i="0" u="none" strike="noStrike" cap="none" spc="0">
                <a:solidFill>
                  <a:srgbClr val="000000"/>
                </a:solidFill>
                <a:latin typeface="Times New Roman"/>
                <a:ea typeface="Times New Roman"/>
                <a:cs typeface="Times New Roman"/>
              </a:rPr>
              <a:t>, wich is a lot, but considering we are using a dataset full of medical terms it seems correct</a:t>
            </a:r>
            <a:endParaRPr/>
          </a:p>
        </p:txBody>
      </p:sp>
      <p:sp>
        <p:nvSpPr>
          <p:cNvPr id="1164665526" name="Google Shape;125;p27"/>
          <p:cNvSpPr txBox="1"/>
          <p:nvPr/>
        </p:nvSpPr>
        <p:spPr bwMode="auto">
          <a:xfrm flipH="0" flipV="0">
            <a:off x="3875124" y="262446"/>
            <a:ext cx="3148401" cy="592534"/>
          </a:xfrm>
          <a:prstGeom prst="rect">
            <a:avLst/>
          </a:prstGeom>
        </p:spPr>
        <p:txBody>
          <a:bodyPr spcFirstLastPara="1" vertOverflow="overflow" horzOverflow="overflow" vert="horz" wrap="square" lIns="91424" tIns="91424" rIns="91424" bIns="91424" numCol="1" spcCol="0" rtlCol="0" fromWordArt="0" anchor="t" anchorCtr="0" forceAA="0" upright="0" compatLnSpc="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800"/>
              <a:buFont typeface="Funnel Display"/>
              <a:buNone/>
              <a:defRPr sz="5000" b="0" i="0" u="none" strike="noStrike" cap="none">
                <a:solidFill>
                  <a:schemeClr val="dk1"/>
                </a:solidFill>
                <a:latin typeface="Funnel Display"/>
                <a:ea typeface="Funnel Display"/>
                <a:cs typeface="Funnel Display"/>
              </a:defRPr>
            </a:lvl1pPr>
            <a:lvl2pPr marR="0" lvl="1" algn="l" rtl="0">
              <a:lnSpc>
                <a:spcPct val="100000"/>
              </a:lnSpc>
              <a:spcBef>
                <a:spcPts val="0"/>
              </a:spcBef>
              <a:spcAft>
                <a:spcPts val="0"/>
              </a:spcAft>
              <a:buClr>
                <a:schemeClr val="dk1"/>
              </a:buClr>
              <a:buSzPts val="4800"/>
              <a:buFont typeface="Funnel Display"/>
              <a:buNone/>
              <a:defRPr sz="4800" b="0" i="0" u="none" strike="noStrike" cap="none">
                <a:solidFill>
                  <a:schemeClr val="dk1"/>
                </a:solidFill>
                <a:latin typeface="Funnel Display"/>
                <a:ea typeface="Funnel Display"/>
                <a:cs typeface="Funnel Display"/>
              </a:defRPr>
            </a:lvl2pPr>
            <a:lvl3pPr marR="0" lvl="2" algn="l" rtl="0">
              <a:lnSpc>
                <a:spcPct val="100000"/>
              </a:lnSpc>
              <a:spcBef>
                <a:spcPts val="0"/>
              </a:spcBef>
              <a:spcAft>
                <a:spcPts val="0"/>
              </a:spcAft>
              <a:buClr>
                <a:schemeClr val="dk1"/>
              </a:buClr>
              <a:buSzPts val="4800"/>
              <a:buFont typeface="Funnel Display"/>
              <a:buNone/>
              <a:defRPr sz="4800" b="0" i="0" u="none" strike="noStrike" cap="none">
                <a:solidFill>
                  <a:schemeClr val="dk1"/>
                </a:solidFill>
                <a:latin typeface="Funnel Display"/>
                <a:ea typeface="Funnel Display"/>
                <a:cs typeface="Funnel Display"/>
              </a:defRPr>
            </a:lvl3pPr>
            <a:lvl4pPr marR="0" lvl="3" algn="l" rtl="0">
              <a:lnSpc>
                <a:spcPct val="100000"/>
              </a:lnSpc>
              <a:spcBef>
                <a:spcPts val="0"/>
              </a:spcBef>
              <a:spcAft>
                <a:spcPts val="0"/>
              </a:spcAft>
              <a:buClr>
                <a:schemeClr val="dk1"/>
              </a:buClr>
              <a:buSzPts val="4800"/>
              <a:buFont typeface="Funnel Display"/>
              <a:buNone/>
              <a:defRPr sz="4800" b="0" i="0" u="none" strike="noStrike" cap="none">
                <a:solidFill>
                  <a:schemeClr val="dk1"/>
                </a:solidFill>
                <a:latin typeface="Funnel Display"/>
                <a:ea typeface="Funnel Display"/>
                <a:cs typeface="Funnel Display"/>
              </a:defRPr>
            </a:lvl4pPr>
            <a:lvl5pPr marR="0" lvl="4" algn="l" rtl="0">
              <a:lnSpc>
                <a:spcPct val="100000"/>
              </a:lnSpc>
              <a:spcBef>
                <a:spcPts val="0"/>
              </a:spcBef>
              <a:spcAft>
                <a:spcPts val="0"/>
              </a:spcAft>
              <a:buClr>
                <a:schemeClr val="dk1"/>
              </a:buClr>
              <a:buSzPts val="4800"/>
              <a:buFont typeface="Funnel Display"/>
              <a:buNone/>
              <a:defRPr sz="4800" b="0" i="0" u="none" strike="noStrike" cap="none">
                <a:solidFill>
                  <a:schemeClr val="dk1"/>
                </a:solidFill>
                <a:latin typeface="Funnel Display"/>
                <a:ea typeface="Funnel Display"/>
                <a:cs typeface="Funnel Display"/>
              </a:defRPr>
            </a:lvl5pPr>
            <a:lvl6pPr marR="0" lvl="5" algn="l" rtl="0">
              <a:lnSpc>
                <a:spcPct val="100000"/>
              </a:lnSpc>
              <a:spcBef>
                <a:spcPts val="0"/>
              </a:spcBef>
              <a:spcAft>
                <a:spcPts val="0"/>
              </a:spcAft>
              <a:buClr>
                <a:schemeClr val="dk1"/>
              </a:buClr>
              <a:buSzPts val="4800"/>
              <a:buFont typeface="Funnel Display"/>
              <a:buNone/>
              <a:defRPr sz="4800" b="0" i="0" u="none" strike="noStrike" cap="none">
                <a:solidFill>
                  <a:schemeClr val="dk1"/>
                </a:solidFill>
                <a:latin typeface="Funnel Display"/>
                <a:ea typeface="Funnel Display"/>
                <a:cs typeface="Funnel Display"/>
              </a:defRPr>
            </a:lvl6pPr>
            <a:lvl7pPr marR="0" lvl="6" algn="l" rtl="0">
              <a:lnSpc>
                <a:spcPct val="100000"/>
              </a:lnSpc>
              <a:spcBef>
                <a:spcPts val="0"/>
              </a:spcBef>
              <a:spcAft>
                <a:spcPts val="0"/>
              </a:spcAft>
              <a:buClr>
                <a:schemeClr val="dk1"/>
              </a:buClr>
              <a:buSzPts val="4800"/>
              <a:buFont typeface="Funnel Display"/>
              <a:buNone/>
              <a:defRPr sz="4800" b="0" i="0" u="none" strike="noStrike" cap="none">
                <a:solidFill>
                  <a:schemeClr val="dk1"/>
                </a:solidFill>
                <a:latin typeface="Funnel Display"/>
                <a:ea typeface="Funnel Display"/>
                <a:cs typeface="Funnel Display"/>
              </a:defRPr>
            </a:lvl7pPr>
            <a:lvl8pPr marR="0" lvl="7" algn="l" rtl="0">
              <a:lnSpc>
                <a:spcPct val="100000"/>
              </a:lnSpc>
              <a:spcBef>
                <a:spcPts val="0"/>
              </a:spcBef>
              <a:spcAft>
                <a:spcPts val="0"/>
              </a:spcAft>
              <a:buClr>
                <a:schemeClr val="dk1"/>
              </a:buClr>
              <a:buSzPts val="4800"/>
              <a:buFont typeface="Funnel Display"/>
              <a:buNone/>
              <a:defRPr sz="4800" b="0" i="0" u="none" strike="noStrike" cap="none">
                <a:solidFill>
                  <a:schemeClr val="dk1"/>
                </a:solidFill>
                <a:latin typeface="Funnel Display"/>
                <a:ea typeface="Funnel Display"/>
                <a:cs typeface="Funnel Display"/>
              </a:defRPr>
            </a:lvl8pPr>
            <a:lvl9pPr marR="0" lvl="8" algn="l" rtl="0">
              <a:lnSpc>
                <a:spcPct val="100000"/>
              </a:lnSpc>
              <a:spcBef>
                <a:spcPts val="0"/>
              </a:spcBef>
              <a:spcAft>
                <a:spcPts val="0"/>
              </a:spcAft>
              <a:buClr>
                <a:schemeClr val="dk1"/>
              </a:buClr>
              <a:buSzPts val="4800"/>
              <a:buFont typeface="Funnel Display"/>
              <a:buNone/>
              <a:defRPr sz="4800" b="0" i="0" u="none" strike="noStrike" cap="none">
                <a:solidFill>
                  <a:schemeClr val="dk1"/>
                </a:solidFill>
                <a:latin typeface="Funnel Display"/>
                <a:ea typeface="Funnel Display"/>
                <a:cs typeface="Funnel Display"/>
              </a:defRPr>
            </a:lvl9pPr>
          </a:lstStyle>
          <a:p>
            <a:pPr marL="0" lvl="0" indent="0" algn="l" rtl="0">
              <a:spcBef>
                <a:spcPts val="0"/>
              </a:spcBef>
              <a:spcAft>
                <a:spcPts val="0"/>
              </a:spcAft>
              <a:buNone/>
              <a:defRPr/>
            </a:pPr>
            <a:r>
              <a:rPr lang="it-IT" sz="1800"/>
              <a:t>Token lenghts:</a:t>
            </a:r>
            <a:endParaRPr sz="2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39386225" name="Google Shape;106;p25"/>
          <p:cNvSpPr txBox="1"/>
          <p:nvPr>
            <p:ph type="title"/>
          </p:nvPr>
        </p:nvSpPr>
        <p:spPr bwMode="auto">
          <a:xfrm>
            <a:off x="720000" y="283099"/>
            <a:ext cx="7704000" cy="572699"/>
          </a:xfrm>
          <a:prstGeom prst="rect">
            <a:avLst/>
          </a:prstGeom>
        </p:spPr>
        <p:txBody>
          <a:bodyPr spcFirstLastPara="1" wrap="square" lIns="91424" tIns="91424" rIns="91424" bIns="91424" anchor="t" anchorCtr="0">
            <a:noAutofit/>
          </a:bodyPr>
          <a:lstStyle/>
          <a:p>
            <a:pPr marL="0" lvl="0" indent="0" algn="l" rtl="0">
              <a:spcBef>
                <a:spcPts val="0"/>
              </a:spcBef>
              <a:spcAft>
                <a:spcPts val="0"/>
              </a:spcAft>
              <a:buNone/>
              <a:defRPr/>
            </a:pPr>
            <a:r>
              <a:rPr lang="it-IT" sz="2500" b="0" i="0" u="none" strike="noStrike" cap="none" spc="0">
                <a:solidFill>
                  <a:schemeClr val="dk1"/>
                </a:solidFill>
                <a:latin typeface="Funnel Display"/>
                <a:ea typeface="Funnel Display"/>
                <a:cs typeface="Funnel Display"/>
              </a:rPr>
              <a:t>DATASET MANIPULATION: Creating Prompts</a:t>
            </a:r>
            <a:endParaRPr sz="2500"/>
          </a:p>
        </p:txBody>
      </p:sp>
      <p:sp>
        <p:nvSpPr>
          <p:cNvPr id="721253258" name="Google Shape;107;p25"/>
          <p:cNvSpPr txBox="1"/>
          <p:nvPr>
            <p:ph type="body" idx="1"/>
          </p:nvPr>
        </p:nvSpPr>
        <p:spPr bwMode="auto">
          <a:xfrm flipH="0" flipV="0">
            <a:off x="720000" y="863043"/>
            <a:ext cx="7704000" cy="1573335"/>
          </a:xfrm>
          <a:prstGeom prst="rect">
            <a:avLst/>
          </a:prstGeom>
        </p:spPr>
        <p:txBody>
          <a:bodyPr spcFirstLastPara="1" wrap="square" lIns="91424" tIns="91424" rIns="91424" bIns="91424" anchor="t" anchorCtr="0">
            <a:noAutofit/>
          </a:bodyPr>
          <a:lstStyle/>
          <a:p>
            <a:pPr marL="0" marR="0" lvl="0" indent="0" algn="l" rtl="0">
              <a:lnSpc>
                <a:spcPct val="200000"/>
              </a:lnSpc>
              <a:spcBef>
                <a:spcPts val="0"/>
              </a:spcBef>
              <a:spcAft>
                <a:spcPts val="0"/>
              </a:spcAft>
              <a:buClr>
                <a:schemeClr val="dk1"/>
              </a:buClr>
              <a:buSzPts val="1200"/>
              <a:buFont typeface="DM Sans"/>
              <a:buNone/>
              <a:defRPr/>
            </a:pPr>
            <a:r>
              <a:rPr lang="it-IT"/>
              <a:t>Since we are trying to replicate results from both papers and those 2 papers use a different prompt style, instead of using multiple prompts from a single paper we decide to use </a:t>
            </a:r>
            <a:r>
              <a:rPr lang="it-IT" b="1"/>
              <a:t>the prompt </a:t>
            </a:r>
            <a:r>
              <a:rPr lang="it-IT" sz="1200" b="1" i="0" u="none" strike="noStrike" cap="none" spc="0">
                <a:solidFill>
                  <a:schemeClr val="dk1"/>
                </a:solidFill>
                <a:latin typeface="DM Sans"/>
                <a:ea typeface="DM Sans"/>
                <a:cs typeface="DM Sans"/>
              </a:rPr>
              <a:t>which gives better results</a:t>
            </a:r>
            <a:r>
              <a:rPr lang="it-IT" b="1"/>
              <a:t> from each paper</a:t>
            </a:r>
            <a:r>
              <a:rPr lang="it-IT"/>
              <a:t>, having a total of 2 prompts.</a:t>
            </a:r>
            <a:endParaRPr lang="it-IT"/>
          </a:p>
          <a:p>
            <a:pPr marL="0" marR="0" lvl="0" indent="0" algn="l" rtl="0">
              <a:lnSpc>
                <a:spcPct val="100000"/>
              </a:lnSpc>
              <a:spcBef>
                <a:spcPts val="0"/>
              </a:spcBef>
              <a:spcAft>
                <a:spcPts val="0"/>
              </a:spcAft>
              <a:buClr>
                <a:schemeClr val="dk1"/>
              </a:buClr>
              <a:buSzPts val="1200"/>
              <a:buFont typeface="DM Sans"/>
              <a:buNone/>
              <a:defRPr/>
            </a:pPr>
            <a:endParaRPr lang="it-IT" sz="500"/>
          </a:p>
          <a:p>
            <a:pPr marL="0" marR="0" lvl="0" indent="0" algn="l" rtl="0">
              <a:lnSpc>
                <a:spcPct val="200000"/>
              </a:lnSpc>
              <a:spcBef>
                <a:spcPts val="0"/>
              </a:spcBef>
              <a:spcAft>
                <a:spcPts val="0"/>
              </a:spcAft>
              <a:buClr>
                <a:schemeClr val="dk1"/>
              </a:buClr>
              <a:buSzPts val="1200"/>
              <a:buFont typeface="DM Sans"/>
              <a:buNone/>
              <a:defRPr/>
            </a:pPr>
            <a:r>
              <a:rPr lang="it-IT"/>
              <a:t>Where:</a:t>
            </a:r>
            <a:endParaRPr lang="it-IT"/>
          </a:p>
          <a:p>
            <a:pPr lvl="0" algn="l" rtl="0">
              <a:lnSpc>
                <a:spcPct val="200000"/>
              </a:lnSpc>
              <a:spcBef>
                <a:spcPts val="0"/>
              </a:spcBef>
              <a:spcAft>
                <a:spcPts val="0"/>
              </a:spcAft>
              <a:buClr>
                <a:schemeClr val="dk1"/>
              </a:buClr>
              <a:buSzPts val="1200"/>
              <a:buFont typeface="Arial"/>
              <a:buChar char="–"/>
              <a:defRPr/>
            </a:pPr>
            <a:r>
              <a:rPr lang="it-IT"/>
              <a:t>&lt;C&gt; is sub-concept</a:t>
            </a:r>
            <a:endParaRPr lang="it-IT"/>
          </a:p>
          <a:p>
            <a:pPr lvl="0" algn="l" rtl="0">
              <a:lnSpc>
                <a:spcPct val="200000"/>
              </a:lnSpc>
              <a:spcBef>
                <a:spcPts val="0"/>
              </a:spcBef>
              <a:spcAft>
                <a:spcPts val="0"/>
              </a:spcAft>
              <a:buClr>
                <a:schemeClr val="dk1"/>
              </a:buClr>
              <a:buSzPts val="1200"/>
              <a:buFont typeface="Arial"/>
              <a:buChar char="–"/>
              <a:defRPr/>
            </a:pPr>
            <a:r>
              <a:rPr lang="it-IT"/>
              <a:t>&lt;D&gt; is super-concept</a:t>
            </a:r>
            <a:endParaRPr lang="it-IT"/>
          </a:p>
          <a:p>
            <a:pPr>
              <a:defRPr/>
            </a:pPr>
            <a:endParaRPr/>
          </a:p>
        </p:txBody>
      </p:sp>
      <p:pic>
        <p:nvPicPr>
          <p:cNvPr id="557696712" name=""/>
          <p:cNvPicPr>
            <a:picLocks noChangeAspect="1"/>
          </p:cNvPicPr>
          <p:nvPr/>
        </p:nvPicPr>
        <p:blipFill rotWithShape="1">
          <a:blip r:embed="rId3"/>
          <a:stretch/>
        </p:blipFill>
        <p:spPr bwMode="auto">
          <a:xfrm flipH="0" flipV="0">
            <a:off x="1121833" y="3425031"/>
            <a:ext cx="2460624" cy="2460624"/>
          </a:xfrm>
          <a:prstGeom prst="rect">
            <a:avLst/>
          </a:prstGeom>
        </p:spPr>
      </p:pic>
      <p:pic>
        <p:nvPicPr>
          <p:cNvPr id="798890483" name=""/>
          <p:cNvPicPr>
            <a:picLocks noChangeAspect="1"/>
          </p:cNvPicPr>
          <p:nvPr/>
        </p:nvPicPr>
        <p:blipFill rotWithShape="1">
          <a:blip r:embed="rId3"/>
          <a:stretch/>
        </p:blipFill>
        <p:spPr bwMode="auto">
          <a:xfrm flipH="0" flipV="0">
            <a:off x="5200649" y="3425031"/>
            <a:ext cx="2460624" cy="2460624"/>
          </a:xfrm>
          <a:prstGeom prst="rect">
            <a:avLst/>
          </a:prstGeom>
        </p:spPr>
      </p:pic>
      <p:sp>
        <p:nvSpPr>
          <p:cNvPr id="1201053427" name=""/>
          <p:cNvSpPr txBox="1"/>
          <p:nvPr/>
        </p:nvSpPr>
        <p:spPr bwMode="auto">
          <a:xfrm rot="0" flipH="0" flipV="0">
            <a:off x="953718" y="2436378"/>
            <a:ext cx="3050133" cy="3965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lang="it-IT" sz="2000" b="1"/>
              <a:t>PRONTO’S Prompt:</a:t>
            </a:r>
            <a:endParaRPr sz="1800"/>
          </a:p>
        </p:txBody>
      </p:sp>
      <p:sp>
        <p:nvSpPr>
          <p:cNvPr id="1484765323" name=""/>
          <p:cNvSpPr/>
          <p:nvPr/>
        </p:nvSpPr>
        <p:spPr bwMode="auto">
          <a:xfrm flipH="0" flipV="0">
            <a:off x="1038255" y="2928937"/>
            <a:ext cx="2882860" cy="366119"/>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lgn="ctr">
              <a:defRPr/>
            </a:pPr>
            <a:r>
              <a:rPr sz="1800" b="0" i="0" u="none">
                <a:solidFill>
                  <a:schemeClr val="accent2">
                    <a:lumMod val="50000"/>
                  </a:schemeClr>
                </a:solidFill>
                <a:latin typeface="Droid Sans Mono"/>
                <a:ea typeface="Droid Sans Mono"/>
                <a:cs typeface="Droid Sans Mono"/>
              </a:rPr>
              <a:t>&lt;C&gt; is a </a:t>
            </a:r>
            <a:r>
              <a:rPr lang="it-IT" sz="1800" b="0" i="0" u="none">
                <a:solidFill>
                  <a:schemeClr val="accent2">
                    <a:lumMod val="50000"/>
                  </a:schemeClr>
                </a:solidFill>
                <a:latin typeface="Droid Sans Mono"/>
                <a:ea typeface="Droid Sans Mono"/>
                <a:cs typeface="Droid Sans Mono"/>
              </a:rPr>
              <a:t>&lt;</a:t>
            </a:r>
            <a:r>
              <a:rPr sz="1800" b="0" i="0" u="none">
                <a:solidFill>
                  <a:schemeClr val="accent2">
                    <a:lumMod val="50000"/>
                  </a:schemeClr>
                </a:solidFill>
                <a:latin typeface="Droid Sans Mono"/>
                <a:ea typeface="Droid Sans Mono"/>
                <a:cs typeface="Droid Sans Mono"/>
              </a:rPr>
              <a:t>MASK</a:t>
            </a:r>
            <a:r>
              <a:rPr lang="it-IT" sz="1800" b="0" i="0" u="none">
                <a:solidFill>
                  <a:schemeClr val="accent2">
                    <a:lumMod val="50000"/>
                  </a:schemeClr>
                </a:solidFill>
                <a:latin typeface="Droid Sans Mono"/>
                <a:ea typeface="Droid Sans Mono"/>
                <a:cs typeface="Droid Sans Mono"/>
              </a:rPr>
              <a:t>&gt;</a:t>
            </a:r>
            <a:r>
              <a:rPr sz="1800" b="0" i="0" u="none">
                <a:solidFill>
                  <a:schemeClr val="accent2">
                    <a:lumMod val="50000"/>
                  </a:schemeClr>
                </a:solidFill>
                <a:latin typeface="Droid Sans Mono"/>
                <a:ea typeface="Droid Sans Mono"/>
                <a:cs typeface="Droid Sans Mono"/>
              </a:rPr>
              <a:t> of &lt;D&gt;</a:t>
            </a:r>
            <a:endParaRPr>
              <a:solidFill>
                <a:schemeClr val="accent2">
                  <a:lumMod val="50000"/>
                </a:schemeClr>
              </a:solidFill>
            </a:endParaRPr>
          </a:p>
        </p:txBody>
      </p:sp>
      <p:sp>
        <p:nvSpPr>
          <p:cNvPr id="545518523" name=""/>
          <p:cNvSpPr txBox="1"/>
          <p:nvPr/>
        </p:nvSpPr>
        <p:spPr bwMode="auto">
          <a:xfrm rot="0" flipH="0" flipV="0">
            <a:off x="4905715" y="2492818"/>
            <a:ext cx="3053732" cy="3965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lang="it-IT" sz="2000" b="1"/>
              <a:t>LAMOSI’S Prompt:</a:t>
            </a:r>
            <a:endParaRPr sz="1800"/>
          </a:p>
        </p:txBody>
      </p:sp>
      <p:sp>
        <p:nvSpPr>
          <p:cNvPr id="56869480" name=""/>
          <p:cNvSpPr/>
          <p:nvPr/>
        </p:nvSpPr>
        <p:spPr bwMode="auto">
          <a:xfrm flipH="0" flipV="0">
            <a:off x="4561320" y="2928937"/>
            <a:ext cx="3739282" cy="366119"/>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lgn="ctr">
              <a:defRPr/>
            </a:pPr>
            <a:r>
              <a:rPr lang="it-IT" sz="1800" b="0" i="0" u="none">
                <a:solidFill>
                  <a:schemeClr val="accent2">
                    <a:lumMod val="50000"/>
                  </a:schemeClr>
                </a:solidFill>
                <a:latin typeface="Droid Sans Mono"/>
                <a:ea typeface="Droid Sans Mono"/>
                <a:cs typeface="Droid Sans Mono"/>
              </a:rPr>
              <a:t>It</a:t>
            </a:r>
            <a:r>
              <a:rPr sz="1800" b="0" i="0" u="none">
                <a:solidFill>
                  <a:schemeClr val="accent2">
                    <a:lumMod val="50000"/>
                  </a:schemeClr>
                </a:solidFill>
                <a:latin typeface="Droid Sans Mono"/>
                <a:ea typeface="Droid Sans Mono"/>
                <a:cs typeface="Droid Sans Mono"/>
              </a:rPr>
              <a:t> is a</a:t>
            </a:r>
            <a:r>
              <a:rPr lang="it-IT" sz="1800" b="0" i="0" u="none">
                <a:solidFill>
                  <a:schemeClr val="accent2">
                    <a:lumMod val="50000"/>
                  </a:schemeClr>
                </a:solidFill>
                <a:latin typeface="Droid Sans Mono"/>
                <a:ea typeface="Droid Sans Mono"/>
                <a:cs typeface="Droid Sans Mono"/>
              </a:rPr>
              <a:t> &lt;C&gt;?</a:t>
            </a:r>
            <a:r>
              <a:rPr sz="1800" b="0" i="0" u="none">
                <a:solidFill>
                  <a:schemeClr val="accent2">
                    <a:lumMod val="50000"/>
                  </a:schemeClr>
                </a:solidFill>
                <a:latin typeface="Droid Sans Mono"/>
                <a:ea typeface="Droid Sans Mono"/>
                <a:cs typeface="Droid Sans Mono"/>
              </a:rPr>
              <a:t> </a:t>
            </a:r>
            <a:r>
              <a:rPr lang="it-IT" sz="1800" b="0" i="0" u="none">
                <a:solidFill>
                  <a:schemeClr val="accent2">
                    <a:lumMod val="50000"/>
                  </a:schemeClr>
                </a:solidFill>
                <a:latin typeface="Droid Sans Mono"/>
                <a:ea typeface="Droid Sans Mono"/>
                <a:cs typeface="Droid Sans Mono"/>
              </a:rPr>
              <a:t>[</a:t>
            </a:r>
            <a:r>
              <a:rPr sz="1800" b="0" i="0" u="none">
                <a:solidFill>
                  <a:schemeClr val="accent2">
                    <a:lumMod val="50000"/>
                  </a:schemeClr>
                </a:solidFill>
                <a:latin typeface="Droid Sans Mono"/>
                <a:ea typeface="Droid Sans Mono"/>
                <a:cs typeface="Droid Sans Mono"/>
              </a:rPr>
              <a:t>MASK] </a:t>
            </a:r>
            <a:r>
              <a:rPr lang="it-IT" sz="1800" b="0" i="0" u="none">
                <a:solidFill>
                  <a:schemeClr val="accent2">
                    <a:lumMod val="50000"/>
                  </a:schemeClr>
                </a:solidFill>
                <a:latin typeface="Droid Sans Mono"/>
                <a:ea typeface="Droid Sans Mono"/>
                <a:cs typeface="Droid Sans Mono"/>
              </a:rPr>
              <a:t>It is a</a:t>
            </a:r>
            <a:r>
              <a:rPr sz="1800" b="0" i="0" u="none">
                <a:solidFill>
                  <a:schemeClr val="accent2">
                    <a:lumMod val="50000"/>
                  </a:schemeClr>
                </a:solidFill>
                <a:latin typeface="Droid Sans Mono"/>
                <a:ea typeface="Droid Sans Mono"/>
                <a:cs typeface="Droid Sans Mono"/>
              </a:rPr>
              <a:t> &lt;D&gt;</a:t>
            </a:r>
            <a:endParaRPr>
              <a:solidFill>
                <a:schemeClr val="accent2">
                  <a:lumMod val="50000"/>
                </a:schemeClr>
              </a:solidFill>
            </a:endParaRPr>
          </a:p>
        </p:txBody>
      </p:sp>
      <p:pic>
        <p:nvPicPr>
          <p:cNvPr id="1659172154" name=""/>
          <p:cNvPicPr>
            <a:picLocks noChangeAspect="1"/>
          </p:cNvPicPr>
          <p:nvPr/>
        </p:nvPicPr>
        <p:blipFill rotWithShape="1">
          <a:blip r:embed="rId3"/>
          <a:stretch/>
        </p:blipFill>
        <p:spPr bwMode="auto">
          <a:xfrm>
            <a:off x="0" y="0"/>
            <a:ext cx="4429125" cy="442912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21206215" name="Google Shape;133;p28"/>
          <p:cNvSpPr txBox="1"/>
          <p:nvPr>
            <p:ph type="title"/>
          </p:nvPr>
        </p:nvSpPr>
        <p:spPr bwMode="auto">
          <a:xfrm flipH="0" flipV="0">
            <a:off x="542674" y="991835"/>
            <a:ext cx="7966874" cy="925070"/>
          </a:xfrm>
          <a:prstGeom prst="rect">
            <a:avLst/>
          </a:prstGeom>
        </p:spPr>
        <p:txBody>
          <a:bodyPr spcFirstLastPara="1" vertOverflow="overflow" horzOverflow="overflow" vert="horz" wrap="square" lIns="91424" tIns="91424" rIns="91424" bIns="91424" numCol="1" spcCol="0" rtlCol="0" fromWordArt="0" anchor="ctr" anchorCtr="0" forceAA="0" upright="0" compatLnSpc="0">
            <a:noAutofit/>
          </a:bodyPr>
          <a:lstStyle/>
          <a:p>
            <a:pPr marL="0" lvl="0" indent="0" algn="r" rtl="0">
              <a:spcBef>
                <a:spcPts val="0"/>
              </a:spcBef>
              <a:spcAft>
                <a:spcPts val="0"/>
              </a:spcAft>
              <a:buNone/>
              <a:defRPr/>
            </a:pPr>
            <a:r>
              <a:rPr lang="it-IT"/>
              <a:t>BASELINE RESULTS</a:t>
            </a:r>
            <a:endParaRPr/>
          </a:p>
        </p:txBody>
      </p:sp>
      <p:sp>
        <p:nvSpPr>
          <p:cNvPr id="1219573134" name="Google Shape;134;p28"/>
          <p:cNvSpPr txBox="1"/>
          <p:nvPr>
            <p:ph type="title" idx="2"/>
          </p:nvPr>
        </p:nvSpPr>
        <p:spPr bwMode="auto">
          <a:xfrm>
            <a:off x="464024" y="424695"/>
            <a:ext cx="859799" cy="668999"/>
          </a:xfrm>
          <a:prstGeom prst="rect">
            <a:avLst/>
          </a:prstGeom>
        </p:spPr>
        <p:txBody>
          <a:bodyPr spcFirstLastPara="1" wrap="square" lIns="91424" tIns="91424" rIns="91424" bIns="91424" anchor="ctr" anchorCtr="0">
            <a:noAutofit/>
          </a:bodyPr>
          <a:lstStyle/>
          <a:p>
            <a:pPr marL="0" lvl="0" indent="0" algn="l" rtl="0">
              <a:spcBef>
                <a:spcPts val="0"/>
              </a:spcBef>
              <a:spcAft>
                <a:spcPts val="0"/>
              </a:spcAft>
              <a:buNone/>
              <a:defRPr/>
            </a:pPr>
            <a:r>
              <a:rPr lang="en"/>
              <a:t>0</a:t>
            </a:r>
            <a:r>
              <a:rPr lang="it-IT"/>
              <a:t>2</a:t>
            </a:r>
            <a:endParaRPr/>
          </a:p>
        </p:txBody>
      </p:sp>
      <p:sp>
        <p:nvSpPr>
          <p:cNvPr id="1973134766" name="Google Shape;135;p28"/>
          <p:cNvSpPr txBox="1"/>
          <p:nvPr>
            <p:ph type="subTitle" idx="1"/>
          </p:nvPr>
        </p:nvSpPr>
        <p:spPr bwMode="auto">
          <a:xfrm flipH="0" flipV="0">
            <a:off x="542674" y="2250281"/>
            <a:ext cx="7966874" cy="1878599"/>
          </a:xfrm>
          <a:prstGeom prst="rect">
            <a:avLst/>
          </a:prstGeom>
        </p:spPr>
        <p:txBody>
          <a:bodyPr spcFirstLastPara="1" vertOverflow="overflow" horzOverflow="overflow" vert="horz" wrap="square" lIns="91424" tIns="91424" rIns="91424" bIns="91424" numCol="1" spcCol="0" rtlCol="0" fromWordArt="0" anchor="t" anchorCtr="0" forceAA="0" upright="0" compatLnSpc="0">
            <a:noAutofit/>
          </a:bodyPr>
          <a:lstStyle/>
          <a:p>
            <a:pPr marL="0" lvl="0" indent="0" algn="l" rtl="0">
              <a:spcBef>
                <a:spcPts val="0"/>
              </a:spcBef>
              <a:spcAft>
                <a:spcPts val="0"/>
              </a:spcAft>
              <a:buNone/>
              <a:defRPr/>
            </a:pPr>
            <a:r>
              <a:rPr lang="it-IT" sz="1200"/>
              <a:t>First probing experiment with manual verbalizer. </a:t>
            </a:r>
            <a:endParaRPr lang="it-IT" sz="1200"/>
          </a:p>
          <a:p>
            <a:pPr marL="0" lvl="0" indent="0" algn="l" rtl="0">
              <a:spcBef>
                <a:spcPts val="0"/>
              </a:spcBef>
              <a:spcAft>
                <a:spcPts val="0"/>
              </a:spcAft>
              <a:buNone/>
              <a:defRPr/>
            </a:pPr>
            <a:endParaRPr sz="500"/>
          </a:p>
          <a:p>
            <a:pPr marL="0" lvl="0" indent="0" algn="l" rtl="0">
              <a:spcBef>
                <a:spcPts val="0"/>
              </a:spcBef>
              <a:spcAft>
                <a:spcPts val="0"/>
              </a:spcAft>
              <a:buNone/>
              <a:defRPr/>
            </a:pPr>
            <a:r>
              <a:rPr lang="it-IT" sz="1200"/>
              <a:t>We define for both prompts some </a:t>
            </a:r>
            <a:r>
              <a:rPr lang="it-IT" sz="1200"/>
              <a:t>words that could exemple a positive label and a negative label:</a:t>
            </a:r>
            <a:endParaRPr lang="it-IT"/>
          </a:p>
          <a:p>
            <a:pPr marL="0" lvl="0" indent="0" algn="l" rtl="0">
              <a:spcBef>
                <a:spcPts val="0"/>
              </a:spcBef>
              <a:spcAft>
                <a:spcPts val="0"/>
              </a:spcAft>
              <a:buNone/>
              <a:defRPr/>
            </a:pPr>
            <a:endParaRPr lang="it-IT"/>
          </a:p>
          <a:p>
            <a:pPr marL="0" lvl="0" indent="0" algn="l" rtl="0">
              <a:spcBef>
                <a:spcPts val="0"/>
              </a:spcBef>
              <a:spcAft>
                <a:spcPts val="0"/>
              </a:spcAft>
              <a:buNone/>
              <a:defRPr/>
            </a:pPr>
            <a:endParaRPr lang="it-IT"/>
          </a:p>
        </p:txBody>
      </p:sp>
      <p:cxnSp>
        <p:nvCxnSpPr>
          <p:cNvPr id="446679149" name="Google Shape;136;p28"/>
          <p:cNvCxnSpPr/>
          <p:nvPr/>
        </p:nvCxnSpPr>
        <p:spPr bwMode="auto">
          <a:xfrm>
            <a:off x="1217749" y="928580"/>
            <a:ext cx="7291800" cy="0"/>
          </a:xfrm>
          <a:prstGeom prst="straightConnector1">
            <a:avLst/>
          </a:prstGeom>
          <a:noFill/>
          <a:ln w="9525" cap="flat" cmpd="sng">
            <a:solidFill>
              <a:schemeClr val="dk1"/>
            </a:solidFill>
            <a:prstDash val="solid"/>
            <a:round/>
            <a:headEnd type="none" w="med" len="med"/>
            <a:tailEnd type="none" w="med" len="med"/>
          </a:ln>
        </p:spPr>
      </p:cxnSp>
      <p:sp>
        <p:nvSpPr>
          <p:cNvPr id="388928687" name=""/>
          <p:cNvSpPr/>
          <p:nvPr/>
        </p:nvSpPr>
        <p:spPr bwMode="auto">
          <a:xfrm>
            <a:off x="2795532" y="1846720"/>
            <a:ext cx="4136233" cy="253824"/>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r>
              <a:rPr sz="1050" b="1" i="0" u="none">
                <a:solidFill>
                  <a:schemeClr val="tx1"/>
                </a:solidFill>
                <a:latin typeface="Droid Sans Mono"/>
                <a:ea typeface="Droid Sans Mono"/>
                <a:cs typeface="Droid Sans Mono"/>
              </a:rPr>
              <a:t>prompt → MLM (frozen) → logits → manual verbalizer → label</a:t>
            </a:r>
            <a:endParaRPr b="1">
              <a:solidFill>
                <a:schemeClr val="tx1"/>
              </a:solidFill>
            </a:endParaRPr>
          </a:p>
        </p:txBody>
      </p:sp>
      <p:graphicFrame>
        <p:nvGraphicFramePr>
          <p:cNvPr id="2101259649" name=""/>
          <p:cNvGraphicFramePr>
            <a:graphicFrameLocks xmlns:a="http://schemas.openxmlformats.org/drawingml/2006/main"/>
          </p:cNvGraphicFramePr>
          <p:nvPr/>
        </p:nvGraphicFramePr>
        <p:xfrm>
          <a:off x="1571624" y="2957512"/>
          <a:ext cx="6102349" cy="1745739"/>
        </p:xfrm>
        <a:graphic>
          <a:graphicData uri="http://schemas.openxmlformats.org/drawingml/2006/table">
            <a:tbl>
              <a:tblPr firstRow="1" firstCol="0" lastRow="0" lastCol="0" bandRow="1" bandCol="0">
                <a:tableStyleId>{EA37CDA1-CCFA-4E4F-8383-CC0F6BD98904}</a:tableStyleId>
              </a:tblPr>
              <a:tblGrid>
                <a:gridCol w="1800000"/>
                <a:gridCol w="2160000"/>
                <a:gridCol w="2135999"/>
              </a:tblGrid>
              <a:tr h="276350">
                <a:tc>
                  <a:txBody>
                    <a:bodyPr/>
                    <a:p>
                      <a:pPr>
                        <a:defRPr/>
                      </a:pPr>
                      <a:endParaRPr sz="1200" b="1"/>
                    </a:p>
                  </a:txBody>
                  <a:tcPr>
                    <a:lnL w="6349" algn="ctr">
                      <a:solidFill>
                        <a:srgbClr val="000000"/>
                      </a:solidFill>
                    </a:lnL>
                    <a:lnR w="6349" algn="ctr">
                      <a:solidFill>
                        <a:srgbClr val="000000"/>
                      </a:solidFill>
                    </a:lnR>
                    <a:lnT w="6349" algn="ctr">
                      <a:solidFill>
                        <a:srgbClr val="000000"/>
                      </a:solidFill>
                    </a:lnT>
                    <a:lnB w="6349" algn="ctr">
                      <a:solidFill>
                        <a:srgbClr val="000000"/>
                      </a:solidFill>
                    </a:lnB>
                  </a:tcPr>
                </a:tc>
                <a:tc>
                  <a:txBody>
                    <a:bodyPr/>
                    <a:p>
                      <a:pPr>
                        <a:defRPr/>
                      </a:pPr>
                      <a:r>
                        <a:rPr lang="it-IT" sz="1200" b="1"/>
                        <a:t>Positives</a:t>
                      </a:r>
                      <a:endParaRPr sz="1200" b="1"/>
                    </a:p>
                  </a:txBody>
                  <a:tcPr>
                    <a:lnL w="6349" algn="ctr">
                      <a:solidFill>
                        <a:srgbClr val="000000"/>
                      </a:solidFill>
                    </a:lnL>
                    <a:lnR w="6349" algn="ctr">
                      <a:solidFill>
                        <a:srgbClr val="000000"/>
                      </a:solidFill>
                    </a:lnR>
                    <a:lnT w="6349" algn="ctr">
                      <a:solidFill>
                        <a:srgbClr val="000000"/>
                      </a:solidFill>
                    </a:lnT>
                    <a:lnB w="6349" algn="ctr">
                      <a:solidFill>
                        <a:srgbClr val="000000"/>
                      </a:solidFill>
                    </a:lnB>
                  </a:tcPr>
                </a:tc>
                <a:tc>
                  <a:txBody>
                    <a:bodyPr/>
                    <a:p>
                      <a:pPr>
                        <a:defRPr/>
                      </a:pPr>
                      <a:r>
                        <a:rPr lang="it-IT" sz="1200" b="1"/>
                        <a:t>Negatives</a:t>
                      </a:r>
                      <a:endParaRPr sz="1200" b="1"/>
                    </a:p>
                  </a:txBody>
                  <a:tcPr>
                    <a:lnL w="6349" algn="ctr">
                      <a:solidFill>
                        <a:srgbClr val="000000"/>
                      </a:solidFill>
                    </a:lnL>
                    <a:lnR w="6349" algn="ctr">
                      <a:solidFill>
                        <a:srgbClr val="000000"/>
                      </a:solidFill>
                    </a:lnR>
                    <a:lnT w="6349" algn="ctr">
                      <a:solidFill>
                        <a:srgbClr val="000000"/>
                      </a:solidFill>
                    </a:lnT>
                    <a:lnB w="6349" algn="ctr">
                      <a:solidFill>
                        <a:srgbClr val="000000"/>
                      </a:solidFill>
                    </a:lnB>
                  </a:tcPr>
                </a:tc>
              </a:tr>
              <a:tr h="304800">
                <a:tc>
                  <a:txBody>
                    <a:bodyPr/>
                    <a:p>
                      <a:pPr>
                        <a:defRPr/>
                      </a:pPr>
                      <a:r>
                        <a:rPr lang="it-IT" sz="1200" b="1"/>
                        <a:t>LMAOSI’S prompt</a:t>
                      </a:r>
                      <a:endParaRPr lang="it-IT" sz="1200" b="1"/>
                    </a:p>
                    <a:p>
                      <a:pPr>
                        <a:defRPr/>
                      </a:pPr>
                      <a:r>
                        <a:rPr lang="it-IT" sz="1200" b="1"/>
                        <a:t>(from paper)</a:t>
                      </a:r>
                      <a:endParaRPr sz="1200" b="1"/>
                    </a:p>
                  </a:txBody>
                  <a:tcPr>
                    <a:lnL w="6349" algn="ctr">
                      <a:solidFill>
                        <a:srgbClr val="000000"/>
                      </a:solidFill>
                    </a:lnL>
                    <a:lnR w="6349" algn="ctr">
                      <a:solidFill>
                        <a:srgbClr val="000000"/>
                      </a:solidFill>
                    </a:lnR>
                    <a:lnT w="6349" algn="ctr">
                      <a:solidFill>
                        <a:srgbClr val="000000"/>
                      </a:solidFill>
                    </a:lnT>
                    <a:lnB w="6349" algn="ctr">
                      <a:solidFill>
                        <a:srgbClr val="000000"/>
                      </a:solidFill>
                    </a:lnB>
                  </a:tcPr>
                </a:tc>
                <a:tc>
                  <a:txBody>
                    <a:bodyPr/>
                    <a:p>
                      <a:pPr>
                        <a:defRPr/>
                      </a:pPr>
                      <a:r>
                        <a:rPr sz="1000" b="0" i="0" u="none">
                          <a:solidFill>
                            <a:srgbClr val="A89984"/>
                          </a:solidFill>
                          <a:latin typeface="Droid Sans Mono"/>
                          <a:ea typeface="Droid Sans Mono"/>
                          <a:cs typeface="Droid Sans Mono"/>
                        </a:rPr>
                        <a:t>"</a:t>
                      </a:r>
                      <a:r>
                        <a:rPr sz="1000" b="0" i="0" u="none">
                          <a:solidFill>
                            <a:srgbClr val="B8BB26"/>
                          </a:solidFill>
                          <a:latin typeface="Droid Sans Mono"/>
                          <a:ea typeface="Droid Sans Mono"/>
                          <a:cs typeface="Droid Sans Mono"/>
                        </a:rPr>
                        <a:t>yes</a:t>
                      </a:r>
                      <a:r>
                        <a:rPr sz="1000" b="0" i="0" u="none">
                          <a:solidFill>
                            <a:srgbClr val="A89984"/>
                          </a:solidFill>
                          <a:latin typeface="Droid Sans Mono"/>
                          <a:ea typeface="Droid Sans Mono"/>
                          <a:cs typeface="Droid Sans Mono"/>
                        </a:rPr>
                        <a:t>"</a:t>
                      </a:r>
                      <a:r>
                        <a:rPr sz="1000" b="0" i="0" u="none">
                          <a:solidFill>
                            <a:srgbClr val="A89984"/>
                          </a:solidFill>
                          <a:latin typeface="Droid Sans Mono"/>
                          <a:ea typeface="Droid Sans Mono"/>
                          <a:cs typeface="Droid Sans Mono"/>
                        </a:rPr>
                        <a:t>,</a:t>
                      </a:r>
                      <a:r>
                        <a:rPr sz="1000" b="0" i="0" u="none">
                          <a:solidFill>
                            <a:srgbClr val="EBDBB2"/>
                          </a:solidFill>
                          <a:latin typeface="Droid Sans Mono"/>
                          <a:ea typeface="Droid Sans Mono"/>
                          <a:cs typeface="Droid Sans Mono"/>
                        </a:rPr>
                        <a:t> </a:t>
                      </a:r>
                      <a:r>
                        <a:rPr sz="1000" b="0" i="0" u="none">
                          <a:solidFill>
                            <a:srgbClr val="A89984"/>
                          </a:solidFill>
                          <a:latin typeface="Droid Sans Mono"/>
                          <a:ea typeface="Droid Sans Mono"/>
                          <a:cs typeface="Droid Sans Mono"/>
                        </a:rPr>
                        <a:t>"</a:t>
                      </a:r>
                      <a:r>
                        <a:rPr sz="1000" b="0" i="0" u="none">
                          <a:solidFill>
                            <a:srgbClr val="B8BB26"/>
                          </a:solidFill>
                          <a:latin typeface="Droid Sans Mono"/>
                          <a:ea typeface="Droid Sans Mono"/>
                          <a:cs typeface="Droid Sans Mono"/>
                        </a:rPr>
                        <a:t>right</a:t>
                      </a:r>
                      <a:r>
                        <a:rPr sz="1000" b="0" i="0" u="none">
                          <a:solidFill>
                            <a:srgbClr val="A89984"/>
                          </a:solidFill>
                          <a:latin typeface="Droid Sans Mono"/>
                          <a:ea typeface="Droid Sans Mono"/>
                          <a:cs typeface="Droid Sans Mono"/>
                        </a:rPr>
                        <a:t>"</a:t>
                      </a:r>
                      <a:endParaRPr sz="1200"/>
                    </a:p>
                  </a:txBody>
                  <a:tcPr>
                    <a:lnL w="6349" algn="ctr">
                      <a:solidFill>
                        <a:srgbClr val="000000"/>
                      </a:solidFill>
                    </a:lnL>
                    <a:lnR w="6349" algn="ctr">
                      <a:solidFill>
                        <a:srgbClr val="000000"/>
                      </a:solidFill>
                    </a:lnR>
                    <a:lnT w="6349" algn="ctr">
                      <a:solidFill>
                        <a:srgbClr val="000000"/>
                      </a:solidFill>
                    </a:lnT>
                    <a:lnB w="6349" algn="ctr">
                      <a:solidFill>
                        <a:srgbClr val="000000"/>
                      </a:solidFill>
                    </a:lnB>
                  </a:tcPr>
                </a:tc>
                <a:tc>
                  <a:txBody>
                    <a:bodyPr/>
                    <a:p>
                      <a:pPr>
                        <a:defRPr/>
                      </a:pPr>
                      <a:r>
                        <a:rPr sz="1000" b="0" i="0" u="none">
                          <a:solidFill>
                            <a:srgbClr val="A89984"/>
                          </a:solidFill>
                          <a:latin typeface="Droid Sans Mono"/>
                          <a:ea typeface="Droid Sans Mono"/>
                          <a:cs typeface="Droid Sans Mono"/>
                        </a:rPr>
                        <a:t>"</a:t>
                      </a:r>
                      <a:r>
                        <a:rPr sz="1000" b="0" i="0" u="none">
                          <a:solidFill>
                            <a:srgbClr val="B8BB26"/>
                          </a:solidFill>
                          <a:latin typeface="Droid Sans Mono"/>
                          <a:ea typeface="Droid Sans Mono"/>
                          <a:cs typeface="Droid Sans Mono"/>
                        </a:rPr>
                        <a:t>no</a:t>
                      </a:r>
                      <a:r>
                        <a:rPr sz="1000" b="0" i="0" u="none">
                          <a:solidFill>
                            <a:srgbClr val="A89984"/>
                          </a:solidFill>
                          <a:latin typeface="Droid Sans Mono"/>
                          <a:ea typeface="Droid Sans Mono"/>
                          <a:cs typeface="Droid Sans Mono"/>
                        </a:rPr>
                        <a:t>"</a:t>
                      </a:r>
                      <a:r>
                        <a:rPr sz="1000" b="0" i="0" u="none">
                          <a:solidFill>
                            <a:srgbClr val="A89984"/>
                          </a:solidFill>
                          <a:latin typeface="Droid Sans Mono"/>
                          <a:ea typeface="Droid Sans Mono"/>
                          <a:cs typeface="Droid Sans Mono"/>
                        </a:rPr>
                        <a:t>,</a:t>
                      </a:r>
                      <a:r>
                        <a:rPr sz="1000" b="0" i="0" u="none">
                          <a:solidFill>
                            <a:srgbClr val="EBDBB2"/>
                          </a:solidFill>
                          <a:latin typeface="Droid Sans Mono"/>
                          <a:ea typeface="Droid Sans Mono"/>
                          <a:cs typeface="Droid Sans Mono"/>
                        </a:rPr>
                        <a:t> </a:t>
                      </a:r>
                      <a:r>
                        <a:rPr sz="1000" b="0" i="0" u="none">
                          <a:solidFill>
                            <a:srgbClr val="A89984"/>
                          </a:solidFill>
                          <a:latin typeface="Droid Sans Mono"/>
                          <a:ea typeface="Droid Sans Mono"/>
                          <a:cs typeface="Droid Sans Mono"/>
                        </a:rPr>
                        <a:t>"</a:t>
                      </a:r>
                      <a:r>
                        <a:rPr sz="1000" b="0" i="0" u="none">
                          <a:solidFill>
                            <a:srgbClr val="B8BB26"/>
                          </a:solidFill>
                          <a:latin typeface="Droid Sans Mono"/>
                          <a:ea typeface="Droid Sans Mono"/>
                          <a:cs typeface="Droid Sans Mono"/>
                        </a:rPr>
                        <a:t>wrong</a:t>
                      </a:r>
                      <a:r>
                        <a:rPr sz="1000" b="0" i="0" u="none">
                          <a:solidFill>
                            <a:srgbClr val="A89984"/>
                          </a:solidFill>
                          <a:latin typeface="Droid Sans Mono"/>
                          <a:ea typeface="Droid Sans Mono"/>
                          <a:cs typeface="Droid Sans Mono"/>
                        </a:rPr>
                        <a:t>"</a:t>
                      </a:r>
                      <a:endParaRPr sz="1200"/>
                    </a:p>
                  </a:txBody>
                  <a:tcPr>
                    <a:lnL w="6349" algn="ctr">
                      <a:solidFill>
                        <a:srgbClr val="000000"/>
                      </a:solidFill>
                    </a:lnL>
                    <a:lnR w="6349" algn="ctr">
                      <a:solidFill>
                        <a:srgbClr val="000000"/>
                      </a:solidFill>
                    </a:lnR>
                    <a:lnT w="6349" algn="ctr">
                      <a:solidFill>
                        <a:srgbClr val="000000"/>
                      </a:solidFill>
                    </a:lnT>
                    <a:lnB w="6349" algn="ctr">
                      <a:solidFill>
                        <a:srgbClr val="000000"/>
                      </a:solidFill>
                    </a:lnB>
                  </a:tcPr>
                </a:tc>
              </a:tr>
              <a:tr h="304800">
                <a:tc>
                  <a:txBody>
                    <a:bodyPr/>
                    <a:p>
                      <a:pPr>
                        <a:defRPr/>
                      </a:pPr>
                      <a:r>
                        <a:rPr lang="it-IT" sz="1200" b="1"/>
                        <a:t>PRONTO’s prompt</a:t>
                      </a:r>
                      <a:endParaRPr sz="1200" b="1"/>
                    </a:p>
                  </a:txBody>
                  <a:tcPr>
                    <a:lnL w="6349" algn="ctr">
                      <a:solidFill>
                        <a:srgbClr val="000000"/>
                      </a:solidFill>
                    </a:lnL>
                    <a:lnR w="6349" algn="ctr">
                      <a:solidFill>
                        <a:srgbClr val="000000"/>
                      </a:solidFill>
                    </a:lnR>
                    <a:lnT w="6349" algn="ctr">
                      <a:solidFill>
                        <a:srgbClr val="000000"/>
                      </a:solidFill>
                    </a:lnT>
                    <a:lnB w="6349" algn="ctr">
                      <a:solidFill>
                        <a:srgbClr val="000000"/>
                      </a:solidFill>
                    </a:lnB>
                  </a:tcPr>
                </a:tc>
                <a:tc>
                  <a:txBody>
                    <a:bodyPr/>
                    <a:p>
                      <a:pPr>
                        <a:defRPr/>
                      </a:pPr>
                      <a:r>
                        <a:rPr sz="1000" b="0" i="0" u="none">
                          <a:solidFill>
                            <a:srgbClr val="A89984"/>
                          </a:solidFill>
                          <a:latin typeface="Droid Sans Mono"/>
                          <a:ea typeface="Droid Sans Mono"/>
                          <a:cs typeface="Droid Sans Mono"/>
                        </a:rPr>
                        <a:t>"</a:t>
                      </a:r>
                      <a:r>
                        <a:rPr sz="1000" b="0" i="0" u="none">
                          <a:solidFill>
                            <a:srgbClr val="B8BB26"/>
                          </a:solidFill>
                          <a:latin typeface="Droid Sans Mono"/>
                          <a:ea typeface="Droid Sans Mono"/>
                          <a:cs typeface="Droid Sans Mono"/>
                        </a:rPr>
                        <a:t>kind</a:t>
                      </a:r>
                      <a:r>
                        <a:rPr sz="1000" b="0" i="0" u="none">
                          <a:solidFill>
                            <a:srgbClr val="A89984"/>
                          </a:solidFill>
                          <a:latin typeface="Droid Sans Mono"/>
                          <a:ea typeface="Droid Sans Mono"/>
                          <a:cs typeface="Droid Sans Mono"/>
                        </a:rPr>
                        <a:t>"</a:t>
                      </a:r>
                      <a:r>
                        <a:rPr sz="1000" b="0" i="0" u="none">
                          <a:solidFill>
                            <a:srgbClr val="A89984"/>
                          </a:solidFill>
                          <a:latin typeface="Droid Sans Mono"/>
                          <a:ea typeface="Droid Sans Mono"/>
                          <a:cs typeface="Droid Sans Mono"/>
                        </a:rPr>
                        <a:t>,</a:t>
                      </a:r>
                      <a:r>
                        <a:rPr sz="1000" b="0" i="0" u="none">
                          <a:solidFill>
                            <a:srgbClr val="EBDBB2"/>
                          </a:solidFill>
                          <a:latin typeface="Droid Sans Mono"/>
                          <a:ea typeface="Droid Sans Mono"/>
                          <a:cs typeface="Droid Sans Mono"/>
                        </a:rPr>
                        <a:t> </a:t>
                      </a:r>
                      <a:r>
                        <a:rPr sz="1000" b="0" i="0" u="none">
                          <a:solidFill>
                            <a:srgbClr val="A89984"/>
                          </a:solidFill>
                          <a:latin typeface="Droid Sans Mono"/>
                          <a:ea typeface="Droid Sans Mono"/>
                          <a:cs typeface="Droid Sans Mono"/>
                        </a:rPr>
                        <a:t>"</a:t>
                      </a:r>
                      <a:r>
                        <a:rPr sz="1000" b="0" i="0" u="none">
                          <a:solidFill>
                            <a:srgbClr val="B8BB26"/>
                          </a:solidFill>
                          <a:latin typeface="Droid Sans Mono"/>
                          <a:ea typeface="Droid Sans Mono"/>
                          <a:cs typeface="Droid Sans Mono"/>
                        </a:rPr>
                        <a:t>type</a:t>
                      </a:r>
                      <a:r>
                        <a:rPr sz="1000" b="0" i="0" u="none">
                          <a:solidFill>
                            <a:srgbClr val="A89984"/>
                          </a:solidFill>
                          <a:latin typeface="Droid Sans Mono"/>
                          <a:ea typeface="Droid Sans Mono"/>
                          <a:cs typeface="Droid Sans Mono"/>
                        </a:rPr>
                        <a:t>"</a:t>
                      </a:r>
                      <a:r>
                        <a:rPr sz="1000" b="0" i="0" u="none">
                          <a:solidFill>
                            <a:srgbClr val="A89984"/>
                          </a:solidFill>
                          <a:latin typeface="Droid Sans Mono"/>
                          <a:ea typeface="Droid Sans Mono"/>
                          <a:cs typeface="Droid Sans Mono"/>
                        </a:rPr>
                        <a:t>,</a:t>
                      </a:r>
                      <a:r>
                        <a:rPr sz="1000" b="0" i="0" u="none">
                          <a:solidFill>
                            <a:srgbClr val="EBDBB2"/>
                          </a:solidFill>
                          <a:latin typeface="Droid Sans Mono"/>
                          <a:ea typeface="Droid Sans Mono"/>
                          <a:cs typeface="Droid Sans Mono"/>
                        </a:rPr>
                        <a:t> </a:t>
                      </a:r>
                      <a:r>
                        <a:rPr sz="1000" b="0" i="0" u="none">
                          <a:solidFill>
                            <a:srgbClr val="A89984"/>
                          </a:solidFill>
                          <a:latin typeface="Droid Sans Mono"/>
                          <a:ea typeface="Droid Sans Mono"/>
                          <a:cs typeface="Droid Sans Mono"/>
                        </a:rPr>
                        <a:t>"</a:t>
                      </a:r>
                      <a:r>
                        <a:rPr sz="1000" b="0" i="0" u="none">
                          <a:solidFill>
                            <a:srgbClr val="B8BB26"/>
                          </a:solidFill>
                          <a:latin typeface="Droid Sans Mono"/>
                          <a:ea typeface="Droid Sans Mono"/>
                          <a:cs typeface="Droid Sans Mono"/>
                        </a:rPr>
                        <a:t>category</a:t>
                      </a:r>
                      <a:r>
                        <a:rPr sz="1000" b="0" i="0" u="none">
                          <a:solidFill>
                            <a:srgbClr val="A89984"/>
                          </a:solidFill>
                          <a:latin typeface="Droid Sans Mono"/>
                          <a:ea typeface="Droid Sans Mono"/>
                          <a:cs typeface="Droid Sans Mono"/>
                        </a:rPr>
                        <a:t>"</a:t>
                      </a:r>
                      <a:r>
                        <a:rPr sz="1000" b="0" i="0" u="none">
                          <a:solidFill>
                            <a:srgbClr val="A89984"/>
                          </a:solidFill>
                          <a:latin typeface="Droid Sans Mono"/>
                          <a:ea typeface="Droid Sans Mono"/>
                          <a:cs typeface="Droid Sans Mono"/>
                        </a:rPr>
                        <a:t>,</a:t>
                      </a:r>
                      <a:r>
                        <a:rPr sz="1000" b="0" i="0" u="none">
                          <a:solidFill>
                            <a:srgbClr val="EBDBB2"/>
                          </a:solidFill>
                          <a:latin typeface="Droid Sans Mono"/>
                          <a:ea typeface="Droid Sans Mono"/>
                          <a:cs typeface="Droid Sans Mono"/>
                        </a:rPr>
                        <a:t> </a:t>
                      </a:r>
                      <a:r>
                        <a:rPr sz="1000" b="0" i="0" u="none">
                          <a:solidFill>
                            <a:srgbClr val="A89984"/>
                          </a:solidFill>
                          <a:latin typeface="Droid Sans Mono"/>
                          <a:ea typeface="Droid Sans Mono"/>
                          <a:cs typeface="Droid Sans Mono"/>
                        </a:rPr>
                        <a:t>"</a:t>
                      </a:r>
                      <a:r>
                        <a:rPr sz="1000" b="0" i="0" u="none">
                          <a:solidFill>
                            <a:srgbClr val="B8BB26"/>
                          </a:solidFill>
                          <a:latin typeface="Droid Sans Mono"/>
                          <a:ea typeface="Droid Sans Mono"/>
                          <a:cs typeface="Droid Sans Mono"/>
                        </a:rPr>
                        <a:t>class</a:t>
                      </a:r>
                      <a:r>
                        <a:rPr sz="1000" b="0" i="0" u="none">
                          <a:solidFill>
                            <a:srgbClr val="A89984"/>
                          </a:solidFill>
                          <a:latin typeface="Droid Sans Mono"/>
                          <a:ea typeface="Droid Sans Mono"/>
                          <a:cs typeface="Droid Sans Mono"/>
                        </a:rPr>
                        <a:t>"</a:t>
                      </a:r>
                      <a:r>
                        <a:rPr sz="1000" b="0" i="0" u="none">
                          <a:solidFill>
                            <a:srgbClr val="A89984"/>
                          </a:solidFill>
                          <a:latin typeface="Droid Sans Mono"/>
                          <a:ea typeface="Droid Sans Mono"/>
                          <a:cs typeface="Droid Sans Mono"/>
                        </a:rPr>
                        <a:t>,</a:t>
                      </a:r>
                      <a:r>
                        <a:rPr sz="1000" b="0" i="0" u="none">
                          <a:solidFill>
                            <a:srgbClr val="EBDBB2"/>
                          </a:solidFill>
                          <a:latin typeface="Droid Sans Mono"/>
                          <a:ea typeface="Droid Sans Mono"/>
                          <a:cs typeface="Droid Sans Mono"/>
                        </a:rPr>
                        <a:t> </a:t>
                      </a:r>
                      <a:r>
                        <a:rPr sz="1000" b="0" i="0" u="none">
                          <a:solidFill>
                            <a:srgbClr val="A89984"/>
                          </a:solidFill>
                          <a:latin typeface="Droid Sans Mono"/>
                          <a:ea typeface="Droid Sans Mono"/>
                          <a:cs typeface="Droid Sans Mono"/>
                        </a:rPr>
                        <a:t>"</a:t>
                      </a:r>
                      <a:r>
                        <a:rPr sz="1000" b="0" i="0" u="none">
                          <a:solidFill>
                            <a:srgbClr val="B8BB26"/>
                          </a:solidFill>
                          <a:latin typeface="Droid Sans Mono"/>
                          <a:ea typeface="Droid Sans Mono"/>
                          <a:cs typeface="Droid Sans Mono"/>
                        </a:rPr>
                        <a:t>group</a:t>
                      </a:r>
                      <a:r>
                        <a:rPr sz="1000" b="0" i="0" u="none">
                          <a:solidFill>
                            <a:srgbClr val="A89984"/>
                          </a:solidFill>
                          <a:latin typeface="Droid Sans Mono"/>
                          <a:ea typeface="Droid Sans Mono"/>
                          <a:cs typeface="Droid Sans Mono"/>
                        </a:rPr>
                        <a:t>"</a:t>
                      </a:r>
                      <a:r>
                        <a:rPr sz="1000" b="0" i="0" u="none">
                          <a:solidFill>
                            <a:srgbClr val="A89984"/>
                          </a:solidFill>
                          <a:latin typeface="Droid Sans Mono"/>
                          <a:ea typeface="Droid Sans Mono"/>
                          <a:cs typeface="Droid Sans Mono"/>
                        </a:rPr>
                        <a:t>,</a:t>
                      </a:r>
                      <a:r>
                        <a:rPr sz="1000" b="0" i="0" u="none">
                          <a:solidFill>
                            <a:srgbClr val="EBDBB2"/>
                          </a:solidFill>
                          <a:latin typeface="Droid Sans Mono"/>
                          <a:ea typeface="Droid Sans Mono"/>
                          <a:cs typeface="Droid Sans Mono"/>
                        </a:rPr>
                        <a:t> </a:t>
                      </a:r>
                      <a:r>
                        <a:rPr sz="1000" b="0" i="0" u="none">
                          <a:solidFill>
                            <a:srgbClr val="A89984"/>
                          </a:solidFill>
                          <a:latin typeface="Droid Sans Mono"/>
                          <a:ea typeface="Droid Sans Mono"/>
                          <a:cs typeface="Droid Sans Mono"/>
                        </a:rPr>
                        <a:t>"</a:t>
                      </a:r>
                      <a:r>
                        <a:rPr sz="1000" b="0" i="0" u="none">
                          <a:solidFill>
                            <a:srgbClr val="B8BB26"/>
                          </a:solidFill>
                          <a:latin typeface="Droid Sans Mono"/>
                          <a:ea typeface="Droid Sans Mono"/>
                          <a:cs typeface="Droid Sans Mono"/>
                        </a:rPr>
                        <a:t>form</a:t>
                      </a:r>
                      <a:r>
                        <a:rPr sz="1000" b="0" i="0" u="none">
                          <a:solidFill>
                            <a:srgbClr val="A89984"/>
                          </a:solidFill>
                          <a:latin typeface="Droid Sans Mono"/>
                          <a:ea typeface="Droid Sans Mono"/>
                          <a:cs typeface="Droid Sans Mono"/>
                        </a:rPr>
                        <a:t>"</a:t>
                      </a:r>
                      <a:r>
                        <a:rPr sz="1000" b="0" i="0" u="none">
                          <a:solidFill>
                            <a:srgbClr val="A89984"/>
                          </a:solidFill>
                          <a:latin typeface="Droid Sans Mono"/>
                          <a:ea typeface="Droid Sans Mono"/>
                          <a:cs typeface="Droid Sans Mono"/>
                        </a:rPr>
                        <a:t>,</a:t>
                      </a:r>
                      <a:r>
                        <a:rPr sz="1000" b="0" i="0" u="none">
                          <a:solidFill>
                            <a:srgbClr val="EBDBB2"/>
                          </a:solidFill>
                          <a:latin typeface="Droid Sans Mono"/>
                          <a:ea typeface="Droid Sans Mono"/>
                          <a:cs typeface="Droid Sans Mono"/>
                        </a:rPr>
                        <a:t> </a:t>
                      </a:r>
                      <a:r>
                        <a:rPr sz="1000" b="0" i="0" u="none">
                          <a:solidFill>
                            <a:srgbClr val="A89984"/>
                          </a:solidFill>
                          <a:latin typeface="Droid Sans Mono"/>
                          <a:ea typeface="Droid Sans Mono"/>
                          <a:cs typeface="Droid Sans Mono"/>
                        </a:rPr>
                        <a:t>"</a:t>
                      </a:r>
                      <a:r>
                        <a:rPr sz="1000" b="0" i="0" u="none">
                          <a:solidFill>
                            <a:srgbClr val="B8BB26"/>
                          </a:solidFill>
                          <a:latin typeface="Droid Sans Mono"/>
                          <a:ea typeface="Droid Sans Mono"/>
                          <a:cs typeface="Droid Sans Mono"/>
                        </a:rPr>
                        <a:t>sort</a:t>
                      </a:r>
                      <a:r>
                        <a:rPr sz="1000" b="0" i="0" u="none">
                          <a:solidFill>
                            <a:srgbClr val="A89984"/>
                          </a:solidFill>
                          <a:latin typeface="Droid Sans Mono"/>
                          <a:ea typeface="Droid Sans Mono"/>
                          <a:cs typeface="Droid Sans Mono"/>
                        </a:rPr>
                        <a:t>"</a:t>
                      </a:r>
                      <a:r>
                        <a:rPr sz="1000" b="0" i="0" u="none">
                          <a:solidFill>
                            <a:srgbClr val="A89984"/>
                          </a:solidFill>
                          <a:latin typeface="Droid Sans Mono"/>
                          <a:ea typeface="Droid Sans Mono"/>
                          <a:cs typeface="Droid Sans Mono"/>
                        </a:rPr>
                        <a:t>,</a:t>
                      </a:r>
                      <a:r>
                        <a:rPr sz="1000" b="0" i="0" u="none">
                          <a:solidFill>
                            <a:srgbClr val="EBDBB2"/>
                          </a:solidFill>
                          <a:latin typeface="Droid Sans Mono"/>
                          <a:ea typeface="Droid Sans Mono"/>
                          <a:cs typeface="Droid Sans Mono"/>
                        </a:rPr>
                        <a:t> </a:t>
                      </a:r>
                      <a:r>
                        <a:rPr sz="1000" b="0" i="0" u="none">
                          <a:solidFill>
                            <a:srgbClr val="A89984"/>
                          </a:solidFill>
                          <a:latin typeface="Droid Sans Mono"/>
                          <a:ea typeface="Droid Sans Mono"/>
                          <a:cs typeface="Droid Sans Mono"/>
                        </a:rPr>
                        <a:t>"</a:t>
                      </a:r>
                      <a:r>
                        <a:rPr sz="1000" b="0" i="0" u="none">
                          <a:solidFill>
                            <a:srgbClr val="B8BB26"/>
                          </a:solidFill>
                          <a:latin typeface="Droid Sans Mono"/>
                          <a:ea typeface="Droid Sans Mono"/>
                          <a:cs typeface="Droid Sans Mono"/>
                        </a:rPr>
                        <a:t>example</a:t>
                      </a:r>
                      <a:r>
                        <a:rPr sz="1000" b="0" i="0" u="none">
                          <a:solidFill>
                            <a:srgbClr val="A89984"/>
                          </a:solidFill>
                          <a:latin typeface="Droid Sans Mono"/>
                          <a:ea typeface="Droid Sans Mono"/>
                          <a:cs typeface="Droid Sans Mono"/>
                        </a:rPr>
                        <a:t>"</a:t>
                      </a:r>
                      <a:r>
                        <a:rPr sz="1000" b="0" i="0" u="none">
                          <a:solidFill>
                            <a:srgbClr val="A89984"/>
                          </a:solidFill>
                          <a:latin typeface="Droid Sans Mono"/>
                          <a:ea typeface="Droid Sans Mono"/>
                          <a:cs typeface="Droid Sans Mono"/>
                        </a:rPr>
                        <a:t>,</a:t>
                      </a:r>
                      <a:r>
                        <a:rPr sz="1000" b="0" i="0" u="none">
                          <a:solidFill>
                            <a:srgbClr val="EBDBB2"/>
                          </a:solidFill>
                          <a:latin typeface="Droid Sans Mono"/>
                          <a:ea typeface="Droid Sans Mono"/>
                          <a:cs typeface="Droid Sans Mono"/>
                        </a:rPr>
                        <a:t> </a:t>
                      </a:r>
                      <a:r>
                        <a:rPr sz="1000" b="0" i="0" u="none">
                          <a:solidFill>
                            <a:srgbClr val="A89984"/>
                          </a:solidFill>
                          <a:latin typeface="Droid Sans Mono"/>
                          <a:ea typeface="Droid Sans Mono"/>
                          <a:cs typeface="Droid Sans Mono"/>
                        </a:rPr>
                        <a:t>"</a:t>
                      </a:r>
                      <a:r>
                        <a:rPr sz="1000" b="0" i="0" u="none">
                          <a:solidFill>
                            <a:srgbClr val="B8BB26"/>
                          </a:solidFill>
                          <a:latin typeface="Droid Sans Mono"/>
                          <a:ea typeface="Droid Sans Mono"/>
                          <a:cs typeface="Droid Sans Mono"/>
                        </a:rPr>
                        <a:t>instance</a:t>
                      </a:r>
                      <a:r>
                        <a:rPr sz="1000" b="0" i="0" u="none">
                          <a:solidFill>
                            <a:srgbClr val="A89984"/>
                          </a:solidFill>
                          <a:latin typeface="Droid Sans Mono"/>
                          <a:ea typeface="Droid Sans Mono"/>
                          <a:cs typeface="Droid Sans Mono"/>
                        </a:rPr>
                        <a:t>"</a:t>
                      </a:r>
                      <a:r>
                        <a:rPr sz="1000" b="0" i="0" u="none">
                          <a:solidFill>
                            <a:srgbClr val="A89984"/>
                          </a:solidFill>
                          <a:latin typeface="Droid Sans Mono"/>
                          <a:ea typeface="Droid Sans Mono"/>
                          <a:cs typeface="Droid Sans Mono"/>
                        </a:rPr>
                        <a:t>,</a:t>
                      </a:r>
                      <a:r>
                        <a:rPr sz="1000" b="0" i="0" u="none">
                          <a:solidFill>
                            <a:srgbClr val="EBDBB2"/>
                          </a:solidFill>
                          <a:latin typeface="Droid Sans Mono"/>
                          <a:ea typeface="Droid Sans Mono"/>
                          <a:cs typeface="Droid Sans Mono"/>
                        </a:rPr>
                        <a:t> </a:t>
                      </a:r>
                      <a:r>
                        <a:rPr sz="1000" b="0" i="0" u="none">
                          <a:solidFill>
                            <a:srgbClr val="A89984"/>
                          </a:solidFill>
                          <a:latin typeface="Droid Sans Mono"/>
                          <a:ea typeface="Droid Sans Mono"/>
                          <a:cs typeface="Droid Sans Mono"/>
                        </a:rPr>
                        <a:t>"</a:t>
                      </a:r>
                      <a:r>
                        <a:rPr sz="1000" b="0" i="0" u="none">
                          <a:solidFill>
                            <a:srgbClr val="B8BB26"/>
                          </a:solidFill>
                          <a:latin typeface="Droid Sans Mono"/>
                          <a:ea typeface="Droid Sans Mono"/>
                          <a:cs typeface="Droid Sans Mono"/>
                        </a:rPr>
                        <a:t>subclass</a:t>
                      </a:r>
                      <a:r>
                        <a:rPr sz="1000" b="0" i="0" u="none">
                          <a:solidFill>
                            <a:srgbClr val="A89984"/>
                          </a:solidFill>
                          <a:latin typeface="Droid Sans Mono"/>
                          <a:ea typeface="Droid Sans Mono"/>
                          <a:cs typeface="Droid Sans Mono"/>
                        </a:rPr>
                        <a:t>"</a:t>
                      </a:r>
                      <a:r>
                        <a:rPr sz="1000" b="0" i="0" u="none">
                          <a:solidFill>
                            <a:srgbClr val="A89984"/>
                          </a:solidFill>
                          <a:latin typeface="Droid Sans Mono"/>
                          <a:ea typeface="Droid Sans Mono"/>
                          <a:cs typeface="Droid Sans Mono"/>
                        </a:rPr>
                        <a:t>,</a:t>
                      </a:r>
                      <a:r>
                        <a:rPr sz="1000" b="0" i="0" u="none">
                          <a:solidFill>
                            <a:srgbClr val="EBDBB2"/>
                          </a:solidFill>
                          <a:latin typeface="Droid Sans Mono"/>
                          <a:ea typeface="Droid Sans Mono"/>
                          <a:cs typeface="Droid Sans Mono"/>
                        </a:rPr>
                        <a:t> </a:t>
                      </a:r>
                      <a:r>
                        <a:rPr sz="1000" b="0" i="0" u="none">
                          <a:solidFill>
                            <a:srgbClr val="A89984"/>
                          </a:solidFill>
                          <a:latin typeface="Droid Sans Mono"/>
                          <a:ea typeface="Droid Sans Mono"/>
                          <a:cs typeface="Droid Sans Mono"/>
                        </a:rPr>
                        <a:t>"</a:t>
                      </a:r>
                      <a:r>
                        <a:rPr sz="1000" b="0" i="0" u="none">
                          <a:solidFill>
                            <a:srgbClr val="B8BB26"/>
                          </a:solidFill>
                          <a:latin typeface="Droid Sans Mono"/>
                          <a:ea typeface="Droid Sans Mono"/>
                          <a:cs typeface="Droid Sans Mono"/>
                        </a:rPr>
                        <a:t>species</a:t>
                      </a:r>
                      <a:r>
                        <a:rPr sz="1000" b="0" i="0" u="none">
                          <a:solidFill>
                            <a:srgbClr val="A89984"/>
                          </a:solidFill>
                          <a:latin typeface="Droid Sans Mono"/>
                          <a:ea typeface="Droid Sans Mono"/>
                          <a:cs typeface="Droid Sans Mono"/>
                        </a:rPr>
                        <a:t>"</a:t>
                      </a:r>
                      <a:r>
                        <a:rPr sz="1000" b="0" i="0" u="none">
                          <a:solidFill>
                            <a:srgbClr val="A89984"/>
                          </a:solidFill>
                          <a:latin typeface="Droid Sans Mono"/>
                          <a:ea typeface="Droid Sans Mono"/>
                          <a:cs typeface="Droid Sans Mono"/>
                        </a:rPr>
                        <a:t>,</a:t>
                      </a:r>
                      <a:r>
                        <a:rPr sz="1000" b="0" i="0" u="none">
                          <a:solidFill>
                            <a:srgbClr val="EBDBB2"/>
                          </a:solidFill>
                          <a:latin typeface="Droid Sans Mono"/>
                          <a:ea typeface="Droid Sans Mono"/>
                          <a:cs typeface="Droid Sans Mono"/>
                        </a:rPr>
                        <a:t> </a:t>
                      </a:r>
                      <a:r>
                        <a:rPr sz="1000" b="0" i="0" u="none">
                          <a:solidFill>
                            <a:srgbClr val="A89984"/>
                          </a:solidFill>
                          <a:latin typeface="Droid Sans Mono"/>
                          <a:ea typeface="Droid Sans Mono"/>
                          <a:cs typeface="Droid Sans Mono"/>
                        </a:rPr>
                        <a:t>"</a:t>
                      </a:r>
                      <a:r>
                        <a:rPr sz="1000" b="0" i="0" u="none">
                          <a:solidFill>
                            <a:srgbClr val="B8BB26"/>
                          </a:solidFill>
                          <a:latin typeface="Droid Sans Mono"/>
                          <a:ea typeface="Droid Sans Mono"/>
                          <a:cs typeface="Droid Sans Mono"/>
                        </a:rPr>
                        <a:t>variety</a:t>
                      </a:r>
                      <a:r>
                        <a:rPr sz="1000" b="0" i="0" u="none">
                          <a:solidFill>
                            <a:srgbClr val="A89984"/>
                          </a:solidFill>
                          <a:latin typeface="Droid Sans Mono"/>
                          <a:ea typeface="Droid Sans Mono"/>
                          <a:cs typeface="Droid Sans Mono"/>
                        </a:rPr>
                        <a:t>"</a:t>
                      </a:r>
                      <a:r>
                        <a:rPr sz="1000" b="0" i="0" u="none">
                          <a:solidFill>
                            <a:srgbClr val="A89984"/>
                          </a:solidFill>
                          <a:latin typeface="Droid Sans Mono"/>
                          <a:ea typeface="Droid Sans Mono"/>
                          <a:cs typeface="Droid Sans Mono"/>
                        </a:rPr>
                        <a:t>,</a:t>
                      </a:r>
                      <a:r>
                        <a:rPr sz="1000" b="0" i="0" u="none">
                          <a:solidFill>
                            <a:srgbClr val="EBDBB2"/>
                          </a:solidFill>
                          <a:latin typeface="Droid Sans Mono"/>
                          <a:ea typeface="Droid Sans Mono"/>
                          <a:cs typeface="Droid Sans Mono"/>
                        </a:rPr>
                        <a:t> </a:t>
                      </a:r>
                      <a:r>
                        <a:rPr sz="1000" b="0" i="0" u="none">
                          <a:solidFill>
                            <a:srgbClr val="A89984"/>
                          </a:solidFill>
                          <a:latin typeface="Droid Sans Mono"/>
                          <a:ea typeface="Droid Sans Mono"/>
                          <a:cs typeface="Droid Sans Mono"/>
                        </a:rPr>
                        <a:t>"</a:t>
                      </a:r>
                      <a:r>
                        <a:rPr sz="1000" b="0" i="0" u="none">
                          <a:solidFill>
                            <a:srgbClr val="B8BB26"/>
                          </a:solidFill>
                          <a:latin typeface="Droid Sans Mono"/>
                          <a:ea typeface="Droid Sans Mono"/>
                          <a:cs typeface="Droid Sans Mono"/>
                        </a:rPr>
                        <a:t>family</a:t>
                      </a:r>
                      <a:r>
                        <a:rPr sz="1000" b="0" i="0" u="none">
                          <a:solidFill>
                            <a:srgbClr val="A89984"/>
                          </a:solidFill>
                          <a:latin typeface="Droid Sans Mono"/>
                          <a:ea typeface="Droid Sans Mono"/>
                          <a:cs typeface="Droid Sans Mono"/>
                        </a:rPr>
                        <a:t>"</a:t>
                      </a:r>
                      <a:r>
                        <a:rPr sz="1000" b="0" i="0" u="none">
                          <a:solidFill>
                            <a:srgbClr val="A89984"/>
                          </a:solidFill>
                          <a:latin typeface="Droid Sans Mono"/>
                          <a:ea typeface="Droid Sans Mono"/>
                          <a:cs typeface="Droid Sans Mono"/>
                        </a:rPr>
                        <a:t>,</a:t>
                      </a:r>
                      <a:r>
                        <a:rPr sz="1000" b="0" i="0" u="none">
                          <a:solidFill>
                            <a:srgbClr val="EBDBB2"/>
                          </a:solidFill>
                          <a:latin typeface="Droid Sans Mono"/>
                          <a:ea typeface="Droid Sans Mono"/>
                          <a:cs typeface="Droid Sans Mono"/>
                        </a:rPr>
                        <a:t> </a:t>
                      </a:r>
                      <a:r>
                        <a:rPr sz="1000" b="0" i="0" u="none">
                          <a:solidFill>
                            <a:srgbClr val="A89984"/>
                          </a:solidFill>
                          <a:latin typeface="Droid Sans Mono"/>
                          <a:ea typeface="Droid Sans Mono"/>
                          <a:cs typeface="Droid Sans Mono"/>
                        </a:rPr>
                        <a:t>"</a:t>
                      </a:r>
                      <a:r>
                        <a:rPr sz="1000" b="0" i="0" u="none">
                          <a:solidFill>
                            <a:srgbClr val="B8BB26"/>
                          </a:solidFill>
                          <a:latin typeface="Droid Sans Mono"/>
                          <a:ea typeface="Droid Sans Mono"/>
                          <a:cs typeface="Droid Sans Mono"/>
                        </a:rPr>
                        <a:t>genus</a:t>
                      </a:r>
                      <a:r>
                        <a:rPr sz="1000" b="0" i="0" u="none">
                          <a:solidFill>
                            <a:srgbClr val="A89984"/>
                          </a:solidFill>
                          <a:latin typeface="Droid Sans Mono"/>
                          <a:ea typeface="Droid Sans Mono"/>
                          <a:cs typeface="Droid Sans Mono"/>
                        </a:rPr>
                        <a:t>"</a:t>
                      </a:r>
                      <a:endParaRPr sz="1200" b="0"/>
                    </a:p>
                  </a:txBody>
                  <a:tcPr>
                    <a:lnL w="6349" algn="ctr">
                      <a:solidFill>
                        <a:srgbClr val="000000"/>
                      </a:solidFill>
                    </a:lnL>
                    <a:lnR w="6349" algn="ctr">
                      <a:solidFill>
                        <a:srgbClr val="000000"/>
                      </a:solidFill>
                    </a:lnR>
                    <a:lnT w="6349" algn="ctr">
                      <a:solidFill>
                        <a:srgbClr val="000000"/>
                      </a:solidFill>
                    </a:lnT>
                    <a:lnB w="6349" algn="ctr">
                      <a:solidFill>
                        <a:srgbClr val="000000"/>
                      </a:solidFill>
                    </a:lnB>
                  </a:tcPr>
                </a:tc>
                <a:tc>
                  <a:txBody>
                    <a:bodyPr/>
                    <a:p>
                      <a:pPr>
                        <a:defRPr/>
                      </a:pPr>
                      <a:r>
                        <a:rPr sz="1000" b="0" i="0" u="none">
                          <a:solidFill>
                            <a:srgbClr val="A89984"/>
                          </a:solidFill>
                          <a:latin typeface="Droid Sans Mono"/>
                          <a:ea typeface="Droid Sans Mono"/>
                          <a:cs typeface="Droid Sans Mono"/>
                        </a:rPr>
                        <a:t>"</a:t>
                      </a:r>
                      <a:r>
                        <a:rPr sz="1000" b="0" i="0" u="none">
                          <a:solidFill>
                            <a:srgbClr val="B8BB26"/>
                          </a:solidFill>
                          <a:latin typeface="Droid Sans Mono"/>
                          <a:ea typeface="Droid Sans Mono"/>
                          <a:cs typeface="Droid Sans Mono"/>
                        </a:rPr>
                        <a:t>part</a:t>
                      </a:r>
                      <a:r>
                        <a:rPr sz="1000" b="0" i="0" u="none">
                          <a:solidFill>
                            <a:srgbClr val="A89984"/>
                          </a:solidFill>
                          <a:latin typeface="Droid Sans Mono"/>
                          <a:ea typeface="Droid Sans Mono"/>
                          <a:cs typeface="Droid Sans Mono"/>
                        </a:rPr>
                        <a:t>"</a:t>
                      </a:r>
                      <a:r>
                        <a:rPr sz="1000" b="0" i="0" u="none">
                          <a:solidFill>
                            <a:srgbClr val="A89984"/>
                          </a:solidFill>
                          <a:latin typeface="Droid Sans Mono"/>
                          <a:ea typeface="Droid Sans Mono"/>
                          <a:cs typeface="Droid Sans Mono"/>
                        </a:rPr>
                        <a:t>,</a:t>
                      </a:r>
                      <a:r>
                        <a:rPr sz="1000" b="0" i="0" u="none">
                          <a:solidFill>
                            <a:srgbClr val="EBDBB2"/>
                          </a:solidFill>
                          <a:latin typeface="Droid Sans Mono"/>
                          <a:ea typeface="Droid Sans Mono"/>
                          <a:cs typeface="Droid Sans Mono"/>
                        </a:rPr>
                        <a:t> </a:t>
                      </a:r>
                      <a:r>
                        <a:rPr sz="1000" b="0" i="0" u="none">
                          <a:solidFill>
                            <a:srgbClr val="A89984"/>
                          </a:solidFill>
                          <a:latin typeface="Droid Sans Mono"/>
                          <a:ea typeface="Droid Sans Mono"/>
                          <a:cs typeface="Droid Sans Mono"/>
                        </a:rPr>
                        <a:t>"</a:t>
                      </a:r>
                      <a:r>
                        <a:rPr sz="1000" b="0" i="0" u="none">
                          <a:solidFill>
                            <a:srgbClr val="B8BB26"/>
                          </a:solidFill>
                          <a:latin typeface="Droid Sans Mono"/>
                          <a:ea typeface="Droid Sans Mono"/>
                          <a:cs typeface="Droid Sans Mono"/>
                        </a:rPr>
                        <a:t>member</a:t>
                      </a:r>
                      <a:r>
                        <a:rPr sz="1000" b="0" i="0" u="none">
                          <a:solidFill>
                            <a:srgbClr val="A89984"/>
                          </a:solidFill>
                          <a:latin typeface="Droid Sans Mono"/>
                          <a:ea typeface="Droid Sans Mono"/>
                          <a:cs typeface="Droid Sans Mono"/>
                        </a:rPr>
                        <a:t>"</a:t>
                      </a:r>
                      <a:r>
                        <a:rPr sz="1000" b="0" i="0" u="none">
                          <a:solidFill>
                            <a:srgbClr val="A89984"/>
                          </a:solidFill>
                          <a:latin typeface="Droid Sans Mono"/>
                          <a:ea typeface="Droid Sans Mono"/>
                          <a:cs typeface="Droid Sans Mono"/>
                        </a:rPr>
                        <a:t>,</a:t>
                      </a:r>
                      <a:r>
                        <a:rPr sz="1000" b="0" i="0" u="none">
                          <a:solidFill>
                            <a:srgbClr val="EBDBB2"/>
                          </a:solidFill>
                          <a:latin typeface="Droid Sans Mono"/>
                          <a:ea typeface="Droid Sans Mono"/>
                          <a:cs typeface="Droid Sans Mono"/>
                        </a:rPr>
                        <a:t> </a:t>
                      </a:r>
                      <a:r>
                        <a:rPr sz="1000" b="0" i="0" u="none">
                          <a:solidFill>
                            <a:srgbClr val="A89984"/>
                          </a:solidFill>
                          <a:latin typeface="Droid Sans Mono"/>
                          <a:ea typeface="Droid Sans Mono"/>
                          <a:cs typeface="Droid Sans Mono"/>
                        </a:rPr>
                        <a:t>"</a:t>
                      </a:r>
                      <a:r>
                        <a:rPr sz="1000" b="0" i="0" u="none">
                          <a:solidFill>
                            <a:srgbClr val="B8BB26"/>
                          </a:solidFill>
                          <a:latin typeface="Droid Sans Mono"/>
                          <a:ea typeface="Droid Sans Mono"/>
                          <a:cs typeface="Droid Sans Mono"/>
                        </a:rPr>
                        <a:t>component</a:t>
                      </a:r>
                      <a:r>
                        <a:rPr sz="1000" b="0" i="0" u="none">
                          <a:solidFill>
                            <a:srgbClr val="A89984"/>
                          </a:solidFill>
                          <a:latin typeface="Droid Sans Mono"/>
                          <a:ea typeface="Droid Sans Mono"/>
                          <a:cs typeface="Droid Sans Mono"/>
                        </a:rPr>
                        <a:t>"</a:t>
                      </a:r>
                      <a:r>
                        <a:rPr sz="1000" b="0" i="0" u="none">
                          <a:solidFill>
                            <a:srgbClr val="A89984"/>
                          </a:solidFill>
                          <a:latin typeface="Droid Sans Mono"/>
                          <a:ea typeface="Droid Sans Mono"/>
                          <a:cs typeface="Droid Sans Mono"/>
                        </a:rPr>
                        <a:t>,</a:t>
                      </a:r>
                      <a:r>
                        <a:rPr sz="1000" b="0" i="0" u="none">
                          <a:solidFill>
                            <a:srgbClr val="EBDBB2"/>
                          </a:solidFill>
                          <a:latin typeface="Droid Sans Mono"/>
                          <a:ea typeface="Droid Sans Mono"/>
                          <a:cs typeface="Droid Sans Mono"/>
                        </a:rPr>
                        <a:t> </a:t>
                      </a:r>
                      <a:r>
                        <a:rPr sz="1000" b="0" i="0" u="none">
                          <a:solidFill>
                            <a:srgbClr val="A89984"/>
                          </a:solidFill>
                          <a:latin typeface="Droid Sans Mono"/>
                          <a:ea typeface="Droid Sans Mono"/>
                          <a:cs typeface="Droid Sans Mono"/>
                        </a:rPr>
                        <a:t>"</a:t>
                      </a:r>
                      <a:r>
                        <a:rPr sz="1000" b="0" i="0" u="none">
                          <a:solidFill>
                            <a:srgbClr val="B8BB26"/>
                          </a:solidFill>
                          <a:latin typeface="Droid Sans Mono"/>
                          <a:ea typeface="Droid Sans Mono"/>
                          <a:cs typeface="Droid Sans Mono"/>
                        </a:rPr>
                        <a:t>piece</a:t>
                      </a:r>
                      <a:r>
                        <a:rPr sz="1000" b="0" i="0" u="none">
                          <a:solidFill>
                            <a:srgbClr val="A89984"/>
                          </a:solidFill>
                          <a:latin typeface="Droid Sans Mono"/>
                          <a:ea typeface="Droid Sans Mono"/>
                          <a:cs typeface="Droid Sans Mono"/>
                        </a:rPr>
                        <a:t>"</a:t>
                      </a:r>
                      <a:r>
                        <a:rPr sz="1000" b="0" i="0" u="none">
                          <a:solidFill>
                            <a:srgbClr val="A89984"/>
                          </a:solidFill>
                          <a:latin typeface="Droid Sans Mono"/>
                          <a:ea typeface="Droid Sans Mono"/>
                          <a:cs typeface="Droid Sans Mono"/>
                        </a:rPr>
                        <a:t>,</a:t>
                      </a:r>
                      <a:r>
                        <a:rPr sz="1000" b="0" i="0" u="none">
                          <a:solidFill>
                            <a:srgbClr val="EBDBB2"/>
                          </a:solidFill>
                          <a:latin typeface="Droid Sans Mono"/>
                          <a:ea typeface="Droid Sans Mono"/>
                          <a:cs typeface="Droid Sans Mono"/>
                        </a:rPr>
                        <a:t> </a:t>
                      </a:r>
                      <a:r>
                        <a:rPr sz="1000" b="0" i="0" u="none">
                          <a:solidFill>
                            <a:srgbClr val="A89984"/>
                          </a:solidFill>
                          <a:latin typeface="Droid Sans Mono"/>
                          <a:ea typeface="Droid Sans Mono"/>
                          <a:cs typeface="Droid Sans Mono"/>
                        </a:rPr>
                        <a:t>"</a:t>
                      </a:r>
                      <a:r>
                        <a:rPr sz="1000" b="0" i="0" u="none">
                          <a:solidFill>
                            <a:srgbClr val="B8BB26"/>
                          </a:solidFill>
                          <a:latin typeface="Droid Sans Mono"/>
                          <a:ea typeface="Droid Sans Mono"/>
                          <a:cs typeface="Droid Sans Mono"/>
                        </a:rPr>
                        <a:t>element</a:t>
                      </a:r>
                      <a:r>
                        <a:rPr sz="1000" b="0" i="0" u="none">
                          <a:solidFill>
                            <a:srgbClr val="A89984"/>
                          </a:solidFill>
                          <a:latin typeface="Droid Sans Mono"/>
                          <a:ea typeface="Droid Sans Mono"/>
                          <a:cs typeface="Droid Sans Mono"/>
                        </a:rPr>
                        <a:t>"</a:t>
                      </a:r>
                      <a:r>
                        <a:rPr sz="1000" b="0" i="0" u="none">
                          <a:solidFill>
                            <a:srgbClr val="A89984"/>
                          </a:solidFill>
                          <a:latin typeface="Droid Sans Mono"/>
                          <a:ea typeface="Droid Sans Mono"/>
                          <a:cs typeface="Droid Sans Mono"/>
                        </a:rPr>
                        <a:t>,</a:t>
                      </a:r>
                      <a:r>
                        <a:rPr sz="1000" b="0" i="0" u="none">
                          <a:solidFill>
                            <a:srgbClr val="EBDBB2"/>
                          </a:solidFill>
                          <a:latin typeface="Droid Sans Mono"/>
                          <a:ea typeface="Droid Sans Mono"/>
                          <a:cs typeface="Droid Sans Mono"/>
                        </a:rPr>
                        <a:t> </a:t>
                      </a:r>
                      <a:r>
                        <a:rPr sz="1000" b="0" i="0" u="none">
                          <a:solidFill>
                            <a:srgbClr val="A89984"/>
                          </a:solidFill>
                          <a:latin typeface="Droid Sans Mono"/>
                          <a:ea typeface="Droid Sans Mono"/>
                          <a:cs typeface="Droid Sans Mono"/>
                        </a:rPr>
                        <a:t>"</a:t>
                      </a:r>
                      <a:r>
                        <a:rPr sz="1000" b="0" i="0" u="none">
                          <a:solidFill>
                            <a:srgbClr val="B8BB26"/>
                          </a:solidFill>
                          <a:latin typeface="Droid Sans Mono"/>
                          <a:ea typeface="Droid Sans Mono"/>
                          <a:cs typeface="Droid Sans Mono"/>
                        </a:rPr>
                        <a:t>section</a:t>
                      </a:r>
                      <a:r>
                        <a:rPr sz="1000" b="0" i="0" u="none">
                          <a:solidFill>
                            <a:srgbClr val="A89984"/>
                          </a:solidFill>
                          <a:latin typeface="Droid Sans Mono"/>
                          <a:ea typeface="Droid Sans Mono"/>
                          <a:cs typeface="Droid Sans Mono"/>
                        </a:rPr>
                        <a:t>"</a:t>
                      </a:r>
                      <a:r>
                        <a:rPr sz="1000" b="0" i="0" u="none">
                          <a:solidFill>
                            <a:srgbClr val="A89984"/>
                          </a:solidFill>
                          <a:latin typeface="Droid Sans Mono"/>
                          <a:ea typeface="Droid Sans Mono"/>
                          <a:cs typeface="Droid Sans Mono"/>
                        </a:rPr>
                        <a:t>,</a:t>
                      </a:r>
                      <a:r>
                        <a:rPr sz="1000" b="0" i="0" u="none">
                          <a:solidFill>
                            <a:srgbClr val="EBDBB2"/>
                          </a:solidFill>
                          <a:latin typeface="Droid Sans Mono"/>
                          <a:ea typeface="Droid Sans Mono"/>
                          <a:cs typeface="Droid Sans Mono"/>
                        </a:rPr>
                        <a:t> </a:t>
                      </a:r>
                      <a:r>
                        <a:rPr sz="1000" b="0" i="0" u="none">
                          <a:solidFill>
                            <a:srgbClr val="A89984"/>
                          </a:solidFill>
                          <a:latin typeface="Droid Sans Mono"/>
                          <a:ea typeface="Droid Sans Mono"/>
                          <a:cs typeface="Droid Sans Mono"/>
                        </a:rPr>
                        <a:t>"</a:t>
                      </a:r>
                      <a:r>
                        <a:rPr sz="1000" b="0" i="0" u="none">
                          <a:solidFill>
                            <a:srgbClr val="B8BB26"/>
                          </a:solidFill>
                          <a:latin typeface="Droid Sans Mono"/>
                          <a:ea typeface="Droid Sans Mono"/>
                          <a:cs typeface="Droid Sans Mono"/>
                        </a:rPr>
                        <a:t>fragment</a:t>
                      </a:r>
                      <a:r>
                        <a:rPr sz="1000" b="0" i="0" u="none">
                          <a:solidFill>
                            <a:srgbClr val="A89984"/>
                          </a:solidFill>
                          <a:latin typeface="Droid Sans Mono"/>
                          <a:ea typeface="Droid Sans Mono"/>
                          <a:cs typeface="Droid Sans Mono"/>
                        </a:rPr>
                        <a:t>"</a:t>
                      </a:r>
                      <a:r>
                        <a:rPr sz="1000" b="0" i="0" u="none">
                          <a:solidFill>
                            <a:srgbClr val="A89984"/>
                          </a:solidFill>
                          <a:latin typeface="Droid Sans Mono"/>
                          <a:ea typeface="Droid Sans Mono"/>
                          <a:cs typeface="Droid Sans Mono"/>
                        </a:rPr>
                        <a:t>,</a:t>
                      </a:r>
                      <a:r>
                        <a:rPr sz="1000" b="0" i="0" u="none">
                          <a:solidFill>
                            <a:srgbClr val="EBDBB2"/>
                          </a:solidFill>
                          <a:latin typeface="Droid Sans Mono"/>
                          <a:ea typeface="Droid Sans Mono"/>
                          <a:cs typeface="Droid Sans Mono"/>
                        </a:rPr>
                        <a:t> </a:t>
                      </a:r>
                      <a:r>
                        <a:rPr sz="1000" b="0" i="0" u="none">
                          <a:solidFill>
                            <a:srgbClr val="A89984"/>
                          </a:solidFill>
                          <a:latin typeface="Droid Sans Mono"/>
                          <a:ea typeface="Droid Sans Mono"/>
                          <a:cs typeface="Droid Sans Mono"/>
                        </a:rPr>
                        <a:t>"</a:t>
                      </a:r>
                      <a:r>
                        <a:rPr sz="1000" b="0" i="0" u="none">
                          <a:solidFill>
                            <a:srgbClr val="B8BB26"/>
                          </a:solidFill>
                          <a:latin typeface="Droid Sans Mono"/>
                          <a:ea typeface="Droid Sans Mono"/>
                          <a:cs typeface="Droid Sans Mono"/>
                        </a:rPr>
                        <a:t>portion</a:t>
                      </a:r>
                      <a:r>
                        <a:rPr sz="1000" b="0" i="0" u="none">
                          <a:solidFill>
                            <a:srgbClr val="A89984"/>
                          </a:solidFill>
                          <a:latin typeface="Droid Sans Mono"/>
                          <a:ea typeface="Droid Sans Mono"/>
                          <a:cs typeface="Droid Sans Mono"/>
                        </a:rPr>
                        <a:t>"</a:t>
                      </a:r>
                      <a:r>
                        <a:rPr sz="1000" b="0" i="0" u="none">
                          <a:solidFill>
                            <a:srgbClr val="A89984"/>
                          </a:solidFill>
                          <a:latin typeface="Droid Sans Mono"/>
                          <a:ea typeface="Droid Sans Mono"/>
                          <a:cs typeface="Droid Sans Mono"/>
                        </a:rPr>
                        <a:t>,</a:t>
                      </a:r>
                      <a:r>
                        <a:rPr sz="1000" b="0" i="0" u="none">
                          <a:solidFill>
                            <a:srgbClr val="EBDBB2"/>
                          </a:solidFill>
                          <a:latin typeface="Droid Sans Mono"/>
                          <a:ea typeface="Droid Sans Mono"/>
                          <a:cs typeface="Droid Sans Mono"/>
                        </a:rPr>
                        <a:t> </a:t>
                      </a:r>
                      <a:r>
                        <a:rPr sz="1000" b="0" i="0" u="none">
                          <a:solidFill>
                            <a:srgbClr val="A89984"/>
                          </a:solidFill>
                          <a:latin typeface="Droid Sans Mono"/>
                          <a:ea typeface="Droid Sans Mono"/>
                          <a:cs typeface="Droid Sans Mono"/>
                        </a:rPr>
                        <a:t>"</a:t>
                      </a:r>
                      <a:r>
                        <a:rPr sz="1000" b="0" i="0" u="none">
                          <a:solidFill>
                            <a:srgbClr val="B8BB26"/>
                          </a:solidFill>
                          <a:latin typeface="Droid Sans Mono"/>
                          <a:ea typeface="Droid Sans Mono"/>
                          <a:cs typeface="Droid Sans Mono"/>
                        </a:rPr>
                        <a:t>aspect</a:t>
                      </a:r>
                      <a:r>
                        <a:rPr sz="1000" b="0" i="0" u="none">
                          <a:solidFill>
                            <a:srgbClr val="A89984"/>
                          </a:solidFill>
                          <a:latin typeface="Droid Sans Mono"/>
                          <a:ea typeface="Droid Sans Mono"/>
                          <a:cs typeface="Droid Sans Mono"/>
                        </a:rPr>
                        <a:t>"</a:t>
                      </a:r>
                      <a:r>
                        <a:rPr sz="1000" b="0" i="0" u="none">
                          <a:solidFill>
                            <a:srgbClr val="A89984"/>
                          </a:solidFill>
                          <a:latin typeface="Droid Sans Mono"/>
                          <a:ea typeface="Droid Sans Mono"/>
                          <a:cs typeface="Droid Sans Mono"/>
                        </a:rPr>
                        <a:t>,</a:t>
                      </a:r>
                      <a:r>
                        <a:rPr sz="1000" b="0" i="0" u="none">
                          <a:solidFill>
                            <a:srgbClr val="EBDBB2"/>
                          </a:solidFill>
                          <a:latin typeface="Droid Sans Mono"/>
                          <a:ea typeface="Droid Sans Mono"/>
                          <a:cs typeface="Droid Sans Mono"/>
                        </a:rPr>
                        <a:t> </a:t>
                      </a:r>
                      <a:r>
                        <a:rPr sz="1000" b="0" i="0" u="none">
                          <a:solidFill>
                            <a:srgbClr val="A89984"/>
                          </a:solidFill>
                          <a:latin typeface="Droid Sans Mono"/>
                          <a:ea typeface="Droid Sans Mono"/>
                          <a:cs typeface="Droid Sans Mono"/>
                        </a:rPr>
                        <a:t>"</a:t>
                      </a:r>
                      <a:r>
                        <a:rPr sz="1000" b="0" i="0" u="none">
                          <a:solidFill>
                            <a:srgbClr val="B8BB26"/>
                          </a:solidFill>
                          <a:latin typeface="Droid Sans Mono"/>
                          <a:ea typeface="Droid Sans Mono"/>
                          <a:cs typeface="Droid Sans Mono"/>
                        </a:rPr>
                        <a:t>feature</a:t>
                      </a:r>
                      <a:r>
                        <a:rPr sz="1000" b="0" i="0" u="none">
                          <a:solidFill>
                            <a:srgbClr val="A89984"/>
                          </a:solidFill>
                          <a:latin typeface="Droid Sans Mono"/>
                          <a:ea typeface="Droid Sans Mono"/>
                          <a:cs typeface="Droid Sans Mono"/>
                        </a:rPr>
                        <a:t>"</a:t>
                      </a:r>
                      <a:r>
                        <a:rPr sz="1000" b="0" i="0" u="none">
                          <a:solidFill>
                            <a:srgbClr val="A89984"/>
                          </a:solidFill>
                          <a:latin typeface="Droid Sans Mono"/>
                          <a:ea typeface="Droid Sans Mono"/>
                          <a:cs typeface="Droid Sans Mono"/>
                        </a:rPr>
                        <a:t>,</a:t>
                      </a:r>
                      <a:r>
                        <a:rPr sz="1000" b="0" i="0" u="none">
                          <a:solidFill>
                            <a:srgbClr val="EBDBB2"/>
                          </a:solidFill>
                          <a:latin typeface="Droid Sans Mono"/>
                          <a:ea typeface="Droid Sans Mono"/>
                          <a:cs typeface="Droid Sans Mono"/>
                        </a:rPr>
                        <a:t> </a:t>
                      </a:r>
                      <a:r>
                        <a:rPr sz="1000" b="0" i="0" u="none">
                          <a:solidFill>
                            <a:srgbClr val="A89984"/>
                          </a:solidFill>
                          <a:latin typeface="Droid Sans Mono"/>
                          <a:ea typeface="Droid Sans Mono"/>
                          <a:cs typeface="Droid Sans Mono"/>
                        </a:rPr>
                        <a:t>"</a:t>
                      </a:r>
                      <a:r>
                        <a:rPr sz="1000" b="0" i="0" u="none">
                          <a:solidFill>
                            <a:srgbClr val="B8BB26"/>
                          </a:solidFill>
                          <a:latin typeface="Droid Sans Mono"/>
                          <a:ea typeface="Droid Sans Mono"/>
                          <a:cs typeface="Droid Sans Mono"/>
                        </a:rPr>
                        <a:t>attribute</a:t>
                      </a:r>
                      <a:r>
                        <a:rPr sz="1000" b="0" i="0" u="none">
                          <a:solidFill>
                            <a:srgbClr val="A89984"/>
                          </a:solidFill>
                          <a:latin typeface="Droid Sans Mono"/>
                          <a:ea typeface="Droid Sans Mono"/>
                          <a:cs typeface="Droid Sans Mono"/>
                        </a:rPr>
                        <a:t>"</a:t>
                      </a:r>
                      <a:r>
                        <a:rPr sz="1000" b="0" i="0" u="none">
                          <a:solidFill>
                            <a:srgbClr val="A89984"/>
                          </a:solidFill>
                          <a:latin typeface="Droid Sans Mono"/>
                          <a:ea typeface="Droid Sans Mono"/>
                          <a:cs typeface="Droid Sans Mono"/>
                        </a:rPr>
                        <a:t>,</a:t>
                      </a:r>
                      <a:r>
                        <a:rPr sz="1000" b="0" i="0" u="none">
                          <a:solidFill>
                            <a:srgbClr val="EBDBB2"/>
                          </a:solidFill>
                          <a:latin typeface="Droid Sans Mono"/>
                          <a:ea typeface="Droid Sans Mono"/>
                          <a:cs typeface="Droid Sans Mono"/>
                        </a:rPr>
                        <a:t> </a:t>
                      </a:r>
                      <a:r>
                        <a:rPr sz="1000" b="0" i="0" u="none">
                          <a:solidFill>
                            <a:srgbClr val="A89984"/>
                          </a:solidFill>
                          <a:latin typeface="Droid Sans Mono"/>
                          <a:ea typeface="Droid Sans Mono"/>
                          <a:cs typeface="Droid Sans Mono"/>
                        </a:rPr>
                        <a:t>"</a:t>
                      </a:r>
                      <a:r>
                        <a:rPr sz="1000" b="0" i="0" u="none">
                          <a:solidFill>
                            <a:srgbClr val="B8BB26"/>
                          </a:solidFill>
                          <a:latin typeface="Droid Sans Mono"/>
                          <a:ea typeface="Droid Sans Mono"/>
                          <a:cs typeface="Droid Sans Mono"/>
                        </a:rPr>
                        <a:t>property</a:t>
                      </a:r>
                      <a:r>
                        <a:rPr sz="1000" b="0" i="0" u="none">
                          <a:solidFill>
                            <a:srgbClr val="A89984"/>
                          </a:solidFill>
                          <a:latin typeface="Droid Sans Mono"/>
                          <a:ea typeface="Droid Sans Mono"/>
                          <a:cs typeface="Droid Sans Mono"/>
                        </a:rPr>
                        <a:t>"</a:t>
                      </a:r>
                      <a:r>
                        <a:rPr sz="1000" b="0" i="0" u="none">
                          <a:solidFill>
                            <a:srgbClr val="A89984"/>
                          </a:solidFill>
                          <a:latin typeface="Droid Sans Mono"/>
                          <a:ea typeface="Droid Sans Mono"/>
                          <a:cs typeface="Droid Sans Mono"/>
                        </a:rPr>
                        <a:t>,</a:t>
                      </a:r>
                      <a:r>
                        <a:rPr sz="1000" b="0" i="0" u="none">
                          <a:solidFill>
                            <a:srgbClr val="EBDBB2"/>
                          </a:solidFill>
                          <a:latin typeface="Droid Sans Mono"/>
                          <a:ea typeface="Droid Sans Mono"/>
                          <a:cs typeface="Droid Sans Mono"/>
                        </a:rPr>
                        <a:t> </a:t>
                      </a:r>
                      <a:r>
                        <a:rPr sz="1000" b="0" i="0" u="none">
                          <a:solidFill>
                            <a:srgbClr val="A89984"/>
                          </a:solidFill>
                          <a:latin typeface="Droid Sans Mono"/>
                          <a:ea typeface="Droid Sans Mono"/>
                          <a:cs typeface="Droid Sans Mono"/>
                        </a:rPr>
                        <a:t>"</a:t>
                      </a:r>
                      <a:r>
                        <a:rPr sz="1000" b="0" i="0" u="none">
                          <a:solidFill>
                            <a:srgbClr val="B8BB26"/>
                          </a:solidFill>
                          <a:latin typeface="Droid Sans Mono"/>
                          <a:ea typeface="Droid Sans Mono"/>
                          <a:cs typeface="Droid Sans Mono"/>
                        </a:rPr>
                        <a:t>role</a:t>
                      </a:r>
                      <a:r>
                        <a:rPr sz="1000" b="0" i="0" u="none">
                          <a:solidFill>
                            <a:srgbClr val="A89984"/>
                          </a:solidFill>
                          <a:latin typeface="Droid Sans Mono"/>
                          <a:ea typeface="Droid Sans Mono"/>
                          <a:cs typeface="Droid Sans Mono"/>
                        </a:rPr>
                        <a:t>"</a:t>
                      </a:r>
                      <a:endParaRPr sz="1200" b="0"/>
                    </a:p>
                  </a:txBody>
                  <a:tcPr>
                    <a:lnL w="6349" algn="ctr">
                      <a:solidFill>
                        <a:srgbClr val="000000"/>
                      </a:solidFill>
                    </a:lnL>
                    <a:lnR w="6349" algn="ctr">
                      <a:solidFill>
                        <a:srgbClr val="000000"/>
                      </a:solidFill>
                    </a:lnR>
                    <a:lnT w="6349" algn="ctr">
                      <a:solidFill>
                        <a:srgbClr val="000000"/>
                      </a:solidFill>
                    </a:lnT>
                    <a:lnB w="6349" algn="ctr">
                      <a:solidFill>
                        <a:srgbClr val="000000"/>
                      </a:solidFill>
                    </a:lnB>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2600452" name="Google Shape;106;p25"/>
          <p:cNvSpPr txBox="1"/>
          <p:nvPr>
            <p:ph type="title"/>
          </p:nvPr>
        </p:nvSpPr>
        <p:spPr bwMode="auto">
          <a:xfrm>
            <a:off x="720000" y="342631"/>
            <a:ext cx="7704000" cy="572699"/>
          </a:xfrm>
          <a:prstGeom prst="rect">
            <a:avLst/>
          </a:prstGeom>
        </p:spPr>
        <p:txBody>
          <a:bodyPr spcFirstLastPara="1" wrap="square" lIns="91424" tIns="91424" rIns="91424" bIns="91424" anchor="t" anchorCtr="0">
            <a:noAutofit/>
          </a:bodyPr>
          <a:lstStyle/>
          <a:p>
            <a:pPr marL="0" lvl="0" indent="0" algn="l" rtl="0">
              <a:spcBef>
                <a:spcPts val="0"/>
              </a:spcBef>
              <a:spcAft>
                <a:spcPts val="0"/>
              </a:spcAft>
              <a:buNone/>
              <a:defRPr/>
            </a:pPr>
            <a:r>
              <a:rPr lang="it-IT"/>
              <a:t>0-Shot verbalizers</a:t>
            </a:r>
            <a:endParaRPr/>
          </a:p>
        </p:txBody>
      </p:sp>
      <p:sp>
        <p:nvSpPr>
          <p:cNvPr id="199346850" name="Google Shape;107;p25"/>
          <p:cNvSpPr txBox="1"/>
          <p:nvPr>
            <p:ph type="body" idx="1"/>
          </p:nvPr>
        </p:nvSpPr>
        <p:spPr bwMode="auto">
          <a:xfrm flipH="0" flipV="0">
            <a:off x="720000" y="922574"/>
            <a:ext cx="7704000" cy="3768487"/>
          </a:xfrm>
          <a:prstGeom prst="rect">
            <a:avLst/>
          </a:prstGeom>
        </p:spPr>
        <p:txBody>
          <a:bodyPr spcFirstLastPara="1" wrap="square" lIns="91424" tIns="91424" rIns="91424" bIns="91424" anchor="t" anchorCtr="0">
            <a:noAutofit/>
          </a:bodyPr>
          <a:lstStyle/>
          <a:p>
            <a:pPr marL="0" lvl="0" indent="0" algn="l" rtl="0">
              <a:spcBef>
                <a:spcPts val="0"/>
              </a:spcBef>
              <a:spcAft>
                <a:spcPts val="0"/>
              </a:spcAft>
              <a:buNone/>
              <a:defRPr/>
            </a:pPr>
            <a:r>
              <a:rPr lang="it-IT"/>
              <a:t>As said before: by following LMAOSI’s paper first experiment we implement some 0-shot verbalizers. Wich means keeping the whole model (Bert / RoBerta) for prediction of &lt;mask&gt; token.  .</a:t>
            </a:r>
            <a:endParaRPr lang="it-IT"/>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marR="0" lvl="0" indent="0" algn="l" rtl="0">
              <a:lnSpc>
                <a:spcPct val="100000"/>
              </a:lnSpc>
              <a:spcBef>
                <a:spcPts val="0"/>
              </a:spcBef>
              <a:spcAft>
                <a:spcPts val="0"/>
              </a:spcAft>
              <a:buClr>
                <a:schemeClr val="dk1"/>
              </a:buClr>
              <a:buSzPts val="1200"/>
              <a:buFont typeface="Nunito Light"/>
              <a:buNone/>
              <a:defRPr/>
            </a:pPr>
            <a:r>
              <a:rPr lang="it-IT" sz="1200" b="0" i="0" u="none" strike="noStrike" cap="none" spc="0">
                <a:solidFill>
                  <a:schemeClr val="dk1"/>
                </a:solidFill>
                <a:latin typeface="DM Sans"/>
                <a:ea typeface="DM Sans"/>
                <a:cs typeface="DM Sans"/>
              </a:rPr>
              <a:t>As </a:t>
            </a:r>
            <a:r>
              <a:rPr lang="it-IT" sz="1200" b="0" i="0" u="none" strike="noStrike" cap="none" spc="0">
                <a:solidFill>
                  <a:schemeClr val="dk1"/>
                </a:solidFill>
                <a:latin typeface="DM Sans"/>
                <a:ea typeface="DM Sans"/>
                <a:cs typeface="DM Sans"/>
              </a:rPr>
              <a:t>we can s</a:t>
            </a:r>
            <a:r>
              <a:rPr lang="it-IT" sz="1200" b="0" i="0" u="none" strike="noStrike" cap="none" spc="0">
                <a:solidFill>
                  <a:schemeClr val="dk1"/>
                </a:solidFill>
                <a:latin typeface="DM Sans"/>
                <a:ea typeface="DM Sans"/>
                <a:cs typeface="DM Sans"/>
              </a:rPr>
              <a:t>ee the results using </a:t>
            </a:r>
            <a:r>
              <a:rPr lang="it-IT" sz="1200" b="1" i="0" u="none" strike="noStrike" cap="none" spc="0">
                <a:solidFill>
                  <a:schemeClr val="dk1"/>
                </a:solidFill>
                <a:latin typeface="DM Sans"/>
                <a:ea typeface="DM Sans"/>
                <a:cs typeface="DM Sans"/>
              </a:rPr>
              <a:t>PRONTO’s prompt always exceeds the ones obtained in the LMAOSI's paper with 0-sho</a:t>
            </a:r>
            <a:r>
              <a:rPr lang="it-IT" sz="1200" b="1" i="0" u="none" strike="noStrike" cap="none" spc="0">
                <a:solidFill>
                  <a:schemeClr val="tx1"/>
                </a:solidFill>
                <a:latin typeface="DM Sans"/>
                <a:ea typeface="DM Sans"/>
                <a:cs typeface="DM Sans"/>
              </a:rPr>
              <a:t>t</a:t>
            </a:r>
            <a:r>
              <a:rPr lang="it-IT" sz="1200" b="1" i="0" u="none" strike="noStrike" cap="none" spc="0">
                <a:solidFill>
                  <a:schemeClr val="dk1"/>
                </a:solidFill>
                <a:latin typeface="DM Sans"/>
                <a:ea typeface="DM Sans"/>
                <a:cs typeface="DM Sans"/>
              </a:rPr>
              <a:t>. </a:t>
            </a:r>
            <a:r>
              <a:rPr lang="it-IT" sz="1200" b="0" i="0" u="none" strike="noStrike" cap="none" spc="0">
                <a:solidFill>
                  <a:schemeClr val="dk1"/>
                </a:solidFill>
                <a:latin typeface="DM Sans"/>
                <a:ea typeface="DM Sans"/>
                <a:cs typeface="DM Sans"/>
              </a:rPr>
              <a:t>The fact that this prompt is slightly different, </a:t>
            </a:r>
            <a:r>
              <a:rPr lang="it-IT" sz="1200" b="0" i="0" u="none" strike="noStrike" cap="none" spc="0">
                <a:solidFill>
                  <a:schemeClr val="dk1"/>
                </a:solidFill>
                <a:latin typeface="DM Sans"/>
                <a:ea typeface="DM Sans"/>
                <a:cs typeface="DM Sans"/>
              </a:rPr>
              <a:t>suggests to us that i</a:t>
            </a:r>
            <a:r>
              <a:rPr lang="it-IT" sz="1200" b="0" i="0" u="none" strike="noStrike" cap="none" spc="0">
                <a:solidFill>
                  <a:schemeClr val="dk1"/>
                </a:solidFill>
                <a:latin typeface="DM Sans"/>
                <a:ea typeface="DM Sans"/>
                <a:cs typeface="DM Sans"/>
              </a:rPr>
              <a:t>t easier for the model to predict the right word.</a:t>
            </a:r>
            <a:endParaRPr lang="it-IT" sz="1200" b="0" i="0" u="none" strike="noStrike" cap="none" spc="0">
              <a:solidFill>
                <a:schemeClr val="dk1"/>
              </a:solidFill>
              <a:latin typeface="DM Sans"/>
              <a:ea typeface="DM Sans"/>
              <a:cs typeface="DM Sans"/>
            </a:endParaRPr>
          </a:p>
          <a:p>
            <a:pPr marL="0" marR="0" lvl="0" indent="0" algn="l" rtl="0">
              <a:lnSpc>
                <a:spcPct val="100000"/>
              </a:lnSpc>
              <a:spcBef>
                <a:spcPts val="0"/>
              </a:spcBef>
              <a:spcAft>
                <a:spcPts val="0"/>
              </a:spcAft>
              <a:buClr>
                <a:schemeClr val="dk1"/>
              </a:buClr>
              <a:buSzPts val="1200"/>
              <a:buFont typeface="Nunito Light"/>
              <a:buNone/>
              <a:defRPr/>
            </a:pPr>
            <a:endParaRPr/>
          </a:p>
          <a:p>
            <a:pPr marL="0" marR="0" lvl="0" indent="0" algn="l" rtl="0">
              <a:lnSpc>
                <a:spcPct val="100000"/>
              </a:lnSpc>
              <a:spcBef>
                <a:spcPts val="0"/>
              </a:spcBef>
              <a:spcAft>
                <a:spcPts val="0"/>
              </a:spcAft>
              <a:buClr>
                <a:schemeClr val="dk1"/>
              </a:buClr>
              <a:buSzPts val="1200"/>
              <a:buFont typeface="Nunito Light"/>
              <a:buNone/>
              <a:defRPr/>
            </a:pPr>
            <a:r>
              <a:rPr lang="it-IT" sz="1200" b="0" i="0" u="none" strike="noStrike" cap="none" spc="0">
                <a:solidFill>
                  <a:schemeClr val="dk1"/>
                </a:solidFill>
                <a:latin typeface="DM Sans"/>
                <a:ea typeface="DM Sans"/>
                <a:cs typeface="DM Sans"/>
              </a:rPr>
              <a:t>This suggests to us that </a:t>
            </a:r>
            <a:r>
              <a:rPr lang="it-IT" sz="1200" b="1" i="0" u="none" strike="noStrike" cap="none" spc="0">
                <a:solidFill>
                  <a:schemeClr val="dk1"/>
                </a:solidFill>
                <a:latin typeface="DM Sans"/>
                <a:ea typeface="DM Sans"/>
                <a:cs typeface="DM Sans"/>
              </a:rPr>
              <a:t>prompt engeneering might be extremely important in this studies</a:t>
            </a:r>
            <a:r>
              <a:rPr lang="it-IT" sz="1200" b="0" i="0" u="none" strike="noStrike" cap="none" spc="0">
                <a:solidFill>
                  <a:schemeClr val="dk1"/>
                </a:solidFill>
                <a:latin typeface="DM Sans"/>
                <a:ea typeface="DM Sans"/>
                <a:cs typeface="DM Sans"/>
              </a:rPr>
              <a:t>. From here we will try and validate said hypotesis with following experiments</a:t>
            </a:r>
            <a:endParaRPr/>
          </a:p>
        </p:txBody>
      </p:sp>
      <p:graphicFrame>
        <p:nvGraphicFramePr>
          <p:cNvPr id="840102915" name="Google Shape;108;p25"/>
          <p:cNvGraphicFramePr>
            <a:graphicFrameLocks xmlns:a="http://schemas.openxmlformats.org/drawingml/2006/main"/>
          </p:cNvGraphicFramePr>
          <p:nvPr/>
        </p:nvGraphicFramePr>
        <p:xfrm rot="0">
          <a:off x="1132312" y="1778705"/>
          <a:ext cx="6294984" cy="1459049"/>
        </p:xfrm>
        <a:graphic>
          <a:graphicData uri="http://schemas.openxmlformats.org/drawingml/2006/table">
            <a:tbl>
              <a:tblPr firstRow="0" firstCol="0" lastRow="0" lastCol="0" bandRow="0" bandCol="0">
                <a:tableStyleId>{EA37CDA1-CCFA-4E4F-8383-CC0F6BD98904}</a:tableStyleId>
                <a:noFill/>
              </a:tblPr>
              <a:tblGrid>
                <a:gridCol w="2160000"/>
                <a:gridCol w="1980000"/>
                <a:gridCol w="2145459"/>
              </a:tblGrid>
              <a:tr h="361525">
                <a:tc>
                  <a:txBody>
                    <a:bodyPr/>
                    <a:p>
                      <a:pPr marL="0" lvl="0" indent="0" algn="l" rtl="0">
                        <a:spcBef>
                          <a:spcPts val="0"/>
                        </a:spcBef>
                        <a:spcAft>
                          <a:spcPts val="0"/>
                        </a:spcAft>
                        <a:buNone/>
                        <a:defRPr/>
                      </a:pPr>
                      <a:endParaRPr sz="1000" b="1" u="sng">
                        <a:solidFill>
                          <a:schemeClr val="dk1"/>
                        </a:solidFill>
                        <a:latin typeface="DM Sans"/>
                        <a:ea typeface="DM Sans"/>
                        <a:cs typeface="DM Sans"/>
                      </a:endParaRPr>
                    </a:p>
                  </a:txBody>
                  <a:tcPr marL="91424" marR="91424" marT="0" marB="0" anchor="ctr">
                    <a:lnL w="9524" algn="ctr">
                      <a:solidFill>
                        <a:schemeClr val="dk1"/>
                      </a:solidFill>
                    </a:lnL>
                    <a:lnR w="9524" algn="ctr">
                      <a:solidFill>
                        <a:schemeClr val="dk1"/>
                      </a:solidFill>
                    </a:lnR>
                    <a:lnT w="9524" algn="ctr">
                      <a:solidFill>
                        <a:schemeClr val="dk1"/>
                      </a:solidFill>
                    </a:lnT>
                    <a:lnB w="9524" algn="ctr">
                      <a:solidFill>
                        <a:srgbClr val="595959">
                          <a:alpha val="0"/>
                        </a:srgbClr>
                      </a:solidFill>
                    </a:lnB>
                    <a:noFill/>
                  </a:tcPr>
                </a:tc>
                <a:tc>
                  <a:txBody>
                    <a:bodyPr/>
                    <a:p>
                      <a:pPr marL="0" lvl="0" indent="0" algn="l" rtl="0">
                        <a:spcBef>
                          <a:spcPts val="0"/>
                        </a:spcBef>
                        <a:spcAft>
                          <a:spcPts val="1599"/>
                        </a:spcAft>
                        <a:buNone/>
                        <a:defRPr/>
                      </a:pPr>
                      <a:r>
                        <a:rPr lang="it-IT" sz="1000" b="1">
                          <a:solidFill>
                            <a:schemeClr val="dk1"/>
                          </a:solidFill>
                          <a:latin typeface="DM Sans"/>
                          <a:ea typeface="DM Sans"/>
                          <a:cs typeface="DM Sans"/>
                        </a:rPr>
                        <a:t>BERT</a:t>
                      </a:r>
                      <a:endParaRPr sz="1000">
                        <a:solidFill>
                          <a:schemeClr val="dk1"/>
                        </a:solidFill>
                        <a:latin typeface="DM Sans"/>
                        <a:ea typeface="DM Sans"/>
                        <a:cs typeface="DM Sans"/>
                      </a:endParaRPr>
                    </a:p>
                  </a:txBody>
                  <a:tcPr marL="91424" marR="91424" marT="0" marB="0" anchor="ctr">
                    <a:lnL w="9524" algn="ctr">
                      <a:solidFill>
                        <a:schemeClr val="dk1"/>
                      </a:solidFill>
                    </a:lnL>
                    <a:lnR w="9524" algn="ctr">
                      <a:solidFill>
                        <a:schemeClr val="dk1"/>
                      </a:solidFill>
                    </a:lnR>
                    <a:lnT w="9524" algn="ctr">
                      <a:solidFill>
                        <a:schemeClr val="dk1"/>
                      </a:solidFill>
                    </a:lnT>
                    <a:lnB w="9524" algn="ctr">
                      <a:solidFill>
                        <a:srgbClr val="595959">
                          <a:alpha val="0"/>
                        </a:srgbClr>
                      </a:solidFill>
                    </a:lnB>
                    <a:noFill/>
                  </a:tcPr>
                </a:tc>
                <a:tc>
                  <a:txBody>
                    <a:bodyPr/>
                    <a:p>
                      <a:pPr marL="0" lvl="0" indent="0" algn="l" rtl="0">
                        <a:spcBef>
                          <a:spcPts val="0"/>
                        </a:spcBef>
                        <a:spcAft>
                          <a:spcPts val="1599"/>
                        </a:spcAft>
                        <a:buNone/>
                        <a:defRPr/>
                      </a:pPr>
                      <a:r>
                        <a:rPr lang="it-IT" sz="1000" b="1">
                          <a:solidFill>
                            <a:schemeClr val="dk1"/>
                          </a:solidFill>
                          <a:latin typeface="DM Sans"/>
                          <a:ea typeface="DM Sans"/>
                          <a:cs typeface="DM Sans"/>
                        </a:rPr>
                        <a:t>RoBERTa</a:t>
                      </a:r>
                      <a:endParaRPr lang="en" sz="1000">
                        <a:solidFill>
                          <a:schemeClr val="dk1"/>
                        </a:solidFill>
                        <a:latin typeface="DM Sans"/>
                        <a:ea typeface="DM Sans"/>
                        <a:cs typeface="DM Sans"/>
                      </a:endParaRPr>
                    </a:p>
                  </a:txBody>
                  <a:tcPr marL="91424" marR="91424" marT="0" marB="0" anchor="ctr">
                    <a:lnL w="9524" algn="ctr">
                      <a:solidFill>
                        <a:schemeClr val="dk1"/>
                      </a:solidFill>
                    </a:lnL>
                    <a:lnR w="9524" algn="ctr">
                      <a:solidFill>
                        <a:schemeClr val="dk1"/>
                      </a:solidFill>
                    </a:lnR>
                    <a:lnT w="9524" algn="ctr">
                      <a:solidFill>
                        <a:schemeClr val="dk1"/>
                      </a:solidFill>
                    </a:lnT>
                    <a:lnB w="9524" algn="ctr">
                      <a:solidFill>
                        <a:srgbClr val="595959">
                          <a:alpha val="0"/>
                        </a:srgbClr>
                      </a:solidFill>
                    </a:lnB>
                    <a:noFill/>
                  </a:tcPr>
                </a:tc>
              </a:tr>
              <a:tr h="361525">
                <a:tc>
                  <a:txBody>
                    <a:bodyPr/>
                    <a:p>
                      <a:pPr marL="0" lvl="0" indent="0" algn="l" rtl="0">
                        <a:spcBef>
                          <a:spcPts val="0"/>
                        </a:spcBef>
                        <a:spcAft>
                          <a:spcPts val="0"/>
                        </a:spcAft>
                        <a:buNone/>
                        <a:defRPr/>
                      </a:pPr>
                      <a:r>
                        <a:rPr lang="it-IT" sz="1000" b="1" u="sng">
                          <a:solidFill>
                            <a:schemeClr val="hlink"/>
                          </a:solidFill>
                          <a:latin typeface="DM Sans"/>
                          <a:ea typeface="DM Sans"/>
                          <a:cs typeface="DM Sans"/>
                        </a:rPr>
                        <a:t>LMAOSI’s paper results</a:t>
                      </a:r>
                      <a:endParaRPr sz="1000" b="1" u="sng">
                        <a:solidFill>
                          <a:schemeClr val="dk1"/>
                        </a:solidFill>
                        <a:latin typeface="DM Sans"/>
                        <a:ea typeface="DM Sans"/>
                        <a:cs typeface="DM Sans"/>
                      </a:endParaRPr>
                    </a:p>
                  </a:txBody>
                  <a:tcPr marL="91424" marR="91424" marT="0" marB="0" anchor="ctr">
                    <a:lnL w="9524" algn="ctr">
                      <a:solidFill>
                        <a:schemeClr val="dk1"/>
                      </a:solidFill>
                    </a:lnL>
                    <a:lnR w="9524" algn="ctr">
                      <a:solidFill>
                        <a:schemeClr val="dk1"/>
                      </a:solidFill>
                    </a:lnR>
                    <a:lnT w="9524" algn="ctr">
                      <a:solidFill>
                        <a:srgbClr val="595959">
                          <a:alpha val="0"/>
                        </a:srgbClr>
                      </a:solidFill>
                    </a:lnT>
                    <a:lnB w="9524" algn="ctr">
                      <a:solidFill>
                        <a:srgbClr val="595959">
                          <a:alpha val="0"/>
                        </a:srgbClr>
                      </a:solidFill>
                    </a:lnB>
                    <a:noFill/>
                  </a:tcPr>
                </a:tc>
                <a:tc>
                  <a:txBody>
                    <a:bodyPr/>
                    <a:p>
                      <a:pPr algn="ctr">
                        <a:defRPr/>
                      </a:pPr>
                      <a:r>
                        <a:rPr lang="it-IT" sz="1200" b="0"/>
                        <a:t>(unvavailable)</a:t>
                      </a:r>
                      <a:endParaRPr sz="1200" b="0"/>
                    </a:p>
                  </a:txBody>
                  <a:tcPr marL="91424" marR="91424" marT="0" marB="0" anchor="ctr">
                    <a:lnL w="9524" algn="ctr">
                      <a:solidFill>
                        <a:schemeClr val="dk1"/>
                      </a:solidFill>
                    </a:lnL>
                    <a:lnR w="9524" algn="ctr">
                      <a:solidFill>
                        <a:schemeClr val="dk1"/>
                      </a:solidFill>
                    </a:lnR>
                    <a:lnT w="9524" algn="ctr">
                      <a:solidFill>
                        <a:srgbClr val="595959">
                          <a:alpha val="0"/>
                        </a:srgbClr>
                      </a:solidFill>
                    </a:lnT>
                    <a:lnB w="9524" algn="ctr">
                      <a:solidFill>
                        <a:srgbClr val="595959">
                          <a:alpha val="0"/>
                        </a:srgbClr>
                      </a:solidFill>
                    </a:lnB>
                    <a:noFill/>
                  </a:tcPr>
                </a:tc>
                <a:tc>
                  <a:txBody>
                    <a:bodyPr/>
                    <a:p>
                      <a:pPr algn="ctr">
                        <a:defRPr/>
                      </a:pPr>
                      <a:r>
                        <a:rPr lang="it-IT" sz="1200" b="0"/>
                        <a:t>49.0%</a:t>
                      </a:r>
                      <a:endParaRPr sz="1200" b="0"/>
                    </a:p>
                  </a:txBody>
                  <a:tcPr marL="91424" marR="91424" marT="0" marB="0" anchor="ctr">
                    <a:lnL w="9524" algn="ctr">
                      <a:solidFill>
                        <a:schemeClr val="dk1"/>
                      </a:solidFill>
                    </a:lnL>
                    <a:lnR w="9524" algn="ctr">
                      <a:solidFill>
                        <a:schemeClr val="dk1"/>
                      </a:solidFill>
                    </a:lnR>
                    <a:lnT w="9524" algn="ctr">
                      <a:solidFill>
                        <a:srgbClr val="595959">
                          <a:alpha val="0"/>
                        </a:srgbClr>
                      </a:solidFill>
                    </a:lnT>
                    <a:lnB w="9524" algn="ctr">
                      <a:solidFill>
                        <a:srgbClr val="595959">
                          <a:alpha val="0"/>
                        </a:srgbClr>
                      </a:solidFill>
                    </a:lnB>
                    <a:noFill/>
                  </a:tcPr>
                </a:tc>
              </a:tr>
              <a:tr h="361525">
                <a:tc>
                  <a:txBody>
                    <a:bodyPr/>
                    <a:p>
                      <a:pPr marL="0" lvl="0" indent="0" algn="l" rtl="0">
                        <a:spcBef>
                          <a:spcPts val="0"/>
                        </a:spcBef>
                        <a:spcAft>
                          <a:spcPts val="0"/>
                        </a:spcAft>
                        <a:buNone/>
                        <a:defRPr/>
                      </a:pPr>
                      <a:r>
                        <a:rPr lang="it-IT" sz="1000" b="1" u="sng">
                          <a:solidFill>
                            <a:schemeClr val="dk1"/>
                          </a:solidFill>
                          <a:latin typeface="DM Sans"/>
                          <a:ea typeface="DM Sans"/>
                          <a:cs typeface="DM Sans"/>
                        </a:rPr>
                        <a:t>PRONTO’s prompt experiment</a:t>
                      </a:r>
                      <a:endParaRPr sz="1000" b="1" u="sng">
                        <a:solidFill>
                          <a:schemeClr val="dk1"/>
                        </a:solidFill>
                        <a:latin typeface="DM Sans"/>
                        <a:ea typeface="DM Sans"/>
                        <a:cs typeface="DM Sans"/>
                      </a:endParaRPr>
                    </a:p>
                  </a:txBody>
                  <a:tcPr marL="91424" marR="91424" marT="0" marB="0" anchor="ctr">
                    <a:lnL w="9524" algn="ctr">
                      <a:solidFill>
                        <a:schemeClr val="dk1"/>
                      </a:solidFill>
                    </a:lnL>
                    <a:lnR w="9524" algn="ctr">
                      <a:solidFill>
                        <a:schemeClr val="dk1"/>
                      </a:solidFill>
                    </a:lnR>
                    <a:lnT w="9524" algn="ctr">
                      <a:solidFill>
                        <a:srgbClr val="595959">
                          <a:alpha val="0"/>
                        </a:srgbClr>
                      </a:solidFill>
                    </a:lnT>
                    <a:lnB w="9524" algn="ctr">
                      <a:solidFill>
                        <a:srgbClr val="595959">
                          <a:alpha val="0"/>
                        </a:srgbClr>
                      </a:solidFill>
                    </a:lnB>
                    <a:noFill/>
                  </a:tcPr>
                </a:tc>
                <a:tc>
                  <a:txBody>
                    <a:bodyPr/>
                    <a:p>
                      <a:pPr algn="ctr">
                        <a:defRPr/>
                      </a:pPr>
                      <a:r>
                        <a:rPr lang="it-IT" sz="1200" b="0"/>
                        <a:t>65.0%</a:t>
                      </a:r>
                      <a:endParaRPr sz="1200" b="0"/>
                    </a:p>
                  </a:txBody>
                  <a:tcPr marL="91424" marR="91424" marT="0" marB="0" anchor="ctr">
                    <a:lnL w="9524" algn="ctr">
                      <a:solidFill>
                        <a:schemeClr val="dk1"/>
                      </a:solidFill>
                    </a:lnL>
                    <a:lnR w="9524" algn="ctr">
                      <a:solidFill>
                        <a:schemeClr val="dk1"/>
                      </a:solidFill>
                    </a:lnR>
                    <a:lnT w="9524" algn="ctr">
                      <a:solidFill>
                        <a:srgbClr val="595959">
                          <a:alpha val="0"/>
                        </a:srgbClr>
                      </a:solidFill>
                    </a:lnT>
                    <a:lnB w="9524" algn="ctr">
                      <a:solidFill>
                        <a:srgbClr val="595959">
                          <a:alpha val="0"/>
                        </a:srgbClr>
                      </a:solidFill>
                    </a:lnB>
                    <a:noFill/>
                  </a:tcPr>
                </a:tc>
                <a:tc>
                  <a:txBody>
                    <a:bodyPr/>
                    <a:p>
                      <a:pPr algn="ctr">
                        <a:defRPr/>
                      </a:pPr>
                      <a:r>
                        <a:rPr lang="it-IT" sz="1200" b="0" i="0" u="none" strike="noStrike" cap="none" spc="0">
                          <a:solidFill>
                            <a:srgbClr val="000000"/>
                          </a:solidFill>
                          <a:latin typeface="Arial"/>
                          <a:ea typeface="Arial"/>
                          <a:cs typeface="Arial"/>
                        </a:rPr>
                        <a:t>61.16% </a:t>
                      </a:r>
                      <a:r>
                        <a:rPr lang="it-IT" sz="1200" b="0" i="0" u="none" strike="noStrike" cap="none" spc="0">
                          <a:solidFill>
                            <a:srgbClr val="00B050"/>
                          </a:solidFill>
                          <a:latin typeface="Arial"/>
                          <a:ea typeface="Arial"/>
                          <a:cs typeface="Arial"/>
                        </a:rPr>
                        <a:t>(+12%)</a:t>
                      </a:r>
                      <a:endParaRPr sz="1200" b="0"/>
                    </a:p>
                  </a:txBody>
                  <a:tcPr marL="91424" marR="91424" marT="0" marB="0" anchor="ctr">
                    <a:lnL w="9524" algn="ctr">
                      <a:solidFill>
                        <a:schemeClr val="dk1"/>
                      </a:solidFill>
                    </a:lnL>
                    <a:lnR w="9524" algn="ctr">
                      <a:solidFill>
                        <a:schemeClr val="dk1"/>
                      </a:solidFill>
                    </a:lnR>
                    <a:lnT w="9524" algn="ctr">
                      <a:solidFill>
                        <a:srgbClr val="595959">
                          <a:alpha val="0"/>
                        </a:srgbClr>
                      </a:solidFill>
                    </a:lnT>
                    <a:lnB w="9524" algn="ctr">
                      <a:solidFill>
                        <a:srgbClr val="595959">
                          <a:alpha val="0"/>
                        </a:srgbClr>
                      </a:solidFill>
                    </a:lnB>
                    <a:noFill/>
                  </a:tcPr>
                </a:tc>
              </a:tr>
              <a:tr h="364950">
                <a:tc>
                  <a:txBody>
                    <a:bodyPr/>
                    <a:p>
                      <a:pPr marL="0" lvl="0" indent="0" algn="l" rtl="0">
                        <a:spcBef>
                          <a:spcPts val="0"/>
                        </a:spcBef>
                        <a:spcAft>
                          <a:spcPts val="0"/>
                        </a:spcAft>
                        <a:buNone/>
                        <a:defRPr/>
                      </a:pPr>
                      <a:r>
                        <a:rPr lang="it-IT" sz="1000" b="1" i="0" u="sng" strike="noStrike" cap="none" spc="0">
                          <a:solidFill>
                            <a:schemeClr val="dk1"/>
                          </a:solidFill>
                          <a:latin typeface="DM Sans"/>
                          <a:ea typeface="DM Sans"/>
                          <a:cs typeface="DM Sans"/>
                        </a:rPr>
                        <a:t>LMAOSI’s prompt experiment</a:t>
                      </a:r>
                      <a:endParaRPr sz="1000" b="1" u="sng">
                        <a:solidFill>
                          <a:schemeClr val="dk1"/>
                        </a:solidFill>
                        <a:latin typeface="DM Sans"/>
                        <a:ea typeface="DM Sans"/>
                        <a:cs typeface="DM Sans"/>
                      </a:endParaRPr>
                    </a:p>
                  </a:txBody>
                  <a:tcPr marL="91424" marR="91424" marT="0" marB="0" anchor="ctr">
                    <a:lnL w="9524" algn="ctr">
                      <a:solidFill>
                        <a:schemeClr val="dk1"/>
                      </a:solidFill>
                    </a:lnL>
                    <a:lnR w="9524" algn="ctr">
                      <a:solidFill>
                        <a:schemeClr val="dk1"/>
                      </a:solidFill>
                    </a:lnR>
                    <a:lnT w="9524" algn="ctr">
                      <a:solidFill>
                        <a:srgbClr val="595959">
                          <a:alpha val="0"/>
                        </a:srgbClr>
                      </a:solidFill>
                    </a:lnT>
                    <a:lnB w="9524" algn="ctr">
                      <a:solidFill>
                        <a:srgbClr val="595959">
                          <a:alpha val="0"/>
                        </a:srgbClr>
                      </a:solidFill>
                    </a:lnB>
                    <a:noFill/>
                  </a:tcPr>
                </a:tc>
                <a:tc>
                  <a:txBody>
                    <a:bodyPr/>
                    <a:p>
                      <a:pPr marL="0" lvl="0" indent="0" algn="ctr" rtl="0">
                        <a:spcBef>
                          <a:spcPts val="0"/>
                        </a:spcBef>
                        <a:spcAft>
                          <a:spcPts val="1599"/>
                        </a:spcAft>
                        <a:buNone/>
                        <a:defRPr/>
                      </a:pPr>
                      <a:r>
                        <a:rPr lang="it-IT" sz="1200" b="0">
                          <a:solidFill>
                            <a:schemeClr val="dk1"/>
                          </a:solidFill>
                          <a:latin typeface="DM Sans"/>
                          <a:ea typeface="DM Sans"/>
                          <a:cs typeface="DM Sans"/>
                        </a:rPr>
                        <a:t>46.96%</a:t>
                      </a:r>
                      <a:endParaRPr sz="1200" b="0">
                        <a:solidFill>
                          <a:schemeClr val="dk1"/>
                        </a:solidFill>
                        <a:latin typeface="DM Sans"/>
                        <a:ea typeface="DM Sans"/>
                        <a:cs typeface="DM Sans"/>
                      </a:endParaRPr>
                    </a:p>
                  </a:txBody>
                  <a:tcPr marL="91424" marR="91424" marT="0" marB="0" anchor="ctr">
                    <a:lnL w="9524" algn="ctr">
                      <a:solidFill>
                        <a:schemeClr val="dk1"/>
                      </a:solidFill>
                    </a:lnL>
                    <a:lnR w="9524" algn="ctr">
                      <a:solidFill>
                        <a:schemeClr val="dk1"/>
                      </a:solidFill>
                    </a:lnR>
                    <a:lnT w="9524" algn="ctr">
                      <a:solidFill>
                        <a:srgbClr val="595959">
                          <a:alpha val="0"/>
                        </a:srgbClr>
                      </a:solidFill>
                    </a:lnT>
                    <a:lnB w="9524" algn="ctr">
                      <a:solidFill>
                        <a:srgbClr val="595959">
                          <a:alpha val="0"/>
                        </a:srgbClr>
                      </a:solidFill>
                    </a:lnB>
                    <a:noFill/>
                  </a:tcPr>
                </a:tc>
                <a:tc>
                  <a:txBody>
                    <a:bodyPr/>
                    <a:p>
                      <a:pPr marL="0" lvl="0" indent="0" algn="ctr" rtl="0">
                        <a:spcBef>
                          <a:spcPts val="0"/>
                        </a:spcBef>
                        <a:spcAft>
                          <a:spcPts val="1599"/>
                        </a:spcAft>
                        <a:buNone/>
                        <a:defRPr/>
                      </a:pPr>
                      <a:r>
                        <a:rPr lang="it-IT" sz="1200" b="0">
                          <a:solidFill>
                            <a:schemeClr val="dk1"/>
                          </a:solidFill>
                          <a:latin typeface="DM Sans"/>
                          <a:ea typeface="DM Sans"/>
                          <a:cs typeface="DM Sans"/>
                        </a:rPr>
                        <a:t>51.56% </a:t>
                      </a:r>
                      <a:r>
                        <a:rPr lang="it-IT" sz="1200" b="0">
                          <a:solidFill>
                            <a:srgbClr val="00B050"/>
                          </a:solidFill>
                          <a:latin typeface="DM Sans"/>
                          <a:ea typeface="DM Sans"/>
                          <a:cs typeface="DM Sans"/>
                        </a:rPr>
                        <a:t>(+2%)</a:t>
                      </a:r>
                      <a:endParaRPr sz="1200" b="0">
                        <a:solidFill>
                          <a:schemeClr val="dk1"/>
                        </a:solidFill>
                        <a:latin typeface="DM Sans"/>
                        <a:ea typeface="DM Sans"/>
                        <a:cs typeface="DM Sans"/>
                      </a:endParaRPr>
                    </a:p>
                  </a:txBody>
                  <a:tcPr marL="91424" marR="91424" marT="0" marB="0" anchor="ctr">
                    <a:lnL w="9524" algn="ctr">
                      <a:solidFill>
                        <a:schemeClr val="dk1"/>
                      </a:solidFill>
                    </a:lnL>
                    <a:lnR w="9524" algn="ctr">
                      <a:solidFill>
                        <a:schemeClr val="dk1"/>
                      </a:solidFill>
                    </a:lnR>
                    <a:lnT w="9524" algn="ctr">
                      <a:solidFill>
                        <a:srgbClr val="595959">
                          <a:alpha val="0"/>
                        </a:srgbClr>
                      </a:solidFill>
                    </a:lnT>
                    <a:lnB w="9524" algn="ctr">
                      <a:solidFill>
                        <a:srgbClr val="595959">
                          <a:alpha val="0"/>
                        </a:srgbClr>
                      </a:solidFill>
                    </a:lnB>
                    <a:noFill/>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61581084" name="Google Shape;133;p28"/>
          <p:cNvSpPr txBox="1"/>
          <p:nvPr>
            <p:ph type="title"/>
          </p:nvPr>
        </p:nvSpPr>
        <p:spPr bwMode="auto">
          <a:xfrm flipH="0" flipV="0">
            <a:off x="542674" y="991835"/>
            <a:ext cx="7966874" cy="925070"/>
          </a:xfrm>
          <a:prstGeom prst="rect">
            <a:avLst/>
          </a:prstGeom>
        </p:spPr>
        <p:txBody>
          <a:bodyPr spcFirstLastPara="1" vertOverflow="overflow" horzOverflow="overflow" vert="horz" wrap="square" lIns="91424" tIns="91424" rIns="91424" bIns="91424" numCol="1" spcCol="0" rtlCol="0" fromWordArt="0" anchor="ctr" anchorCtr="0" forceAA="0" upright="0" compatLnSpc="0">
            <a:noAutofit/>
          </a:bodyPr>
          <a:lstStyle/>
          <a:p>
            <a:pPr marL="0" lvl="0" indent="0" algn="r" rtl="0">
              <a:spcBef>
                <a:spcPts val="0"/>
              </a:spcBef>
              <a:spcAft>
                <a:spcPts val="0"/>
              </a:spcAft>
              <a:buNone/>
              <a:defRPr/>
            </a:pPr>
            <a:r>
              <a:rPr lang="it-IT" sz="4500" b="0" i="0" u="none" strike="noStrike" cap="none" spc="0">
                <a:solidFill>
                  <a:schemeClr val="dk1"/>
                </a:solidFill>
                <a:latin typeface="Funnel Display"/>
                <a:ea typeface="Funnel Display"/>
                <a:cs typeface="Funnel Display"/>
              </a:rPr>
              <a:t>K-SHOT </a:t>
            </a:r>
            <a:r>
              <a:rPr lang="it-IT" sz="4500" b="0" i="0" u="none" strike="noStrike" cap="none" spc="0">
                <a:solidFill>
                  <a:schemeClr val="dk1"/>
                </a:solidFill>
                <a:latin typeface="Funnel Display"/>
                <a:ea typeface="Funnel Display"/>
                <a:cs typeface="Funnel Display"/>
              </a:rPr>
              <a:t>VERBALIZERS</a:t>
            </a:r>
            <a:endParaRPr sz="4500"/>
          </a:p>
        </p:txBody>
      </p:sp>
      <p:sp>
        <p:nvSpPr>
          <p:cNvPr id="1064986134" name="Google Shape;134;p28"/>
          <p:cNvSpPr txBox="1"/>
          <p:nvPr>
            <p:ph type="title" idx="2"/>
          </p:nvPr>
        </p:nvSpPr>
        <p:spPr bwMode="auto">
          <a:xfrm>
            <a:off x="464024" y="424695"/>
            <a:ext cx="859799" cy="668999"/>
          </a:xfrm>
          <a:prstGeom prst="rect">
            <a:avLst/>
          </a:prstGeom>
        </p:spPr>
        <p:txBody>
          <a:bodyPr spcFirstLastPara="1" wrap="square" lIns="91424" tIns="91424" rIns="91424" bIns="91424" anchor="ctr" anchorCtr="0">
            <a:noAutofit/>
          </a:bodyPr>
          <a:lstStyle/>
          <a:p>
            <a:pPr marL="0" lvl="0" indent="0" algn="l" rtl="0">
              <a:spcBef>
                <a:spcPts val="0"/>
              </a:spcBef>
              <a:spcAft>
                <a:spcPts val="0"/>
              </a:spcAft>
              <a:buNone/>
              <a:defRPr/>
            </a:pPr>
            <a:r>
              <a:rPr lang="en"/>
              <a:t>0</a:t>
            </a:r>
            <a:r>
              <a:rPr lang="it-IT"/>
              <a:t>3</a:t>
            </a:r>
            <a:endParaRPr/>
          </a:p>
        </p:txBody>
      </p:sp>
      <p:sp>
        <p:nvSpPr>
          <p:cNvPr id="1287979188" name="Google Shape;135;p28"/>
          <p:cNvSpPr txBox="1"/>
          <p:nvPr>
            <p:ph type="subTitle" idx="1"/>
          </p:nvPr>
        </p:nvSpPr>
        <p:spPr bwMode="auto">
          <a:xfrm flipH="0" flipV="0">
            <a:off x="542674" y="2309812"/>
            <a:ext cx="7966874" cy="1878599"/>
          </a:xfrm>
          <a:prstGeom prst="rect">
            <a:avLst/>
          </a:prstGeom>
        </p:spPr>
        <p:txBody>
          <a:bodyPr spcFirstLastPara="1" vertOverflow="overflow" horzOverflow="overflow" vert="horz" wrap="square" lIns="91424" tIns="91424" rIns="91424" bIns="91424" numCol="1" spcCol="0" rtlCol="0" fromWordArt="0" anchor="ctr" anchorCtr="0" forceAA="0" upright="0" compatLnSpc="0">
            <a:noAutofit/>
          </a:bodyPr>
          <a:lstStyle/>
          <a:p>
            <a:pPr marL="0" lvl="0" indent="0" algn="l" rtl="0">
              <a:spcBef>
                <a:spcPts val="0"/>
              </a:spcBef>
              <a:spcAft>
                <a:spcPts val="0"/>
              </a:spcAft>
              <a:buNone/>
              <a:defRPr/>
            </a:pPr>
            <a:r>
              <a:rPr lang="it-IT" sz="1200" b="0" i="0" u="none" strike="noStrike" cap="none" spc="0">
                <a:solidFill>
                  <a:schemeClr val="dk1"/>
                </a:solidFill>
                <a:latin typeface="DM Sans"/>
                <a:ea typeface="DM Sans"/>
                <a:cs typeface="DM Sans"/>
              </a:rPr>
              <a:t>Probing experiment with </a:t>
            </a:r>
            <a:r>
              <a:rPr lang="it-IT" sz="1200" b="1" i="0" u="none" strike="noStrike" cap="none" spc="0">
                <a:solidFill>
                  <a:schemeClr val="dk1"/>
                </a:solidFill>
                <a:latin typeface="DM Sans"/>
                <a:ea typeface="DM Sans"/>
                <a:cs typeface="DM Sans"/>
              </a:rPr>
              <a:t>k-verbalizers</a:t>
            </a:r>
            <a:r>
              <a:rPr lang="it-IT" sz="1200" b="0" i="0" u="none" strike="noStrike" cap="none" spc="0">
                <a:solidFill>
                  <a:schemeClr val="dk1"/>
                </a:solidFill>
                <a:latin typeface="DM Sans"/>
                <a:ea typeface="DM Sans"/>
                <a:cs typeface="DM Sans"/>
              </a:rPr>
              <a:t> (trained models as verbalizers with total of k training)</a:t>
            </a:r>
            <a:endParaRPr lang="it-IT" sz="1200"/>
          </a:p>
          <a:p>
            <a:pPr marL="0" lvl="0" indent="0" algn="l" rtl="0">
              <a:spcBef>
                <a:spcPts val="0"/>
              </a:spcBef>
              <a:spcAft>
                <a:spcPts val="0"/>
              </a:spcAft>
              <a:buNone/>
              <a:defRPr/>
            </a:pPr>
            <a:endParaRPr sz="500"/>
          </a:p>
          <a:p>
            <a:pPr marL="0" marR="0" indent="0" algn="l">
              <a:lnSpc>
                <a:spcPct val="100000"/>
              </a:lnSpc>
              <a:spcBef>
                <a:spcPts val="0"/>
              </a:spcBef>
              <a:spcAft>
                <a:spcPts val="0"/>
              </a:spcAft>
              <a:buClr>
                <a:schemeClr val="dk1"/>
              </a:buClr>
              <a:buSzPts val="1200"/>
              <a:buFont typeface="DM Sans"/>
              <a:buNone/>
              <a:defRPr/>
            </a:pPr>
            <a:r>
              <a:rPr lang="it-IT" sz="1200" b="0" i="0" u="none" strike="noStrike" cap="none" spc="0">
                <a:solidFill>
                  <a:schemeClr val="dk1"/>
                </a:solidFill>
                <a:latin typeface="DM Sans"/>
                <a:ea typeface="DM Sans"/>
                <a:cs typeface="DM Sans"/>
              </a:rPr>
              <a:t>The K-shot setting refers to training a lightweight probe on top of frozen language models using </a:t>
            </a:r>
            <a:r>
              <a:rPr lang="it-IT" sz="1200" b="1" i="0" u="none" strike="noStrike" cap="none" spc="0">
                <a:solidFill>
                  <a:schemeClr val="dk1"/>
                </a:solidFill>
                <a:latin typeface="DM Sans"/>
                <a:ea typeface="DM Sans"/>
                <a:cs typeface="DM Sans"/>
              </a:rPr>
              <a:t>K labeled examples per class</a:t>
            </a:r>
            <a:r>
              <a:rPr lang="it-IT" sz="1200" b="0" i="0" u="none" strike="noStrike" cap="none" spc="0">
                <a:solidFill>
                  <a:schemeClr val="dk1"/>
                </a:solidFill>
                <a:latin typeface="DM Sans"/>
                <a:ea typeface="DM Sans"/>
                <a:cs typeface="DM Sans"/>
              </a:rPr>
              <a:t>, enabling the evaluation of how quickly ontological knowledge can be elicited from pre-trained representations.</a:t>
            </a:r>
            <a:br>
              <a:rPr lang="it-IT" sz="1200" b="0" i="0" u="none" strike="noStrike" cap="none" spc="0">
                <a:solidFill>
                  <a:schemeClr val="dk1"/>
                </a:solidFill>
                <a:latin typeface="DM Sans"/>
                <a:ea typeface="DM Sans"/>
                <a:cs typeface="DM Sans"/>
              </a:rPr>
            </a:br>
            <a:endParaRPr lang="it-IT" sz="1200" b="0" i="0" u="none" strike="noStrike" cap="none" spc="0">
              <a:solidFill>
                <a:schemeClr val="dk1"/>
              </a:solidFill>
              <a:latin typeface="DM Sans"/>
              <a:cs typeface="DM Sans"/>
            </a:endParaRPr>
          </a:p>
          <a:p>
            <a:pPr marL="0" marR="0" lvl="0" indent="0" algn="l" rtl="0">
              <a:lnSpc>
                <a:spcPct val="100000"/>
              </a:lnSpc>
              <a:spcBef>
                <a:spcPts val="0"/>
              </a:spcBef>
              <a:spcAft>
                <a:spcPts val="0"/>
              </a:spcAft>
              <a:buClr>
                <a:schemeClr val="dk1"/>
              </a:buClr>
              <a:buSzPts val="1200"/>
              <a:buFont typeface="DM Sans"/>
              <a:buNone/>
              <a:defRPr/>
            </a:pPr>
            <a:r>
              <a:rPr lang="it-IT" sz="1200" b="0" i="0" u="none" strike="noStrike" cap="none" spc="0">
                <a:solidFill>
                  <a:schemeClr val="dk1"/>
                </a:solidFill>
                <a:latin typeface="DM Sans"/>
                <a:ea typeface="DM Sans"/>
                <a:cs typeface="DM Sans"/>
              </a:rPr>
              <a:t>This is the classical way to train the probe model.</a:t>
            </a:r>
            <a:endParaRPr lang="it-IT"/>
          </a:p>
          <a:p>
            <a:pPr marL="0" lvl="0" indent="0" algn="l" rtl="0">
              <a:spcBef>
                <a:spcPts val="0"/>
              </a:spcBef>
              <a:spcAft>
                <a:spcPts val="0"/>
              </a:spcAft>
              <a:buNone/>
              <a:defRPr/>
            </a:pPr>
            <a:endParaRPr lang="it-IT"/>
          </a:p>
        </p:txBody>
      </p:sp>
      <p:cxnSp>
        <p:nvCxnSpPr>
          <p:cNvPr id="164941528" name="Google Shape;136;p28"/>
          <p:cNvCxnSpPr/>
          <p:nvPr/>
        </p:nvCxnSpPr>
        <p:spPr bwMode="auto">
          <a:xfrm>
            <a:off x="1217749" y="928580"/>
            <a:ext cx="7291800" cy="0"/>
          </a:xfrm>
          <a:prstGeom prst="straightConnector1">
            <a:avLst/>
          </a:prstGeom>
          <a:noFill/>
          <a:ln w="9525" cap="flat" cmpd="sng">
            <a:solidFill>
              <a:schemeClr val="dk1"/>
            </a:solidFill>
            <a:prstDash val="solid"/>
            <a:round/>
            <a:headEnd type="none" w="med" len="med"/>
            <a:tailEnd type="none" w="med" len="med"/>
          </a:ln>
        </p:spPr>
      </p:cxnSp>
      <p:sp>
        <p:nvSpPr>
          <p:cNvPr id="1779230099" name=""/>
          <p:cNvSpPr/>
          <p:nvPr/>
        </p:nvSpPr>
        <p:spPr bwMode="auto">
          <a:xfrm flipH="0" flipV="0">
            <a:off x="1323822" y="1789993"/>
            <a:ext cx="7210364" cy="253824"/>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lgn="r">
              <a:defRPr/>
            </a:pPr>
            <a:r>
              <a:rPr sz="1050" b="1" i="0" u="none">
                <a:solidFill>
                  <a:schemeClr val="tx1"/>
                </a:solidFill>
                <a:latin typeface="Droid Sans Mono"/>
                <a:ea typeface="Droid Sans Mono"/>
                <a:cs typeface="Droid Sans Mono"/>
              </a:rPr>
              <a:t>prompt → MLM (frozen) → lo</a:t>
            </a:r>
            <a:r>
              <a:rPr sz="1050" b="1" i="0" u="none">
                <a:solidFill>
                  <a:schemeClr val="tx1"/>
                </a:solidFill>
                <a:latin typeface="Droid Sans Mono"/>
                <a:ea typeface="Droid Sans Mono"/>
                <a:cs typeface="Droid Sans Mono"/>
              </a:rPr>
              <a:t>gits</a:t>
            </a:r>
            <a:r>
              <a:rPr sz="1050" b="1" i="0" u="none">
                <a:solidFill>
                  <a:schemeClr val="tx1"/>
                </a:solidFill>
                <a:latin typeface="Droid Sans Mono"/>
                <a:ea typeface="Droid Sans Mono"/>
                <a:cs typeface="Droid Sans Mono"/>
              </a:rPr>
              <a:t>→ </a:t>
            </a:r>
            <a:r>
              <a:rPr sz="1050" b="1" i="0" u="none">
                <a:solidFill>
                  <a:schemeClr val="tx1"/>
                </a:solidFill>
                <a:latin typeface="Droid Sans Mono"/>
                <a:ea typeface="Droid Sans Mono"/>
                <a:cs typeface="Droid Sans Mono"/>
              </a:rPr>
              <a:t>trainable classifier trained on total of </a:t>
            </a:r>
            <a:r>
              <a:rPr lang="it-IT" sz="1050" b="1" i="0" u="none">
                <a:solidFill>
                  <a:schemeClr val="tx1"/>
                </a:solidFill>
                <a:latin typeface="Droid Sans Mono"/>
                <a:ea typeface="Droid Sans Mono"/>
                <a:cs typeface="Droid Sans Mono"/>
              </a:rPr>
              <a:t>k</a:t>
            </a:r>
            <a:r>
              <a:rPr sz="1050" b="1" i="0" u="none">
                <a:solidFill>
                  <a:schemeClr val="tx1"/>
                </a:solidFill>
                <a:latin typeface="Droid Sans Mono"/>
                <a:ea typeface="Droid Sans Mono"/>
                <a:cs typeface="Droid Sans Mono"/>
              </a:rPr>
              <a:t> random </a:t>
            </a:r>
            <a:r>
              <a:rPr sz="1050" b="1" i="0" u="none">
                <a:solidFill>
                  <a:schemeClr val="tx1"/>
                </a:solidFill>
                <a:latin typeface="Droid Sans Mono"/>
                <a:ea typeface="Droid Sans Mono"/>
                <a:cs typeface="Droid Sans Mono"/>
              </a:rPr>
              <a:t>picked</a:t>
            </a:r>
            <a:r>
              <a:rPr sz="1050" b="1" i="0" u="none">
                <a:solidFill>
                  <a:schemeClr val="tx1"/>
                </a:solidFill>
                <a:latin typeface="Droid Sans Mono"/>
                <a:ea typeface="Droid Sans Mono"/>
                <a:cs typeface="Droid Sans Mono"/>
              </a:rPr>
              <a:t> </a:t>
            </a:r>
            <a:r>
              <a:rPr lang="it-IT" sz="1050" b="1" i="0" u="none">
                <a:solidFill>
                  <a:schemeClr val="tx1"/>
                </a:solidFill>
                <a:latin typeface="Droid Sans Mono"/>
                <a:ea typeface="Droid Sans Mono"/>
                <a:cs typeface="Droid Sans Mono"/>
              </a:rPr>
              <a:t>samples </a:t>
            </a:r>
            <a:r>
              <a:rPr sz="1050" b="1" i="0" u="none">
                <a:solidFill>
                  <a:schemeClr val="tx1"/>
                </a:solidFill>
                <a:latin typeface="Droid Sans Mono"/>
                <a:ea typeface="Droid Sans Mono"/>
                <a:cs typeface="Droid Sans Mono"/>
              </a:rPr>
              <a:t>→</a:t>
            </a:r>
            <a:r>
              <a:rPr sz="1050" b="1" i="0" u="none">
                <a:solidFill>
                  <a:schemeClr val="tx1"/>
                </a:solidFill>
                <a:latin typeface="Droid Sans Mono"/>
                <a:ea typeface="Droid Sans Mono"/>
                <a:cs typeface="Droid Sans Mono"/>
              </a:rPr>
              <a:t> label</a:t>
            </a:r>
            <a:endParaRPr b="1">
              <a:solidFill>
                <a:schemeClr val="tx1"/>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25078240" name="Google Shape;106;p25"/>
          <p:cNvSpPr txBox="1"/>
          <p:nvPr>
            <p:ph type="title"/>
          </p:nvPr>
        </p:nvSpPr>
        <p:spPr bwMode="auto">
          <a:xfrm>
            <a:off x="720000" y="342630"/>
            <a:ext cx="7704000" cy="572699"/>
          </a:xfrm>
          <a:prstGeom prst="rect">
            <a:avLst/>
          </a:prstGeom>
        </p:spPr>
        <p:txBody>
          <a:bodyPr spcFirstLastPara="1" wrap="square" lIns="91424" tIns="91424" rIns="91424" bIns="91424" anchor="t" anchorCtr="0">
            <a:noAutofit/>
          </a:bodyPr>
          <a:lstStyle/>
          <a:p>
            <a:pPr marL="0" lvl="0" indent="0" algn="l" rtl="0">
              <a:spcBef>
                <a:spcPts val="0"/>
              </a:spcBef>
              <a:spcAft>
                <a:spcPts val="0"/>
              </a:spcAft>
              <a:buNone/>
              <a:defRPr/>
            </a:pPr>
            <a:r>
              <a:rPr lang="it-IT"/>
              <a:t>K-Shot verbalizers</a:t>
            </a:r>
            <a:r>
              <a:rPr lang="it-IT"/>
              <a:t> results</a:t>
            </a:r>
            <a:endParaRPr/>
          </a:p>
        </p:txBody>
      </p:sp>
      <p:graphicFrame>
        <p:nvGraphicFramePr>
          <p:cNvPr id="1095185862" name="Google Shape;108;p25"/>
          <p:cNvGraphicFramePr>
            <a:graphicFrameLocks xmlns:a="http://schemas.openxmlformats.org/drawingml/2006/main"/>
          </p:cNvGraphicFramePr>
          <p:nvPr/>
        </p:nvGraphicFramePr>
        <p:xfrm rot="0">
          <a:off x="263155" y="970899"/>
          <a:ext cx="8580339" cy="1825619"/>
        </p:xfrm>
        <a:graphic>
          <a:graphicData uri="http://schemas.openxmlformats.org/drawingml/2006/table">
            <a:tbl>
              <a:tblPr firstRow="0" firstCol="0" lastRow="0" lastCol="0" bandRow="0" bandCol="0">
                <a:tableStyleId>{EA37CDA1-CCFA-4E4F-8383-CC0F6BD98904}</a:tableStyleId>
                <a:noFill/>
              </a:tblPr>
              <a:tblGrid>
                <a:gridCol w="2070000"/>
                <a:gridCol w="720000"/>
                <a:gridCol w="796162"/>
                <a:gridCol w="1246162"/>
                <a:gridCol w="1246162"/>
                <a:gridCol w="1246162"/>
                <a:gridCol w="1246162"/>
              </a:tblGrid>
              <a:tr h="361525">
                <a:tc rowSpan="2">
                  <a:txBody>
                    <a:bodyPr/>
                    <a:p>
                      <a:pPr marL="0" lvl="0" indent="0" algn="l" rtl="0">
                        <a:spcBef>
                          <a:spcPts val="0"/>
                        </a:spcBef>
                        <a:spcAft>
                          <a:spcPts val="0"/>
                        </a:spcAft>
                        <a:buNone/>
                        <a:defRPr/>
                      </a:pPr>
                      <a:endParaRPr sz="1000" b="1" u="sng">
                        <a:solidFill>
                          <a:schemeClr val="dk1"/>
                        </a:solidFill>
                        <a:latin typeface="DM Sans"/>
                        <a:ea typeface="DM Sans"/>
                        <a:cs typeface="DM Sans"/>
                      </a:endParaRPr>
                    </a:p>
                  </a:txBody>
                  <a:tcPr marL="91424" marR="91424" marT="0" marB="0" anchor="ctr">
                    <a:lnL w="9524" algn="ctr">
                      <a:solidFill>
                        <a:schemeClr val="dk1"/>
                      </a:solidFill>
                    </a:lnL>
                    <a:lnR w="9524" algn="ctr">
                      <a:solidFill>
                        <a:schemeClr val="dk1"/>
                      </a:solidFill>
                    </a:lnR>
                    <a:lnT w="9524" algn="ctr">
                      <a:solidFill>
                        <a:schemeClr val="dk1"/>
                      </a:solidFill>
                    </a:lnT>
                    <a:lnB w="9524" algn="ctr">
                      <a:solidFill>
                        <a:srgbClr val="595959">
                          <a:alpha val="0"/>
                        </a:srgbClr>
                      </a:solidFill>
                    </a:lnB>
                    <a:noFill/>
                  </a:tcPr>
                </a:tc>
                <a:tc gridSpan="2">
                  <a:txBody>
                    <a:bodyPr/>
                    <a:p>
                      <a:pPr marL="0" lvl="0" indent="0" algn="ctr" rtl="0">
                        <a:spcBef>
                          <a:spcPts val="0"/>
                        </a:spcBef>
                        <a:spcAft>
                          <a:spcPts val="1599"/>
                        </a:spcAft>
                        <a:buNone/>
                        <a:defRPr/>
                      </a:pPr>
                      <a:r>
                        <a:rPr lang="it-IT" sz="1400" b="1">
                          <a:solidFill>
                            <a:schemeClr val="dk1"/>
                          </a:solidFill>
                          <a:latin typeface="DM Sans"/>
                          <a:ea typeface="DM Sans"/>
                          <a:cs typeface="DM Sans"/>
                        </a:rPr>
                        <a:t>K = 4</a:t>
                      </a:r>
                      <a:endParaRPr lang="it-IT" sz="1000" b="1">
                        <a:solidFill>
                          <a:schemeClr val="dk1"/>
                        </a:solidFill>
                        <a:latin typeface="DM Sans"/>
                        <a:ea typeface="DM Sans"/>
                        <a:cs typeface="DM Sans"/>
                      </a:endParaRPr>
                    </a:p>
                  </a:txBody>
                  <a:tcPr marL="91424" marR="91424" marT="0" marB="0" anchor="ctr">
                    <a:lnL w="9524" algn="ctr">
                      <a:solidFill>
                        <a:schemeClr val="dk1"/>
                      </a:solidFill>
                    </a:lnL>
                    <a:lnR w="9524" algn="ctr">
                      <a:solidFill>
                        <a:schemeClr val="dk1"/>
                      </a:solidFill>
                    </a:lnR>
                    <a:lnT w="9524" algn="ctr">
                      <a:solidFill>
                        <a:schemeClr val="dk1"/>
                      </a:solidFill>
                    </a:lnT>
                    <a:lnB w="9524" algn="ctr">
                      <a:solidFill>
                        <a:srgbClr val="595959">
                          <a:alpha val="0"/>
                        </a:srgbClr>
                      </a:solidFill>
                    </a:lnB>
                    <a:noFill/>
                  </a:tcPr>
                </a:tc>
                <a:tc hMerge="1">
                  <a:txBody>
                    <a:bodyPr/>
                    <a:p>
                      <a:endParaRPr/>
                    </a:p>
                  </a:txBody>
                </a:tc>
                <a:tc gridSpan="2">
                  <a:txBody>
                    <a:bodyPr/>
                    <a:p>
                      <a:pPr algn="ctr">
                        <a:defRPr/>
                      </a:pPr>
                      <a:r>
                        <a:rPr lang="it-IT" sz="1400" b="1">
                          <a:solidFill>
                            <a:schemeClr val="dk1"/>
                          </a:solidFill>
                          <a:latin typeface="DM Sans"/>
                          <a:ea typeface="DM Sans"/>
                          <a:cs typeface="DM Sans"/>
                        </a:rPr>
                        <a:t>K = 32</a:t>
                      </a:r>
                      <a:endParaRPr lang="it-IT" sz="1400" b="1">
                        <a:solidFill>
                          <a:schemeClr val="dk1"/>
                        </a:solidFill>
                        <a:latin typeface="DM Sans"/>
                        <a:ea typeface="DM Sans"/>
                        <a:cs typeface="DM Sans"/>
                      </a:endParaRPr>
                    </a:p>
                  </a:txBody>
                  <a:tcPr marL="91424" marR="91424" marT="0" marB="0" anchor="ctr">
                    <a:lnL w="9524" algn="ctr">
                      <a:solidFill>
                        <a:schemeClr val="dk1"/>
                      </a:solidFill>
                    </a:lnL>
                    <a:lnR w="9524" algn="ctr">
                      <a:solidFill>
                        <a:schemeClr val="dk1"/>
                      </a:solidFill>
                    </a:lnR>
                    <a:lnT w="9524" algn="ctr">
                      <a:solidFill>
                        <a:schemeClr val="dk1"/>
                      </a:solidFill>
                    </a:lnT>
                    <a:lnB w="9524" algn="ctr">
                      <a:solidFill>
                        <a:srgbClr val="595959">
                          <a:alpha val="0"/>
                        </a:srgbClr>
                      </a:solidFill>
                    </a:lnB>
                    <a:noFill/>
                  </a:tcPr>
                </a:tc>
                <a:tc hMerge="1">
                  <a:txBody>
                    <a:bodyPr/>
                    <a:p>
                      <a:endParaRPr/>
                    </a:p>
                  </a:txBody>
                </a:tc>
                <a:tc gridSpan="2">
                  <a:txBody>
                    <a:bodyPr/>
                    <a:p>
                      <a:pPr algn="ctr">
                        <a:defRPr/>
                      </a:pPr>
                      <a:r>
                        <a:rPr lang="it-IT" sz="1400" b="1">
                          <a:solidFill>
                            <a:schemeClr val="dk1"/>
                          </a:solidFill>
                          <a:latin typeface="DM Sans"/>
                          <a:ea typeface="DM Sans"/>
                          <a:cs typeface="DM Sans"/>
                        </a:rPr>
                        <a:t>K = 128</a:t>
                      </a:r>
                      <a:endParaRPr lang="it-IT" sz="1400" b="1">
                        <a:solidFill>
                          <a:schemeClr val="dk1"/>
                        </a:solidFill>
                        <a:latin typeface="DM Sans"/>
                        <a:ea typeface="DM Sans"/>
                        <a:cs typeface="DM Sans"/>
                      </a:endParaRPr>
                    </a:p>
                  </a:txBody>
                  <a:tcPr marL="91424" marR="91424" marT="0" marB="0" anchor="ctr">
                    <a:lnL w="9524" algn="ctr">
                      <a:solidFill>
                        <a:schemeClr val="dk1"/>
                      </a:solidFill>
                    </a:lnL>
                    <a:lnR w="9524" algn="ctr">
                      <a:solidFill>
                        <a:schemeClr val="dk1"/>
                      </a:solidFill>
                    </a:lnR>
                    <a:lnT w="9524" algn="ctr">
                      <a:solidFill>
                        <a:schemeClr val="dk1"/>
                      </a:solidFill>
                    </a:lnT>
                    <a:lnB w="9524" algn="ctr">
                      <a:solidFill>
                        <a:srgbClr val="595959">
                          <a:alpha val="0"/>
                        </a:srgbClr>
                      </a:solidFill>
                    </a:lnB>
                    <a:noFill/>
                  </a:tcPr>
                </a:tc>
                <a:tc hMerge="1">
                  <a:txBody>
                    <a:bodyPr/>
                    <a:p>
                      <a:endParaRPr/>
                    </a:p>
                  </a:txBody>
                </a:tc>
              </a:tr>
              <a:tr h="361525">
                <a:tc vMerge="1">
                  <a:txBody>
                    <a:bodyPr/>
                    <a:p>
                      <a:pPr>
                        <a:defRPr/>
                      </a:pPr>
                      <a:endParaRPr/>
                    </a:p>
                  </a:txBody>
                  <a:tcPr marL="91424" marR="91424" marT="0" marB="0" anchor="ctr">
                    <a:lnL w="9524" algn="ctr">
                      <a:solidFill>
                        <a:schemeClr val="dk1"/>
                      </a:solidFill>
                    </a:lnL>
                    <a:lnR w="9524" algn="ctr">
                      <a:solidFill>
                        <a:schemeClr val="dk1"/>
                      </a:solidFill>
                    </a:lnR>
                    <a:lnT w="9524" algn="ctr">
                      <a:solidFill>
                        <a:schemeClr val="dk1"/>
                      </a:solidFill>
                    </a:lnT>
                    <a:lnB w="9524" algn="ctr">
                      <a:solidFill>
                        <a:srgbClr val="595959">
                          <a:alpha val="0"/>
                        </a:srgbClr>
                      </a:solidFill>
                    </a:lnB>
                    <a:noFill/>
                  </a:tcPr>
                </a:tc>
                <a:tc>
                  <a:txBody>
                    <a:bodyPr/>
                    <a:p>
                      <a:pPr marL="0" lvl="0" indent="0" algn="ctr" rtl="0">
                        <a:spcBef>
                          <a:spcPts val="0"/>
                        </a:spcBef>
                        <a:spcAft>
                          <a:spcPts val="1599"/>
                        </a:spcAft>
                        <a:buNone/>
                        <a:defRPr/>
                      </a:pPr>
                      <a:r>
                        <a:rPr lang="it-IT" sz="1000" b="1">
                          <a:solidFill>
                            <a:schemeClr val="dk1"/>
                          </a:solidFill>
                          <a:latin typeface="DM Sans"/>
                          <a:ea typeface="DM Sans"/>
                          <a:cs typeface="DM Sans"/>
                        </a:rPr>
                        <a:t>BERT</a:t>
                      </a:r>
                      <a:endParaRPr sz="1000">
                        <a:solidFill>
                          <a:schemeClr val="dk1"/>
                        </a:solidFill>
                        <a:latin typeface="DM Sans"/>
                        <a:ea typeface="DM Sans"/>
                        <a:cs typeface="DM Sans"/>
                      </a:endParaRPr>
                    </a:p>
                  </a:txBody>
                  <a:tcPr marL="91424" marR="91424" marT="0" marB="0" anchor="ctr">
                    <a:lnL w="9524" algn="ctr">
                      <a:solidFill>
                        <a:schemeClr val="dk1"/>
                      </a:solidFill>
                    </a:lnL>
                    <a:lnR w="9524" algn="ctr">
                      <a:solidFill>
                        <a:schemeClr val="dk1"/>
                      </a:solidFill>
                    </a:lnR>
                    <a:lnT w="9524" algn="ctr">
                      <a:solidFill>
                        <a:schemeClr val="dk1"/>
                      </a:solidFill>
                    </a:lnT>
                    <a:lnB w="9524" algn="ctr">
                      <a:solidFill>
                        <a:srgbClr val="595959">
                          <a:alpha val="0"/>
                        </a:srgbClr>
                      </a:solidFill>
                    </a:lnB>
                    <a:noFill/>
                  </a:tcPr>
                </a:tc>
                <a:tc>
                  <a:txBody>
                    <a:bodyPr/>
                    <a:p>
                      <a:pPr marL="0" lvl="0" indent="0" algn="ctr" rtl="0">
                        <a:spcBef>
                          <a:spcPts val="0"/>
                        </a:spcBef>
                        <a:spcAft>
                          <a:spcPts val="1599"/>
                        </a:spcAft>
                        <a:buNone/>
                        <a:defRPr/>
                      </a:pPr>
                      <a:r>
                        <a:rPr lang="it-IT" sz="1000" b="1">
                          <a:solidFill>
                            <a:schemeClr val="dk1"/>
                          </a:solidFill>
                          <a:latin typeface="DM Sans"/>
                          <a:ea typeface="DM Sans"/>
                          <a:cs typeface="DM Sans"/>
                        </a:rPr>
                        <a:t>RoBERTa</a:t>
                      </a:r>
                      <a:endParaRPr lang="en" sz="1000">
                        <a:solidFill>
                          <a:schemeClr val="dk1"/>
                        </a:solidFill>
                        <a:latin typeface="DM Sans"/>
                        <a:ea typeface="DM Sans"/>
                        <a:cs typeface="DM Sans"/>
                      </a:endParaRPr>
                    </a:p>
                  </a:txBody>
                  <a:tcPr marL="91424" marR="91424" marT="0" marB="0" anchor="ctr">
                    <a:lnL w="9524" algn="ctr">
                      <a:solidFill>
                        <a:schemeClr val="dk1"/>
                      </a:solidFill>
                    </a:lnL>
                    <a:lnR w="9524" algn="ctr">
                      <a:solidFill>
                        <a:schemeClr val="dk1"/>
                      </a:solidFill>
                    </a:lnR>
                    <a:lnT w="9524" algn="ctr">
                      <a:solidFill>
                        <a:schemeClr val="dk1"/>
                      </a:solidFill>
                    </a:lnT>
                    <a:lnB w="9524" algn="ctr">
                      <a:solidFill>
                        <a:srgbClr val="595959">
                          <a:alpha val="0"/>
                        </a:srgbClr>
                      </a:solidFill>
                    </a:lnB>
                    <a:noFill/>
                  </a:tcPr>
                </a:tc>
                <a:tc>
                  <a:txBody>
                    <a:bodyPr/>
                    <a:p>
                      <a:pPr marL="0" lvl="0" indent="0" algn="ctr" rtl="0">
                        <a:spcBef>
                          <a:spcPts val="0"/>
                        </a:spcBef>
                        <a:spcAft>
                          <a:spcPts val="1599"/>
                        </a:spcAft>
                        <a:buNone/>
                        <a:defRPr/>
                      </a:pPr>
                      <a:r>
                        <a:rPr lang="it-IT" sz="1000" b="1">
                          <a:solidFill>
                            <a:schemeClr val="dk1"/>
                          </a:solidFill>
                          <a:latin typeface="DM Sans"/>
                          <a:ea typeface="DM Sans"/>
                          <a:cs typeface="DM Sans"/>
                        </a:rPr>
                        <a:t>BERT</a:t>
                      </a:r>
                      <a:endParaRPr sz="1000">
                        <a:solidFill>
                          <a:schemeClr val="dk1"/>
                        </a:solidFill>
                        <a:latin typeface="DM Sans"/>
                        <a:ea typeface="DM Sans"/>
                        <a:cs typeface="DM Sans"/>
                      </a:endParaRPr>
                    </a:p>
                  </a:txBody>
                  <a:tcPr marL="91424" marR="91424" marT="0" marB="0" anchor="ctr">
                    <a:lnL w="9524" algn="ctr">
                      <a:solidFill>
                        <a:schemeClr val="dk1"/>
                      </a:solidFill>
                    </a:lnL>
                    <a:lnR w="9524" algn="ctr">
                      <a:solidFill>
                        <a:schemeClr val="dk1"/>
                      </a:solidFill>
                    </a:lnR>
                    <a:lnT w="9524" algn="ctr">
                      <a:solidFill>
                        <a:schemeClr val="dk1"/>
                      </a:solidFill>
                    </a:lnT>
                    <a:lnB w="9524" algn="ctr">
                      <a:solidFill>
                        <a:srgbClr val="595959">
                          <a:alpha val="0"/>
                        </a:srgbClr>
                      </a:solidFill>
                    </a:lnB>
                    <a:noFill/>
                  </a:tcPr>
                </a:tc>
                <a:tc>
                  <a:txBody>
                    <a:bodyPr/>
                    <a:p>
                      <a:pPr marL="0" lvl="0" indent="0" algn="ctr" rtl="0">
                        <a:spcBef>
                          <a:spcPts val="0"/>
                        </a:spcBef>
                        <a:spcAft>
                          <a:spcPts val="1599"/>
                        </a:spcAft>
                        <a:buNone/>
                        <a:defRPr/>
                      </a:pPr>
                      <a:r>
                        <a:rPr lang="it-IT" sz="1000" b="1">
                          <a:solidFill>
                            <a:schemeClr val="dk1"/>
                          </a:solidFill>
                          <a:latin typeface="DM Sans"/>
                          <a:ea typeface="DM Sans"/>
                          <a:cs typeface="DM Sans"/>
                        </a:rPr>
                        <a:t>RoBERTa</a:t>
                      </a:r>
                      <a:endParaRPr lang="en" sz="1000">
                        <a:solidFill>
                          <a:schemeClr val="dk1"/>
                        </a:solidFill>
                        <a:latin typeface="DM Sans"/>
                        <a:ea typeface="DM Sans"/>
                        <a:cs typeface="DM Sans"/>
                      </a:endParaRPr>
                    </a:p>
                  </a:txBody>
                  <a:tcPr marL="91424" marR="91424" marT="0" marB="0" anchor="ctr">
                    <a:lnL w="9524" algn="ctr">
                      <a:solidFill>
                        <a:schemeClr val="dk1"/>
                      </a:solidFill>
                    </a:lnL>
                    <a:lnR w="9524" algn="ctr">
                      <a:solidFill>
                        <a:schemeClr val="dk1"/>
                      </a:solidFill>
                    </a:lnR>
                    <a:lnT w="9524" algn="ctr">
                      <a:solidFill>
                        <a:schemeClr val="dk1"/>
                      </a:solidFill>
                    </a:lnT>
                    <a:lnB w="9524" algn="ctr">
                      <a:solidFill>
                        <a:srgbClr val="595959">
                          <a:alpha val="0"/>
                        </a:srgbClr>
                      </a:solidFill>
                    </a:lnB>
                    <a:noFill/>
                  </a:tcPr>
                </a:tc>
                <a:tc>
                  <a:txBody>
                    <a:bodyPr/>
                    <a:p>
                      <a:pPr marL="0" lvl="0" indent="0" algn="ctr" rtl="0">
                        <a:spcBef>
                          <a:spcPts val="0"/>
                        </a:spcBef>
                        <a:spcAft>
                          <a:spcPts val="1599"/>
                        </a:spcAft>
                        <a:buNone/>
                        <a:defRPr/>
                      </a:pPr>
                      <a:r>
                        <a:rPr lang="it-IT" sz="1000" b="1">
                          <a:solidFill>
                            <a:schemeClr val="dk1"/>
                          </a:solidFill>
                          <a:latin typeface="DM Sans"/>
                          <a:ea typeface="DM Sans"/>
                          <a:cs typeface="DM Sans"/>
                        </a:rPr>
                        <a:t>BERT</a:t>
                      </a:r>
                      <a:endParaRPr sz="1000">
                        <a:solidFill>
                          <a:schemeClr val="dk1"/>
                        </a:solidFill>
                        <a:latin typeface="DM Sans"/>
                        <a:ea typeface="DM Sans"/>
                        <a:cs typeface="DM Sans"/>
                      </a:endParaRPr>
                    </a:p>
                  </a:txBody>
                  <a:tcPr marL="91424" marR="91424" marT="0" marB="0" anchor="ctr">
                    <a:lnL w="9524" algn="ctr">
                      <a:solidFill>
                        <a:schemeClr val="dk1"/>
                      </a:solidFill>
                    </a:lnL>
                    <a:lnR w="9524" algn="ctr">
                      <a:solidFill>
                        <a:schemeClr val="dk1"/>
                      </a:solidFill>
                    </a:lnR>
                    <a:lnT w="9524" algn="ctr">
                      <a:solidFill>
                        <a:schemeClr val="dk1"/>
                      </a:solidFill>
                    </a:lnT>
                    <a:lnB w="9524" algn="ctr">
                      <a:solidFill>
                        <a:srgbClr val="595959">
                          <a:alpha val="0"/>
                        </a:srgbClr>
                      </a:solidFill>
                    </a:lnB>
                    <a:noFill/>
                  </a:tcPr>
                </a:tc>
                <a:tc>
                  <a:txBody>
                    <a:bodyPr/>
                    <a:p>
                      <a:pPr marL="0" lvl="0" indent="0" algn="ctr" rtl="0">
                        <a:spcBef>
                          <a:spcPts val="0"/>
                        </a:spcBef>
                        <a:spcAft>
                          <a:spcPts val="1599"/>
                        </a:spcAft>
                        <a:buNone/>
                        <a:defRPr/>
                      </a:pPr>
                      <a:r>
                        <a:rPr lang="it-IT" sz="1000" b="1">
                          <a:solidFill>
                            <a:schemeClr val="dk1"/>
                          </a:solidFill>
                          <a:latin typeface="DM Sans"/>
                          <a:ea typeface="DM Sans"/>
                          <a:cs typeface="DM Sans"/>
                        </a:rPr>
                        <a:t>RoBERTa</a:t>
                      </a:r>
                      <a:endParaRPr lang="en" sz="1000">
                        <a:solidFill>
                          <a:schemeClr val="dk1"/>
                        </a:solidFill>
                        <a:latin typeface="DM Sans"/>
                        <a:ea typeface="DM Sans"/>
                        <a:cs typeface="DM Sans"/>
                      </a:endParaRPr>
                    </a:p>
                  </a:txBody>
                  <a:tcPr marL="91424" marR="91424" marT="0" marB="0" anchor="ctr">
                    <a:lnL w="9524" algn="ctr">
                      <a:solidFill>
                        <a:schemeClr val="dk1"/>
                      </a:solidFill>
                    </a:lnL>
                    <a:lnR w="9524" algn="ctr">
                      <a:solidFill>
                        <a:schemeClr val="dk1"/>
                      </a:solidFill>
                    </a:lnR>
                    <a:lnT w="9524" algn="ctr">
                      <a:solidFill>
                        <a:schemeClr val="dk1"/>
                      </a:solidFill>
                    </a:lnT>
                    <a:lnB w="9524" algn="ctr">
                      <a:solidFill>
                        <a:srgbClr val="595959">
                          <a:alpha val="0"/>
                        </a:srgbClr>
                      </a:solidFill>
                    </a:lnB>
                    <a:noFill/>
                  </a:tcPr>
                </a:tc>
              </a:tr>
              <a:tr h="361525">
                <a:tc>
                  <a:txBody>
                    <a:bodyPr/>
                    <a:p>
                      <a:pPr marL="0" lvl="0" indent="0" algn="l" rtl="0">
                        <a:spcBef>
                          <a:spcPts val="0"/>
                        </a:spcBef>
                        <a:spcAft>
                          <a:spcPts val="0"/>
                        </a:spcAft>
                        <a:buNone/>
                        <a:defRPr/>
                      </a:pPr>
                      <a:r>
                        <a:rPr lang="it-IT" sz="1000" b="1" u="sng">
                          <a:solidFill>
                            <a:schemeClr val="hlink"/>
                          </a:solidFill>
                          <a:latin typeface="DM Sans"/>
                          <a:ea typeface="DM Sans"/>
                          <a:cs typeface="DM Sans"/>
                        </a:rPr>
                        <a:t>LMAOSI’s paper results</a:t>
                      </a:r>
                      <a:endParaRPr sz="1000" b="1" u="sng">
                        <a:solidFill>
                          <a:schemeClr val="dk1"/>
                        </a:solidFill>
                        <a:latin typeface="DM Sans"/>
                        <a:ea typeface="DM Sans"/>
                        <a:cs typeface="DM Sans"/>
                      </a:endParaRPr>
                    </a:p>
                  </a:txBody>
                  <a:tcPr marL="91424" marR="91424" marT="0" marB="0" anchor="ctr">
                    <a:lnL w="9524" algn="ctr">
                      <a:solidFill>
                        <a:schemeClr val="dk1"/>
                      </a:solidFill>
                    </a:lnL>
                    <a:lnR w="9524" algn="ctr">
                      <a:solidFill>
                        <a:schemeClr val="dk1"/>
                      </a:solidFill>
                    </a:lnR>
                    <a:lnT w="9524" algn="ctr">
                      <a:solidFill>
                        <a:srgbClr val="595959">
                          <a:alpha val="0"/>
                        </a:srgbClr>
                      </a:solidFill>
                    </a:lnT>
                    <a:lnB w="9524" algn="ctr">
                      <a:solidFill>
                        <a:srgbClr val="595959">
                          <a:alpha val="0"/>
                        </a:srgbClr>
                      </a:solidFill>
                    </a:lnB>
                    <a:noFill/>
                  </a:tcPr>
                </a:tc>
                <a:tc>
                  <a:txBody>
                    <a:bodyPr/>
                    <a:p>
                      <a:pPr algn="ctr">
                        <a:defRPr/>
                      </a:pPr>
                      <a:r>
                        <a:rPr lang="it-IT" sz="1200" b="0"/>
                        <a:t>/</a:t>
                      </a:r>
                      <a:endParaRPr sz="1200" b="0"/>
                    </a:p>
                  </a:txBody>
                  <a:tcPr marL="91424" marR="91424" marT="0" marB="0" anchor="ctr">
                    <a:lnL w="9524" algn="ctr">
                      <a:solidFill>
                        <a:schemeClr val="dk1"/>
                      </a:solidFill>
                    </a:lnL>
                    <a:lnR w="9524" algn="ctr">
                      <a:solidFill>
                        <a:schemeClr val="dk1"/>
                      </a:solidFill>
                    </a:lnR>
                    <a:lnT w="9524" algn="ctr">
                      <a:solidFill>
                        <a:srgbClr val="595959">
                          <a:alpha val="0"/>
                        </a:srgbClr>
                      </a:solidFill>
                    </a:lnT>
                    <a:lnB w="9524" algn="ctr">
                      <a:solidFill>
                        <a:srgbClr val="595959">
                          <a:alpha val="0"/>
                        </a:srgbClr>
                      </a:solidFill>
                    </a:lnB>
                    <a:noFill/>
                  </a:tcPr>
                </a:tc>
                <a:tc>
                  <a:txBody>
                    <a:bodyPr/>
                    <a:p>
                      <a:pPr algn="ctr">
                        <a:defRPr/>
                      </a:pPr>
                      <a:r>
                        <a:rPr lang="it-IT" sz="1200" b="0"/>
                        <a:t>65.20%</a:t>
                      </a:r>
                      <a:endParaRPr sz="1200" b="0"/>
                    </a:p>
                  </a:txBody>
                  <a:tcPr marL="91424" marR="91424" marT="0" marB="0" anchor="ctr">
                    <a:lnL w="9524" algn="ctr">
                      <a:solidFill>
                        <a:schemeClr val="dk1"/>
                      </a:solidFill>
                    </a:lnL>
                    <a:lnR w="9524" algn="ctr">
                      <a:solidFill>
                        <a:schemeClr val="dk1"/>
                      </a:solidFill>
                    </a:lnR>
                    <a:lnT w="9524" algn="ctr">
                      <a:solidFill>
                        <a:srgbClr val="595959">
                          <a:alpha val="0"/>
                        </a:srgbClr>
                      </a:solidFill>
                    </a:lnT>
                    <a:lnB w="9524" algn="ctr">
                      <a:solidFill>
                        <a:srgbClr val="595959">
                          <a:alpha val="0"/>
                        </a:srgbClr>
                      </a:solidFill>
                    </a:lnB>
                    <a:noFill/>
                  </a:tcPr>
                </a:tc>
                <a:tc>
                  <a:txBody>
                    <a:bodyPr/>
                    <a:p>
                      <a:pPr algn="ctr">
                        <a:defRPr/>
                      </a:pPr>
                      <a:r>
                        <a:rPr lang="it-IT" sz="1200" b="0"/>
                        <a:t>/</a:t>
                      </a:r>
                      <a:endParaRPr lang="it-IT" sz="1200" b="0"/>
                    </a:p>
                  </a:txBody>
                  <a:tcPr marL="91424" marR="91424" marT="0" marB="0" anchor="ctr">
                    <a:lnL w="9524" algn="ctr">
                      <a:solidFill>
                        <a:schemeClr val="dk1"/>
                      </a:solidFill>
                    </a:lnL>
                    <a:lnR w="9524" algn="ctr">
                      <a:solidFill>
                        <a:schemeClr val="dk1"/>
                      </a:solidFill>
                    </a:lnR>
                    <a:lnT w="9524" algn="ctr">
                      <a:solidFill>
                        <a:srgbClr val="595959">
                          <a:alpha val="0"/>
                        </a:srgbClr>
                      </a:solidFill>
                    </a:lnT>
                    <a:lnB w="9524" algn="ctr">
                      <a:solidFill>
                        <a:srgbClr val="595959">
                          <a:alpha val="0"/>
                        </a:srgbClr>
                      </a:solidFill>
                    </a:lnB>
                    <a:noFill/>
                  </a:tcPr>
                </a:tc>
                <a:tc>
                  <a:txBody>
                    <a:bodyPr/>
                    <a:p>
                      <a:pPr algn="ctr">
                        <a:defRPr/>
                      </a:pPr>
                      <a:r>
                        <a:rPr lang="it-IT" sz="1200" b="0"/>
                        <a:t>84.60%</a:t>
                      </a:r>
                      <a:endParaRPr lang="it-IT" sz="1200" b="0"/>
                    </a:p>
                  </a:txBody>
                  <a:tcPr marL="91424" marR="91424" marT="0" marB="0" anchor="ctr">
                    <a:lnL w="9524" algn="ctr">
                      <a:solidFill>
                        <a:schemeClr val="dk1"/>
                      </a:solidFill>
                    </a:lnL>
                    <a:lnR w="9524" algn="ctr">
                      <a:solidFill>
                        <a:schemeClr val="dk1"/>
                      </a:solidFill>
                    </a:lnR>
                    <a:lnT w="9524" algn="ctr">
                      <a:solidFill>
                        <a:srgbClr val="595959">
                          <a:alpha val="0"/>
                        </a:srgbClr>
                      </a:solidFill>
                    </a:lnT>
                    <a:lnB w="9524" algn="ctr">
                      <a:solidFill>
                        <a:srgbClr val="595959">
                          <a:alpha val="0"/>
                        </a:srgbClr>
                      </a:solidFill>
                    </a:lnB>
                    <a:noFill/>
                  </a:tcPr>
                </a:tc>
                <a:tc>
                  <a:txBody>
                    <a:bodyPr/>
                    <a:p>
                      <a:pPr algn="ctr">
                        <a:defRPr/>
                      </a:pPr>
                      <a:r>
                        <a:rPr lang="it-IT" sz="1200" b="0"/>
                        <a:t>/</a:t>
                      </a:r>
                      <a:endParaRPr lang="it-IT" sz="1200" b="0"/>
                    </a:p>
                  </a:txBody>
                  <a:tcPr marL="91424" marR="91424" marT="0" marB="0" anchor="ctr">
                    <a:lnL w="9524" algn="ctr">
                      <a:solidFill>
                        <a:schemeClr val="dk1"/>
                      </a:solidFill>
                    </a:lnL>
                    <a:lnR w="9524" algn="ctr">
                      <a:solidFill>
                        <a:schemeClr val="dk1"/>
                      </a:solidFill>
                    </a:lnR>
                    <a:lnT w="9524" algn="ctr">
                      <a:solidFill>
                        <a:srgbClr val="595959">
                          <a:alpha val="0"/>
                        </a:srgbClr>
                      </a:solidFill>
                    </a:lnT>
                    <a:lnB w="9524" algn="ctr">
                      <a:solidFill>
                        <a:srgbClr val="595959">
                          <a:alpha val="0"/>
                        </a:srgbClr>
                      </a:solidFill>
                    </a:lnB>
                    <a:noFill/>
                  </a:tcPr>
                </a:tc>
                <a:tc>
                  <a:txBody>
                    <a:bodyPr/>
                    <a:p>
                      <a:pPr algn="ctr">
                        <a:defRPr/>
                      </a:pPr>
                      <a:r>
                        <a:rPr lang="it-IT" sz="1200" b="0"/>
                        <a:t>89.0%</a:t>
                      </a:r>
                      <a:endParaRPr lang="it-IT" sz="1200" b="0"/>
                    </a:p>
                  </a:txBody>
                  <a:tcPr marL="91424" marR="91424" marT="0" marB="0" anchor="ctr">
                    <a:lnL w="9524" algn="ctr">
                      <a:solidFill>
                        <a:schemeClr val="dk1"/>
                      </a:solidFill>
                    </a:lnL>
                    <a:lnR w="9524" algn="ctr">
                      <a:solidFill>
                        <a:schemeClr val="dk1"/>
                      </a:solidFill>
                    </a:lnR>
                    <a:lnT w="9524" algn="ctr">
                      <a:solidFill>
                        <a:srgbClr val="595959">
                          <a:alpha val="0"/>
                        </a:srgbClr>
                      </a:solidFill>
                    </a:lnT>
                    <a:lnB w="9524" algn="ctr">
                      <a:solidFill>
                        <a:srgbClr val="595959">
                          <a:alpha val="0"/>
                        </a:srgbClr>
                      </a:solidFill>
                    </a:lnB>
                    <a:noFill/>
                  </a:tcPr>
                </a:tc>
              </a:tr>
              <a:tr h="361525">
                <a:tc>
                  <a:txBody>
                    <a:bodyPr/>
                    <a:p>
                      <a:pPr marL="0" lvl="0" indent="0" algn="l" rtl="0">
                        <a:spcBef>
                          <a:spcPts val="0"/>
                        </a:spcBef>
                        <a:spcAft>
                          <a:spcPts val="0"/>
                        </a:spcAft>
                        <a:buNone/>
                        <a:defRPr/>
                      </a:pPr>
                      <a:r>
                        <a:rPr lang="it-IT" sz="1000" b="1" u="sng">
                          <a:solidFill>
                            <a:schemeClr val="dk1"/>
                          </a:solidFill>
                          <a:latin typeface="DM Sans"/>
                          <a:ea typeface="DM Sans"/>
                          <a:cs typeface="DM Sans"/>
                        </a:rPr>
                        <a:t>PRONTO’s prompt experiment</a:t>
                      </a:r>
                      <a:endParaRPr sz="1000" b="1" u="sng">
                        <a:solidFill>
                          <a:schemeClr val="dk1"/>
                        </a:solidFill>
                        <a:latin typeface="DM Sans"/>
                        <a:ea typeface="DM Sans"/>
                        <a:cs typeface="DM Sans"/>
                      </a:endParaRPr>
                    </a:p>
                  </a:txBody>
                  <a:tcPr marL="91424" marR="91424" marT="0" marB="0" anchor="ctr">
                    <a:lnL w="9524" algn="ctr">
                      <a:solidFill>
                        <a:schemeClr val="dk1"/>
                      </a:solidFill>
                    </a:lnL>
                    <a:lnR w="9524" algn="ctr">
                      <a:solidFill>
                        <a:schemeClr val="dk1"/>
                      </a:solidFill>
                    </a:lnR>
                    <a:lnT w="9524" algn="ctr">
                      <a:solidFill>
                        <a:srgbClr val="595959">
                          <a:alpha val="0"/>
                        </a:srgbClr>
                      </a:solidFill>
                    </a:lnT>
                    <a:lnB w="9524" algn="ctr">
                      <a:solidFill>
                        <a:srgbClr val="595959">
                          <a:alpha val="0"/>
                        </a:srgbClr>
                      </a:solidFill>
                    </a:lnB>
                    <a:noFill/>
                  </a:tcPr>
                </a:tc>
                <a:tc>
                  <a:txBody>
                    <a:bodyPr/>
                    <a:p>
                      <a:pPr algn="ctr">
                        <a:defRPr/>
                      </a:pPr>
                      <a:r>
                        <a:rPr lang="it-IT" sz="1200" b="0"/>
                        <a:t>69.80%</a:t>
                      </a:r>
                      <a:endParaRPr sz="1200" b="0"/>
                    </a:p>
                  </a:txBody>
                  <a:tcPr marL="91424" marR="91424" marT="0" marB="0" anchor="ctr">
                    <a:lnL w="9524" algn="ctr">
                      <a:solidFill>
                        <a:schemeClr val="dk1"/>
                      </a:solidFill>
                    </a:lnL>
                    <a:lnR w="9524" algn="ctr">
                      <a:solidFill>
                        <a:schemeClr val="dk1"/>
                      </a:solidFill>
                    </a:lnR>
                    <a:lnT w="9524" algn="ctr">
                      <a:solidFill>
                        <a:srgbClr val="595959">
                          <a:alpha val="0"/>
                        </a:srgbClr>
                      </a:solidFill>
                    </a:lnT>
                    <a:lnB w="9524" algn="ctr">
                      <a:solidFill>
                        <a:srgbClr val="595959">
                          <a:alpha val="0"/>
                        </a:srgbClr>
                      </a:solidFill>
                    </a:lnB>
                    <a:noFill/>
                  </a:tcPr>
                </a:tc>
                <a:tc>
                  <a:txBody>
                    <a:bodyPr/>
                    <a:p>
                      <a:pPr algn="ctr">
                        <a:defRPr/>
                      </a:pPr>
                      <a:r>
                        <a:rPr lang="it-IT" sz="1200" b="0" i="0" u="none" strike="noStrike" cap="none" spc="0">
                          <a:solidFill>
                            <a:srgbClr val="000000"/>
                          </a:solidFill>
                          <a:latin typeface="Arial"/>
                          <a:ea typeface="Arial"/>
                          <a:cs typeface="Arial"/>
                        </a:rPr>
                        <a:t>64.50% </a:t>
                      </a:r>
                      <a:br>
                        <a:rPr lang="it-IT" sz="1200" b="0" i="0" u="none" strike="noStrike" cap="none" spc="0">
                          <a:solidFill>
                            <a:srgbClr val="000000"/>
                          </a:solidFill>
                          <a:latin typeface="Arial"/>
                          <a:ea typeface="Arial"/>
                          <a:cs typeface="Arial"/>
                        </a:rPr>
                      </a:br>
                      <a:r>
                        <a:rPr lang="it-IT" sz="1200" b="0" i="0" u="none" strike="noStrike" cap="none" spc="0">
                          <a:solidFill>
                            <a:srgbClr val="FF0000"/>
                          </a:solidFill>
                          <a:latin typeface="Arial"/>
                          <a:ea typeface="Arial"/>
                          <a:cs typeface="Arial"/>
                        </a:rPr>
                        <a:t>(-1%)</a:t>
                      </a:r>
                      <a:endParaRPr sz="1200" b="0"/>
                    </a:p>
                  </a:txBody>
                  <a:tcPr marL="91424" marR="91424" marT="0" marB="0" anchor="ctr">
                    <a:lnL w="9524" algn="ctr">
                      <a:solidFill>
                        <a:schemeClr val="dk1"/>
                      </a:solidFill>
                    </a:lnL>
                    <a:lnR w="9524" algn="ctr">
                      <a:solidFill>
                        <a:schemeClr val="dk1"/>
                      </a:solidFill>
                    </a:lnR>
                    <a:lnT w="9524" algn="ctr">
                      <a:solidFill>
                        <a:srgbClr val="595959">
                          <a:alpha val="0"/>
                        </a:srgbClr>
                      </a:solidFill>
                    </a:lnT>
                    <a:lnB w="9524" algn="ctr">
                      <a:solidFill>
                        <a:srgbClr val="595959">
                          <a:alpha val="0"/>
                        </a:srgbClr>
                      </a:solidFill>
                    </a:lnB>
                    <a:noFill/>
                  </a:tcPr>
                </a:tc>
                <a:tc>
                  <a:txBody>
                    <a:bodyPr/>
                    <a:p>
                      <a:pPr algn="ctr">
                        <a:defRPr/>
                      </a:pPr>
                      <a:r>
                        <a:rPr lang="it-IT" sz="1200" b="0" i="0" u="none" strike="noStrike" cap="none" spc="0">
                          <a:solidFill>
                            <a:srgbClr val="000000"/>
                          </a:solidFill>
                          <a:latin typeface="Arial"/>
                          <a:ea typeface="Arial"/>
                          <a:cs typeface="Arial"/>
                        </a:rPr>
                        <a:t>77.43%</a:t>
                      </a:r>
                      <a:endParaRPr lang="it-IT" sz="1200" b="0" i="0" u="none" strike="noStrike" cap="none" spc="0">
                        <a:solidFill>
                          <a:srgbClr val="000000"/>
                        </a:solidFill>
                        <a:latin typeface="Arial"/>
                        <a:ea typeface="Arial"/>
                        <a:cs typeface="Arial"/>
                      </a:endParaRPr>
                    </a:p>
                  </a:txBody>
                  <a:tcPr marL="91424" marR="91424" marT="0" marB="0" anchor="ctr">
                    <a:lnL w="9524" algn="ctr">
                      <a:solidFill>
                        <a:schemeClr val="dk1"/>
                      </a:solidFill>
                    </a:lnL>
                    <a:lnR w="9524" algn="ctr">
                      <a:solidFill>
                        <a:schemeClr val="dk1"/>
                      </a:solidFill>
                    </a:lnR>
                    <a:lnT w="9524" algn="ctr">
                      <a:solidFill>
                        <a:srgbClr val="595959">
                          <a:alpha val="0"/>
                        </a:srgbClr>
                      </a:solidFill>
                    </a:lnT>
                    <a:lnB w="9524" algn="ctr">
                      <a:solidFill>
                        <a:srgbClr val="595959">
                          <a:alpha val="0"/>
                        </a:srgbClr>
                      </a:solidFill>
                    </a:lnB>
                    <a:noFill/>
                  </a:tcPr>
                </a:tc>
                <a:tc>
                  <a:txBody>
                    <a:bodyPr/>
                    <a:p>
                      <a:pPr algn="ctr">
                        <a:defRPr/>
                      </a:pPr>
                      <a:r>
                        <a:rPr lang="it-IT" sz="1200" b="0" i="0" u="none" strike="noStrike" cap="none" spc="0">
                          <a:solidFill>
                            <a:srgbClr val="000000"/>
                          </a:solidFill>
                          <a:latin typeface="Arial"/>
                          <a:ea typeface="Arial"/>
                          <a:cs typeface="Arial"/>
                        </a:rPr>
                        <a:t>75.13% </a:t>
                      </a:r>
                      <a:br>
                        <a:rPr lang="it-IT" sz="1200" b="0" i="0" u="none" strike="noStrike" cap="none" spc="0">
                          <a:solidFill>
                            <a:srgbClr val="000000"/>
                          </a:solidFill>
                          <a:latin typeface="Arial"/>
                          <a:ea typeface="Arial"/>
                          <a:cs typeface="Arial"/>
                        </a:rPr>
                      </a:br>
                      <a:r>
                        <a:rPr lang="it-IT" sz="1200" b="0" i="0" u="none" strike="noStrike" cap="none" spc="0">
                          <a:solidFill>
                            <a:srgbClr val="FF0000"/>
                          </a:solidFill>
                          <a:latin typeface="Arial"/>
                          <a:ea typeface="Arial"/>
                          <a:cs typeface="Arial"/>
                        </a:rPr>
                        <a:t>(-9%)</a:t>
                      </a:r>
                      <a:endParaRPr lang="it-IT" sz="1200" b="0" i="0" u="none" strike="noStrike" cap="none" spc="0">
                        <a:solidFill>
                          <a:srgbClr val="000000"/>
                        </a:solidFill>
                        <a:latin typeface="Arial"/>
                        <a:ea typeface="Arial"/>
                        <a:cs typeface="Arial"/>
                      </a:endParaRPr>
                    </a:p>
                  </a:txBody>
                  <a:tcPr marL="91424" marR="91424" marT="0" marB="0" anchor="ctr">
                    <a:lnL w="9524" algn="ctr">
                      <a:solidFill>
                        <a:schemeClr val="dk1"/>
                      </a:solidFill>
                    </a:lnL>
                    <a:lnR w="9524" algn="ctr">
                      <a:solidFill>
                        <a:schemeClr val="dk1"/>
                      </a:solidFill>
                    </a:lnR>
                    <a:lnT w="9524" algn="ctr">
                      <a:solidFill>
                        <a:srgbClr val="595959">
                          <a:alpha val="0"/>
                        </a:srgbClr>
                      </a:solidFill>
                    </a:lnT>
                    <a:lnB w="9524" algn="ctr">
                      <a:solidFill>
                        <a:srgbClr val="595959">
                          <a:alpha val="0"/>
                        </a:srgbClr>
                      </a:solidFill>
                    </a:lnB>
                    <a:noFill/>
                  </a:tcPr>
                </a:tc>
                <a:tc>
                  <a:txBody>
                    <a:bodyPr/>
                    <a:p>
                      <a:pPr algn="ctr">
                        <a:defRPr/>
                      </a:pPr>
                      <a:r>
                        <a:rPr lang="it-IT" sz="1200" b="0" i="0" u="none" strike="noStrike" cap="none" spc="0">
                          <a:solidFill>
                            <a:srgbClr val="000000"/>
                          </a:solidFill>
                          <a:latin typeface="Arial"/>
                          <a:ea typeface="Arial"/>
                          <a:cs typeface="Arial"/>
                        </a:rPr>
                        <a:t>84.73%</a:t>
                      </a:r>
                      <a:endParaRPr lang="it-IT" sz="1200" b="0" i="0" u="none" strike="noStrike" cap="none" spc="0">
                        <a:solidFill>
                          <a:srgbClr val="000000"/>
                        </a:solidFill>
                        <a:latin typeface="Arial"/>
                        <a:ea typeface="Arial"/>
                        <a:cs typeface="Arial"/>
                      </a:endParaRPr>
                    </a:p>
                  </a:txBody>
                  <a:tcPr marL="91424" marR="91424" marT="0" marB="0" anchor="ctr">
                    <a:lnL w="9524" algn="ctr">
                      <a:solidFill>
                        <a:schemeClr val="dk1"/>
                      </a:solidFill>
                    </a:lnL>
                    <a:lnR w="9524" algn="ctr">
                      <a:solidFill>
                        <a:schemeClr val="dk1"/>
                      </a:solidFill>
                    </a:lnR>
                    <a:lnT w="9524" algn="ctr">
                      <a:solidFill>
                        <a:srgbClr val="595959">
                          <a:alpha val="0"/>
                        </a:srgbClr>
                      </a:solidFill>
                    </a:lnT>
                    <a:lnB w="9524" algn="ctr">
                      <a:solidFill>
                        <a:srgbClr val="595959">
                          <a:alpha val="0"/>
                        </a:srgbClr>
                      </a:solidFill>
                    </a:lnB>
                    <a:noFill/>
                  </a:tcPr>
                </a:tc>
                <a:tc>
                  <a:txBody>
                    <a:bodyPr/>
                    <a:p>
                      <a:pPr algn="ctr">
                        <a:defRPr/>
                      </a:pPr>
                      <a:r>
                        <a:rPr lang="it-IT" sz="1200" b="0" i="0" u="none" strike="noStrike" cap="none" spc="0">
                          <a:solidFill>
                            <a:srgbClr val="000000"/>
                          </a:solidFill>
                          <a:latin typeface="Arial"/>
                          <a:ea typeface="Arial"/>
                          <a:cs typeface="Arial"/>
                        </a:rPr>
                        <a:t>82.63% </a:t>
                      </a:r>
                      <a:br>
                        <a:rPr lang="it-IT" sz="1200" b="0" i="0" u="none" strike="noStrike" cap="none" spc="0">
                          <a:solidFill>
                            <a:srgbClr val="000000"/>
                          </a:solidFill>
                          <a:latin typeface="Arial"/>
                          <a:ea typeface="Arial"/>
                          <a:cs typeface="Arial"/>
                        </a:rPr>
                      </a:br>
                      <a:r>
                        <a:rPr lang="it-IT" sz="1200" b="0" i="0" u="none" strike="noStrike" cap="none" spc="0">
                          <a:solidFill>
                            <a:srgbClr val="FF0000"/>
                          </a:solidFill>
                          <a:latin typeface="Arial"/>
                          <a:ea typeface="Arial"/>
                          <a:cs typeface="Arial"/>
                        </a:rPr>
                        <a:t>(-7%)</a:t>
                      </a:r>
                      <a:endParaRPr lang="it-IT" sz="1200" b="0" i="0" u="none" strike="noStrike" cap="none" spc="0">
                        <a:solidFill>
                          <a:srgbClr val="000000"/>
                        </a:solidFill>
                        <a:latin typeface="Arial"/>
                        <a:ea typeface="Arial"/>
                        <a:cs typeface="Arial"/>
                      </a:endParaRPr>
                    </a:p>
                  </a:txBody>
                  <a:tcPr marL="91424" marR="91424" marT="0" marB="0" anchor="ctr">
                    <a:lnL w="9524" algn="ctr">
                      <a:solidFill>
                        <a:schemeClr val="dk1"/>
                      </a:solidFill>
                    </a:lnL>
                    <a:lnR w="9524" algn="ctr">
                      <a:solidFill>
                        <a:schemeClr val="dk1"/>
                      </a:solidFill>
                    </a:lnR>
                    <a:lnT w="9524" algn="ctr">
                      <a:solidFill>
                        <a:srgbClr val="595959">
                          <a:alpha val="0"/>
                        </a:srgbClr>
                      </a:solidFill>
                    </a:lnT>
                    <a:lnB w="9524" algn="ctr">
                      <a:solidFill>
                        <a:srgbClr val="595959">
                          <a:alpha val="0"/>
                        </a:srgbClr>
                      </a:solidFill>
                    </a:lnB>
                    <a:noFill/>
                  </a:tcPr>
                </a:tc>
              </a:tr>
              <a:tr h="364950">
                <a:tc>
                  <a:txBody>
                    <a:bodyPr/>
                    <a:p>
                      <a:pPr marL="0" lvl="0" indent="0" algn="l" rtl="0">
                        <a:spcBef>
                          <a:spcPts val="0"/>
                        </a:spcBef>
                        <a:spcAft>
                          <a:spcPts val="0"/>
                        </a:spcAft>
                        <a:buNone/>
                        <a:defRPr/>
                      </a:pPr>
                      <a:r>
                        <a:rPr lang="it-IT" sz="1000" b="1" i="0" u="sng" strike="noStrike" cap="none" spc="0">
                          <a:solidFill>
                            <a:schemeClr val="dk1"/>
                          </a:solidFill>
                          <a:latin typeface="DM Sans"/>
                          <a:ea typeface="DM Sans"/>
                          <a:cs typeface="DM Sans"/>
                        </a:rPr>
                        <a:t>LMAOSI’s prompt experiment</a:t>
                      </a:r>
                      <a:endParaRPr sz="1000" b="1" u="sng">
                        <a:solidFill>
                          <a:schemeClr val="dk1"/>
                        </a:solidFill>
                        <a:latin typeface="DM Sans"/>
                        <a:ea typeface="DM Sans"/>
                        <a:cs typeface="DM Sans"/>
                      </a:endParaRPr>
                    </a:p>
                  </a:txBody>
                  <a:tcPr marL="91424" marR="91424" marT="0" marB="0" anchor="ctr">
                    <a:lnL w="9524" algn="ctr">
                      <a:solidFill>
                        <a:schemeClr val="dk1"/>
                      </a:solidFill>
                    </a:lnL>
                    <a:lnR w="9524" algn="ctr">
                      <a:solidFill>
                        <a:schemeClr val="dk1"/>
                      </a:solidFill>
                    </a:lnR>
                    <a:lnT w="9524" algn="ctr">
                      <a:solidFill>
                        <a:srgbClr val="595959">
                          <a:alpha val="0"/>
                        </a:srgbClr>
                      </a:solidFill>
                    </a:lnT>
                    <a:lnB w="9524" algn="ctr">
                      <a:solidFill>
                        <a:srgbClr val="595959">
                          <a:alpha val="0"/>
                        </a:srgbClr>
                      </a:solidFill>
                    </a:lnB>
                    <a:noFill/>
                  </a:tcPr>
                </a:tc>
                <a:tc>
                  <a:txBody>
                    <a:bodyPr/>
                    <a:p>
                      <a:pPr marL="0" lvl="0" indent="0" algn="ctr" rtl="0">
                        <a:spcBef>
                          <a:spcPts val="0"/>
                        </a:spcBef>
                        <a:spcAft>
                          <a:spcPts val="1599"/>
                        </a:spcAft>
                        <a:buNone/>
                        <a:defRPr/>
                      </a:pPr>
                      <a:r>
                        <a:rPr lang="it-IT" sz="1200" b="0" i="0" u="none" strike="noStrike" cap="none" spc="0">
                          <a:solidFill>
                            <a:srgbClr val="000000"/>
                          </a:solidFill>
                          <a:latin typeface="Arial"/>
                          <a:ea typeface="Arial"/>
                          <a:cs typeface="Arial"/>
                        </a:rPr>
                        <a:t>64.13</a:t>
                      </a:r>
                      <a:r>
                        <a:rPr lang="it-IT" sz="1200" b="0">
                          <a:solidFill>
                            <a:schemeClr val="dk1"/>
                          </a:solidFill>
                          <a:latin typeface="DM Sans"/>
                          <a:ea typeface="DM Sans"/>
                          <a:cs typeface="DM Sans"/>
                        </a:rPr>
                        <a:t>%</a:t>
                      </a:r>
                      <a:endParaRPr sz="1200" b="0">
                        <a:solidFill>
                          <a:schemeClr val="dk1"/>
                        </a:solidFill>
                        <a:latin typeface="DM Sans"/>
                        <a:ea typeface="DM Sans"/>
                        <a:cs typeface="DM Sans"/>
                      </a:endParaRPr>
                    </a:p>
                  </a:txBody>
                  <a:tcPr marL="91424" marR="91424" marT="0" marB="0" anchor="ctr">
                    <a:lnL w="9524" algn="ctr">
                      <a:solidFill>
                        <a:schemeClr val="dk1"/>
                      </a:solidFill>
                    </a:lnL>
                    <a:lnR w="9524" algn="ctr">
                      <a:solidFill>
                        <a:schemeClr val="dk1"/>
                      </a:solidFill>
                    </a:lnR>
                    <a:lnT w="9524" algn="ctr">
                      <a:solidFill>
                        <a:srgbClr val="595959">
                          <a:alpha val="0"/>
                        </a:srgbClr>
                      </a:solidFill>
                    </a:lnT>
                    <a:lnB w="9524" algn="ctr">
                      <a:solidFill>
                        <a:srgbClr val="595959">
                          <a:alpha val="0"/>
                        </a:srgbClr>
                      </a:solidFill>
                    </a:lnB>
                    <a:noFill/>
                  </a:tcPr>
                </a:tc>
                <a:tc>
                  <a:txBody>
                    <a:bodyPr/>
                    <a:p>
                      <a:pPr marL="0" lvl="0" indent="0" algn="ctr" rtl="0">
                        <a:spcBef>
                          <a:spcPts val="0"/>
                        </a:spcBef>
                        <a:spcAft>
                          <a:spcPts val="1599"/>
                        </a:spcAft>
                        <a:buNone/>
                        <a:defRPr/>
                      </a:pPr>
                      <a:r>
                        <a:rPr lang="it-IT" sz="1200" b="0">
                          <a:solidFill>
                            <a:schemeClr val="dk1"/>
                          </a:solidFill>
                          <a:latin typeface="DM Sans"/>
                          <a:ea typeface="DM Sans"/>
                          <a:cs typeface="DM Sans"/>
                        </a:rPr>
                        <a:t>62.80% </a:t>
                      </a:r>
                      <a:r>
                        <a:rPr lang="it-IT" sz="1200" b="0">
                          <a:solidFill>
                            <a:srgbClr val="FF0000"/>
                          </a:solidFill>
                          <a:latin typeface="DM Sans"/>
                          <a:ea typeface="DM Sans"/>
                          <a:cs typeface="DM Sans"/>
                        </a:rPr>
                        <a:t>(-3%)</a:t>
                      </a:r>
                      <a:endParaRPr sz="1200" b="0">
                        <a:solidFill>
                          <a:schemeClr val="dk1"/>
                        </a:solidFill>
                        <a:latin typeface="DM Sans"/>
                        <a:ea typeface="DM Sans"/>
                        <a:cs typeface="DM Sans"/>
                      </a:endParaRPr>
                    </a:p>
                  </a:txBody>
                  <a:tcPr marL="91424" marR="91424" marT="0" marB="0" anchor="ctr">
                    <a:lnL w="9524" algn="ctr">
                      <a:solidFill>
                        <a:schemeClr val="dk1"/>
                      </a:solidFill>
                    </a:lnL>
                    <a:lnR w="9524" algn="ctr">
                      <a:solidFill>
                        <a:schemeClr val="dk1"/>
                      </a:solidFill>
                    </a:lnR>
                    <a:lnT w="9524" algn="ctr">
                      <a:solidFill>
                        <a:srgbClr val="595959">
                          <a:alpha val="0"/>
                        </a:srgbClr>
                      </a:solidFill>
                    </a:lnT>
                    <a:lnB w="9524" algn="ctr">
                      <a:solidFill>
                        <a:srgbClr val="595959">
                          <a:alpha val="0"/>
                        </a:srgbClr>
                      </a:solidFill>
                    </a:lnB>
                    <a:noFill/>
                  </a:tcPr>
                </a:tc>
                <a:tc>
                  <a:txBody>
                    <a:bodyPr/>
                    <a:p>
                      <a:pPr algn="ctr">
                        <a:defRPr/>
                      </a:pPr>
                      <a:r>
                        <a:rPr lang="it-IT" sz="1200" b="0">
                          <a:solidFill>
                            <a:schemeClr val="dk1"/>
                          </a:solidFill>
                          <a:latin typeface="DM Sans"/>
                          <a:ea typeface="DM Sans"/>
                          <a:cs typeface="DM Sans"/>
                        </a:rPr>
                        <a:t>72.63%</a:t>
                      </a:r>
                      <a:endParaRPr lang="it-IT" sz="1200" b="0">
                        <a:solidFill>
                          <a:schemeClr val="dk1"/>
                        </a:solidFill>
                        <a:latin typeface="DM Sans"/>
                        <a:ea typeface="DM Sans"/>
                        <a:cs typeface="DM Sans"/>
                      </a:endParaRPr>
                    </a:p>
                  </a:txBody>
                  <a:tcPr marL="91424" marR="91424" marT="0" marB="0" anchor="ctr">
                    <a:lnL w="9524" algn="ctr">
                      <a:solidFill>
                        <a:schemeClr val="dk1"/>
                      </a:solidFill>
                    </a:lnL>
                    <a:lnR w="9524" algn="ctr">
                      <a:solidFill>
                        <a:schemeClr val="dk1"/>
                      </a:solidFill>
                    </a:lnR>
                    <a:lnT w="9524" algn="ctr">
                      <a:solidFill>
                        <a:srgbClr val="595959">
                          <a:alpha val="0"/>
                        </a:srgbClr>
                      </a:solidFill>
                    </a:lnT>
                    <a:lnB w="9524" algn="ctr">
                      <a:solidFill>
                        <a:srgbClr val="595959">
                          <a:alpha val="0"/>
                        </a:srgbClr>
                      </a:solidFill>
                    </a:lnB>
                    <a:noFill/>
                  </a:tcPr>
                </a:tc>
                <a:tc>
                  <a:txBody>
                    <a:bodyPr/>
                    <a:p>
                      <a:pPr algn="ctr">
                        <a:defRPr/>
                      </a:pPr>
                      <a:r>
                        <a:rPr lang="it-IT" sz="1200" b="0">
                          <a:solidFill>
                            <a:schemeClr val="dk1"/>
                          </a:solidFill>
                          <a:latin typeface="DM Sans"/>
                          <a:ea typeface="DM Sans"/>
                          <a:cs typeface="DM Sans"/>
                        </a:rPr>
                        <a:t>75.53%</a:t>
                      </a:r>
                      <a:br>
                        <a:rPr lang="it-IT" sz="1200" b="0">
                          <a:solidFill>
                            <a:schemeClr val="dk1"/>
                          </a:solidFill>
                          <a:latin typeface="DM Sans"/>
                          <a:ea typeface="DM Sans"/>
                          <a:cs typeface="DM Sans"/>
                        </a:rPr>
                      </a:br>
                      <a:r>
                        <a:rPr lang="it-IT" sz="1200" b="0" i="0" u="none" strike="noStrike" cap="none" spc="0">
                          <a:solidFill>
                            <a:srgbClr val="FF0000"/>
                          </a:solidFill>
                          <a:latin typeface="Arial"/>
                          <a:ea typeface="Arial"/>
                          <a:cs typeface="Arial"/>
                        </a:rPr>
                        <a:t>(-9%)</a:t>
                      </a:r>
                      <a:endParaRPr lang="it-IT" sz="1200" b="0">
                        <a:solidFill>
                          <a:schemeClr val="dk1"/>
                        </a:solidFill>
                        <a:latin typeface="DM Sans"/>
                        <a:ea typeface="DM Sans"/>
                        <a:cs typeface="DM Sans"/>
                      </a:endParaRPr>
                    </a:p>
                  </a:txBody>
                  <a:tcPr marL="91424" marR="91424" marT="0" marB="0" anchor="ctr">
                    <a:lnL w="9524" algn="ctr">
                      <a:solidFill>
                        <a:schemeClr val="dk1"/>
                      </a:solidFill>
                    </a:lnL>
                    <a:lnR w="9524" algn="ctr">
                      <a:solidFill>
                        <a:schemeClr val="dk1"/>
                      </a:solidFill>
                    </a:lnR>
                    <a:lnT w="9524" algn="ctr">
                      <a:solidFill>
                        <a:srgbClr val="595959">
                          <a:alpha val="0"/>
                        </a:srgbClr>
                      </a:solidFill>
                    </a:lnT>
                    <a:lnB w="9524" algn="ctr">
                      <a:solidFill>
                        <a:srgbClr val="595959">
                          <a:alpha val="0"/>
                        </a:srgbClr>
                      </a:solidFill>
                    </a:lnB>
                    <a:noFill/>
                  </a:tcPr>
                </a:tc>
                <a:tc>
                  <a:txBody>
                    <a:bodyPr/>
                    <a:p>
                      <a:pPr algn="ctr">
                        <a:defRPr/>
                      </a:pPr>
                      <a:r>
                        <a:rPr lang="it-IT" sz="1200" b="0">
                          <a:solidFill>
                            <a:schemeClr val="dk1"/>
                          </a:solidFill>
                          <a:latin typeface="DM Sans"/>
                          <a:ea typeface="DM Sans"/>
                          <a:cs typeface="DM Sans"/>
                        </a:rPr>
                        <a:t>82.63%</a:t>
                      </a:r>
                      <a:endParaRPr lang="it-IT" sz="1200" b="0">
                        <a:solidFill>
                          <a:schemeClr val="dk1"/>
                        </a:solidFill>
                        <a:latin typeface="DM Sans"/>
                        <a:ea typeface="DM Sans"/>
                        <a:cs typeface="DM Sans"/>
                      </a:endParaRPr>
                    </a:p>
                  </a:txBody>
                  <a:tcPr marL="91424" marR="91424" marT="0" marB="0" anchor="ctr">
                    <a:lnL w="9524" algn="ctr">
                      <a:solidFill>
                        <a:schemeClr val="dk1"/>
                      </a:solidFill>
                    </a:lnL>
                    <a:lnR w="9524" algn="ctr">
                      <a:solidFill>
                        <a:schemeClr val="dk1"/>
                      </a:solidFill>
                    </a:lnR>
                    <a:lnT w="9524" algn="ctr">
                      <a:solidFill>
                        <a:srgbClr val="595959">
                          <a:alpha val="0"/>
                        </a:srgbClr>
                      </a:solidFill>
                    </a:lnT>
                    <a:lnB w="9524" algn="ctr">
                      <a:solidFill>
                        <a:srgbClr val="595959">
                          <a:alpha val="0"/>
                        </a:srgbClr>
                      </a:solidFill>
                    </a:lnB>
                    <a:noFill/>
                  </a:tcPr>
                </a:tc>
                <a:tc>
                  <a:txBody>
                    <a:bodyPr/>
                    <a:p>
                      <a:pPr algn="ctr">
                        <a:defRPr/>
                      </a:pPr>
                      <a:r>
                        <a:rPr lang="it-IT" sz="1200" b="0" i="0" u="none" strike="noStrike" cap="none" spc="0">
                          <a:solidFill>
                            <a:srgbClr val="000000"/>
                          </a:solidFill>
                          <a:latin typeface="Arial"/>
                          <a:ea typeface="Arial"/>
                          <a:cs typeface="Arial"/>
                        </a:rPr>
                        <a:t>82.46% </a:t>
                      </a:r>
                      <a:br>
                        <a:rPr lang="it-IT" sz="1200" b="0" i="0" u="none" strike="noStrike" cap="none" spc="0">
                          <a:solidFill>
                            <a:srgbClr val="000000"/>
                          </a:solidFill>
                          <a:latin typeface="Arial"/>
                          <a:ea typeface="Arial"/>
                          <a:cs typeface="Arial"/>
                        </a:rPr>
                      </a:br>
                      <a:r>
                        <a:rPr lang="it-IT" sz="1200" b="0" i="0" u="none" strike="noStrike" cap="none" spc="0">
                          <a:solidFill>
                            <a:srgbClr val="FF0000"/>
                          </a:solidFill>
                          <a:latin typeface="Arial"/>
                          <a:ea typeface="Arial"/>
                          <a:cs typeface="Arial"/>
                        </a:rPr>
                        <a:t>(-7%)</a:t>
                      </a:r>
                      <a:endParaRPr lang="it-IT" sz="1200" b="0" i="0" u="none" strike="noStrike" cap="none" spc="0">
                        <a:solidFill>
                          <a:srgbClr val="000000"/>
                        </a:solidFill>
                        <a:latin typeface="Arial"/>
                        <a:ea typeface="Arial"/>
                        <a:cs typeface="Arial"/>
                      </a:endParaRPr>
                    </a:p>
                  </a:txBody>
                  <a:tcPr marL="91424" marR="91424" marT="0" marB="0" anchor="ctr">
                    <a:lnL w="9524" algn="ctr">
                      <a:solidFill>
                        <a:schemeClr val="dk1"/>
                      </a:solidFill>
                    </a:lnL>
                    <a:lnR w="9524" algn="ctr">
                      <a:solidFill>
                        <a:schemeClr val="dk1"/>
                      </a:solidFill>
                    </a:lnR>
                    <a:lnT w="9524" algn="ctr">
                      <a:solidFill>
                        <a:srgbClr val="595959">
                          <a:alpha val="0"/>
                        </a:srgbClr>
                      </a:solidFill>
                    </a:lnT>
                    <a:lnB w="9524" algn="ctr">
                      <a:solidFill>
                        <a:srgbClr val="595959">
                          <a:alpha val="0"/>
                        </a:srgbClr>
                      </a:solidFill>
                    </a:lnB>
                    <a:noFill/>
                  </a:tcPr>
                </a:tc>
              </a:tr>
            </a:tbl>
          </a:graphicData>
        </a:graphic>
      </p:graphicFrame>
      <p:sp>
        <p:nvSpPr>
          <p:cNvPr id="1009750404" name="Google Shape;107;p25"/>
          <p:cNvSpPr txBox="1"/>
          <p:nvPr>
            <p:ph type="body" idx="1"/>
          </p:nvPr>
        </p:nvSpPr>
        <p:spPr bwMode="auto">
          <a:xfrm flipH="0" flipV="0">
            <a:off x="720000" y="2952749"/>
            <a:ext cx="7704000" cy="1928812"/>
          </a:xfrm>
          <a:prstGeom prst="rect">
            <a:avLst/>
          </a:prstGeom>
        </p:spPr>
        <p:txBody>
          <a:bodyPr spcFirstLastPara="1" wrap="square" lIns="91424" tIns="91424" rIns="91424" bIns="91424" anchor="t" anchorCtr="0">
            <a:noAutofit/>
          </a:bodyPr>
          <a:lstStyle/>
          <a:p>
            <a:pPr marL="0" marR="0" lvl="0" indent="0" algn="l" rtl="0">
              <a:lnSpc>
                <a:spcPct val="100000"/>
              </a:lnSpc>
              <a:spcBef>
                <a:spcPts val="0"/>
              </a:spcBef>
              <a:spcAft>
                <a:spcPts val="0"/>
              </a:spcAft>
              <a:buClr>
                <a:schemeClr val="dk1"/>
              </a:buClr>
              <a:buSzPts val="1200"/>
              <a:buFont typeface="Nunito Light"/>
              <a:buNone/>
              <a:defRPr/>
            </a:pPr>
            <a:r>
              <a:rPr lang="it-IT" sz="1200" b="0" i="0" u="none" strike="noStrike" cap="none" spc="0">
                <a:solidFill>
                  <a:schemeClr val="dk1"/>
                </a:solidFill>
                <a:latin typeface="DM Sans"/>
                <a:ea typeface="DM Sans"/>
                <a:cs typeface="DM Sans"/>
              </a:rPr>
              <a:t>As </a:t>
            </a:r>
            <a:r>
              <a:rPr lang="it-IT" sz="1200" b="0" i="0" u="none" strike="noStrike" cap="none" spc="0">
                <a:solidFill>
                  <a:schemeClr val="dk1"/>
                </a:solidFill>
                <a:latin typeface="DM Sans"/>
                <a:ea typeface="DM Sans"/>
                <a:cs typeface="DM Sans"/>
              </a:rPr>
              <a:t>we can s</a:t>
            </a:r>
            <a:r>
              <a:rPr lang="it-IT" sz="1200" b="0" i="0" u="none" strike="noStrike" cap="none" spc="0">
                <a:solidFill>
                  <a:schemeClr val="dk1"/>
                </a:solidFill>
                <a:latin typeface="DM Sans"/>
                <a:ea typeface="DM Sans"/>
                <a:cs typeface="DM Sans"/>
              </a:rPr>
              <a:t>ee, for this experiment, we have a bit of a gap (of around 8%) accuracy between results from original paper (in 32 and 128 shot) and result we obtained in our experiment replication. </a:t>
            </a:r>
            <a:endParaRPr lang="it-IT" sz="1200" b="0" i="0" u="none" strike="noStrike" cap="none" spc="0">
              <a:solidFill>
                <a:schemeClr val="dk1"/>
              </a:solidFill>
              <a:latin typeface="DM Sans"/>
              <a:ea typeface="DM Sans"/>
              <a:cs typeface="DM Sans"/>
            </a:endParaRPr>
          </a:p>
          <a:p>
            <a:pPr marL="0" marR="0" lvl="0" indent="0" algn="l" rtl="0">
              <a:lnSpc>
                <a:spcPct val="100000"/>
              </a:lnSpc>
              <a:spcBef>
                <a:spcPts val="0"/>
              </a:spcBef>
              <a:spcAft>
                <a:spcPts val="0"/>
              </a:spcAft>
              <a:buClr>
                <a:schemeClr val="dk1"/>
              </a:buClr>
              <a:buSzPts val="1200"/>
              <a:buFont typeface="Nunito Light"/>
              <a:buNone/>
              <a:defRPr/>
            </a:pPr>
            <a:endParaRPr lang="it-IT" sz="700" b="0" i="0" u="none" strike="noStrike" cap="none" spc="0">
              <a:solidFill>
                <a:schemeClr val="dk1"/>
              </a:solidFill>
              <a:latin typeface="DM Sans"/>
              <a:ea typeface="DM Sans"/>
              <a:cs typeface="DM Sans"/>
            </a:endParaRPr>
          </a:p>
          <a:p>
            <a:pPr marL="0" marR="0" lvl="0" indent="0" algn="l" rtl="0">
              <a:lnSpc>
                <a:spcPct val="100000"/>
              </a:lnSpc>
              <a:spcBef>
                <a:spcPts val="0"/>
              </a:spcBef>
              <a:spcAft>
                <a:spcPts val="0"/>
              </a:spcAft>
              <a:buClr>
                <a:schemeClr val="dk1"/>
              </a:buClr>
              <a:buSzPts val="1200"/>
              <a:buFont typeface="Nunito Light"/>
              <a:buNone/>
              <a:defRPr/>
            </a:pPr>
            <a:r>
              <a:rPr lang="it-IT" sz="1200" b="0" i="0" u="none" strike="noStrike" cap="none" spc="0">
                <a:solidFill>
                  <a:schemeClr val="dk1"/>
                </a:solidFill>
                <a:latin typeface="DM Sans"/>
                <a:ea typeface="DM Sans"/>
                <a:cs typeface="DM Sans"/>
              </a:rPr>
              <a:t>Yet, if we look closer the results using </a:t>
            </a:r>
            <a:r>
              <a:rPr lang="it-IT" sz="1200" b="1" i="0" u="none" strike="noStrike" cap="none" spc="0">
                <a:solidFill>
                  <a:schemeClr val="dk1"/>
                </a:solidFill>
                <a:latin typeface="DM Sans"/>
                <a:ea typeface="DM Sans"/>
                <a:cs typeface="DM Sans"/>
              </a:rPr>
              <a:t>PRONTO’s prompt still exceeds the ones obtained with LMAOSI's Promt</a:t>
            </a:r>
            <a:r>
              <a:rPr lang="it-IT" sz="1200" b="0" i="0" u="none" strike="noStrike" cap="none" spc="0">
                <a:solidFill>
                  <a:schemeClr val="dk1"/>
                </a:solidFill>
                <a:latin typeface="DM Sans"/>
                <a:ea typeface="DM Sans"/>
                <a:cs typeface="DM Sans"/>
              </a:rPr>
              <a:t>. If we evaluate difference between this prompt and LMAOSI’s prompt we can n</a:t>
            </a:r>
            <a:r>
              <a:rPr lang="it-IT" sz="1200" b="1" i="0" u="none" strike="noStrike" cap="none" spc="0">
                <a:solidFill>
                  <a:schemeClr val="dk1"/>
                </a:solidFill>
                <a:latin typeface="DM Sans"/>
                <a:ea typeface="DM Sans"/>
                <a:cs typeface="DM Sans"/>
              </a:rPr>
              <a:t>arrow the difference between results from original paper and our results</a:t>
            </a:r>
            <a:r>
              <a:rPr lang="it-IT" sz="1200" b="0" i="0" u="none" strike="noStrike" cap="none" spc="0">
                <a:solidFill>
                  <a:schemeClr val="dk1"/>
                </a:solidFill>
                <a:latin typeface="DM Sans"/>
                <a:ea typeface="DM Sans"/>
                <a:cs typeface="DM Sans"/>
              </a:rPr>
              <a:t>, once again to sustain hypotesis that prompting correctly matters.</a:t>
            </a:r>
            <a:endParaRPr lang="it-IT" sz="1200" b="0" i="0" u="none" strike="noStrike" cap="none" spc="0">
              <a:solidFill>
                <a:schemeClr val="dk1"/>
              </a:solidFill>
              <a:latin typeface="DM Sans"/>
              <a:ea typeface="DM Sans"/>
              <a:cs typeface="DM Sans"/>
            </a:endParaRPr>
          </a:p>
          <a:p>
            <a:pPr marL="0" marR="0" lvl="0" indent="0" algn="l" rtl="0">
              <a:lnSpc>
                <a:spcPct val="100000"/>
              </a:lnSpc>
              <a:spcBef>
                <a:spcPts val="0"/>
              </a:spcBef>
              <a:spcAft>
                <a:spcPts val="0"/>
              </a:spcAft>
              <a:buClr>
                <a:schemeClr val="dk1"/>
              </a:buClr>
              <a:buSzPts val="1200"/>
              <a:buFont typeface="Nunito Light"/>
              <a:buNone/>
              <a:defRPr/>
            </a:pPr>
            <a:endParaRPr sz="700"/>
          </a:p>
          <a:p>
            <a:pPr marL="0" marR="0" lvl="0" indent="0" algn="l" rtl="0">
              <a:lnSpc>
                <a:spcPct val="100000"/>
              </a:lnSpc>
              <a:spcBef>
                <a:spcPts val="0"/>
              </a:spcBef>
              <a:spcAft>
                <a:spcPts val="0"/>
              </a:spcAft>
              <a:buClr>
                <a:schemeClr val="dk1"/>
              </a:buClr>
              <a:buSzPts val="1200"/>
              <a:buFont typeface="Nunito Light"/>
              <a:buNone/>
              <a:defRPr/>
            </a:pPr>
            <a:r>
              <a:rPr lang="it-IT"/>
              <a:t>Yet, we can also see that difference between promtpt1 and prompt2 become much smaller the more training the verbalized is subjected to.</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35896795" name="Google Shape;133;p28"/>
          <p:cNvSpPr txBox="1"/>
          <p:nvPr>
            <p:ph type="title"/>
          </p:nvPr>
        </p:nvSpPr>
        <p:spPr bwMode="auto">
          <a:xfrm flipH="0" flipV="0">
            <a:off x="542674" y="991835"/>
            <a:ext cx="7966874" cy="925070"/>
          </a:xfrm>
          <a:prstGeom prst="rect">
            <a:avLst/>
          </a:prstGeom>
        </p:spPr>
        <p:txBody>
          <a:bodyPr spcFirstLastPara="1" vertOverflow="overflow" horzOverflow="overflow" vert="horz" wrap="square" lIns="91424" tIns="91424" rIns="91424" bIns="91424" numCol="1" spcCol="0" rtlCol="0" fromWordArt="0" anchor="ctr" anchorCtr="0" forceAA="0" upright="0" compatLnSpc="0">
            <a:noAutofit/>
          </a:bodyPr>
          <a:lstStyle/>
          <a:p>
            <a:pPr marL="0" lvl="0" indent="0" algn="r" rtl="0">
              <a:spcBef>
                <a:spcPts val="0"/>
              </a:spcBef>
              <a:spcAft>
                <a:spcPts val="0"/>
              </a:spcAft>
              <a:buNone/>
              <a:defRPr/>
            </a:pPr>
            <a:r>
              <a:rPr lang="it-IT" sz="4500" b="0" i="0" u="none" strike="noStrike" cap="none" spc="0">
                <a:solidFill>
                  <a:schemeClr val="dk1"/>
                </a:solidFill>
                <a:latin typeface="Funnel Display"/>
                <a:ea typeface="Funnel Display"/>
                <a:cs typeface="Funnel Display"/>
              </a:rPr>
              <a:t>PRONTO’S </a:t>
            </a:r>
            <a:r>
              <a:rPr lang="it-IT" sz="4500" b="0" i="0" u="none" strike="noStrike" cap="none" spc="0">
                <a:solidFill>
                  <a:schemeClr val="dk1"/>
                </a:solidFill>
                <a:latin typeface="Funnel Display"/>
                <a:ea typeface="Funnel Display"/>
                <a:cs typeface="Funnel Display"/>
              </a:rPr>
              <a:t>VERBALIZERS</a:t>
            </a:r>
            <a:endParaRPr sz="4500"/>
          </a:p>
        </p:txBody>
      </p:sp>
      <p:sp>
        <p:nvSpPr>
          <p:cNvPr id="458078876" name="Google Shape;134;p28"/>
          <p:cNvSpPr txBox="1"/>
          <p:nvPr>
            <p:ph type="title" idx="2"/>
          </p:nvPr>
        </p:nvSpPr>
        <p:spPr bwMode="auto">
          <a:xfrm>
            <a:off x="464024" y="424695"/>
            <a:ext cx="859799" cy="668999"/>
          </a:xfrm>
          <a:prstGeom prst="rect">
            <a:avLst/>
          </a:prstGeom>
        </p:spPr>
        <p:txBody>
          <a:bodyPr spcFirstLastPara="1" wrap="square" lIns="91424" tIns="91424" rIns="91424" bIns="91424" anchor="ctr" anchorCtr="0">
            <a:noAutofit/>
          </a:bodyPr>
          <a:lstStyle/>
          <a:p>
            <a:pPr marL="0" lvl="0" indent="0" algn="l" rtl="0">
              <a:spcBef>
                <a:spcPts val="0"/>
              </a:spcBef>
              <a:spcAft>
                <a:spcPts val="0"/>
              </a:spcAft>
              <a:buNone/>
              <a:defRPr/>
            </a:pPr>
            <a:r>
              <a:rPr lang="en"/>
              <a:t>0</a:t>
            </a:r>
            <a:r>
              <a:rPr lang="it-IT"/>
              <a:t>4</a:t>
            </a:r>
            <a:endParaRPr/>
          </a:p>
        </p:txBody>
      </p:sp>
      <p:sp>
        <p:nvSpPr>
          <p:cNvPr id="468452264" name="Google Shape;135;p28"/>
          <p:cNvSpPr txBox="1"/>
          <p:nvPr>
            <p:ph type="subTitle" idx="1"/>
          </p:nvPr>
        </p:nvSpPr>
        <p:spPr bwMode="auto">
          <a:xfrm flipH="0" flipV="0">
            <a:off x="542674" y="2250281"/>
            <a:ext cx="7966874" cy="1878599"/>
          </a:xfrm>
          <a:prstGeom prst="rect">
            <a:avLst/>
          </a:prstGeom>
        </p:spPr>
        <p:txBody>
          <a:bodyPr spcFirstLastPara="1" vertOverflow="overflow" horzOverflow="overflow" vert="horz" wrap="square" lIns="91424" tIns="91424" rIns="91424" bIns="91424" numCol="1" spcCol="0" rtlCol="0" fromWordArt="0" anchor="ctr" anchorCtr="0" forceAA="0" upright="0" compatLnSpc="0">
            <a:noAutofit/>
          </a:bodyPr>
          <a:lstStyle/>
          <a:p>
            <a:pPr marL="0" lvl="0" indent="0" algn="l" rtl="0">
              <a:spcBef>
                <a:spcPts val="0"/>
              </a:spcBef>
              <a:spcAft>
                <a:spcPts val="0"/>
              </a:spcAft>
              <a:buNone/>
              <a:defRPr/>
            </a:pPr>
            <a:r>
              <a:rPr lang="it-IT" sz="1200" b="0" i="0" u="none" strike="noStrike" cap="none" spc="0">
                <a:solidFill>
                  <a:schemeClr val="dk1"/>
                </a:solidFill>
                <a:latin typeface="DM Sans"/>
                <a:ea typeface="DM Sans"/>
                <a:cs typeface="DM Sans"/>
              </a:rPr>
              <a:t>Probing experiment that aims to better performance from regular verbalizers as seen before by tweaking the verbalizers models components. </a:t>
            </a:r>
            <a:endParaRPr lang="it-IT" sz="1200" b="0" i="0" u="none" strike="noStrike" cap="none" spc="0">
              <a:solidFill>
                <a:schemeClr val="dk1"/>
              </a:solidFill>
              <a:latin typeface="Times New Roman"/>
              <a:cs typeface="Times New Roman"/>
            </a:endParaRPr>
          </a:p>
          <a:p>
            <a:pPr marL="0" lvl="0" indent="0" algn="l" rtl="0">
              <a:spcBef>
                <a:spcPts val="0"/>
              </a:spcBef>
              <a:spcAft>
                <a:spcPts val="0"/>
              </a:spcAft>
              <a:buNone/>
              <a:defRPr/>
            </a:pPr>
            <a:endParaRPr lang="it-IT" sz="700" b="0" i="0" u="none" strike="noStrike" cap="none" spc="0">
              <a:solidFill>
                <a:schemeClr val="dk1"/>
              </a:solidFill>
              <a:latin typeface="Times New Roman"/>
              <a:cs typeface="Times New Roman"/>
            </a:endParaRPr>
          </a:p>
          <a:p>
            <a:pPr marL="0" lvl="0" indent="0" algn="l" rtl="0">
              <a:spcBef>
                <a:spcPts val="0"/>
              </a:spcBef>
              <a:spcAft>
                <a:spcPts val="0"/>
              </a:spcAft>
              <a:buNone/>
              <a:defRPr/>
            </a:pPr>
            <a:r>
              <a:rPr lang="it-IT" sz="1200" b="0" i="0" u="none" strike="noStrike" cap="none" spc="0">
                <a:solidFill>
                  <a:schemeClr val="dk1"/>
                </a:solidFill>
                <a:latin typeface="DM Sans"/>
                <a:ea typeface="DM Sans"/>
                <a:cs typeface="DM Sans"/>
              </a:rPr>
              <a:t>For this experiment we’ll implement a total of 4 verbalizers each independet from one-another</a:t>
            </a:r>
            <a:endParaRPr lang="it-IT" sz="1200"/>
          </a:p>
          <a:p>
            <a:pPr marL="0" lvl="0" indent="0" algn="l" rtl="0">
              <a:spcBef>
                <a:spcPts val="0"/>
              </a:spcBef>
              <a:spcAft>
                <a:spcPts val="0"/>
              </a:spcAft>
              <a:buNone/>
              <a:defRPr/>
            </a:pPr>
            <a:endParaRPr lang="it-IT"/>
          </a:p>
        </p:txBody>
      </p:sp>
      <p:cxnSp>
        <p:nvCxnSpPr>
          <p:cNvPr id="562764043" name="Google Shape;136;p28"/>
          <p:cNvCxnSpPr/>
          <p:nvPr/>
        </p:nvCxnSpPr>
        <p:spPr bwMode="auto">
          <a:xfrm>
            <a:off x="1217749" y="928580"/>
            <a:ext cx="7291800" cy="0"/>
          </a:xfrm>
          <a:prstGeom prst="straightConnector1">
            <a:avLst/>
          </a:prstGeom>
          <a:noFill/>
          <a:ln w="9525" cap="flat" cmpd="sng">
            <a:solidFill>
              <a:schemeClr val="dk1"/>
            </a:solidFill>
            <a:prstDash val="solid"/>
            <a:round/>
            <a:headEnd type="none" w="med" len="med"/>
            <a:tailEnd type="none" w="med" len="med"/>
          </a:ln>
        </p:spPr>
      </p:cxnSp>
      <p:sp>
        <p:nvSpPr>
          <p:cNvPr id="960446515" name=""/>
          <p:cNvSpPr/>
          <p:nvPr/>
        </p:nvSpPr>
        <p:spPr bwMode="auto">
          <a:xfrm flipH="0" flipV="0">
            <a:off x="1323822" y="1789993"/>
            <a:ext cx="7217204" cy="253824"/>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lgn="r">
              <a:defRPr/>
            </a:pPr>
            <a:r>
              <a:rPr sz="1050" b="1" i="0" u="none">
                <a:solidFill>
                  <a:schemeClr val="tx1"/>
                </a:solidFill>
                <a:latin typeface="Droid Sans Mono"/>
                <a:ea typeface="Droid Sans Mono"/>
                <a:cs typeface="Droid Sans Mono"/>
              </a:rPr>
              <a:t>prompt → MLM (frozen) → lo</a:t>
            </a:r>
            <a:r>
              <a:rPr sz="1050" b="1" i="0" u="none">
                <a:solidFill>
                  <a:schemeClr val="tx1"/>
                </a:solidFill>
                <a:latin typeface="Droid Sans Mono"/>
                <a:ea typeface="Droid Sans Mono"/>
                <a:cs typeface="Droid Sans Mono"/>
              </a:rPr>
              <a:t>gits</a:t>
            </a:r>
            <a:r>
              <a:rPr lang="it-IT" sz="1050" b="1" i="0" u="none">
                <a:solidFill>
                  <a:schemeClr val="tx1"/>
                </a:solidFill>
                <a:latin typeface="Droid Sans Mono"/>
                <a:ea typeface="Droid Sans Mono"/>
                <a:cs typeface="Droid Sans Mono"/>
              </a:rPr>
              <a:t> / hidden states </a:t>
            </a:r>
            <a:r>
              <a:rPr sz="1050" b="1" i="0" u="none">
                <a:solidFill>
                  <a:schemeClr val="tx1"/>
                </a:solidFill>
                <a:latin typeface="Droid Sans Mono"/>
                <a:ea typeface="Droid Sans Mono"/>
                <a:cs typeface="Droid Sans Mono"/>
              </a:rPr>
              <a:t>→ </a:t>
            </a:r>
            <a:r>
              <a:rPr sz="1050" b="1" i="0" u="none">
                <a:solidFill>
                  <a:schemeClr val="tx1"/>
                </a:solidFill>
                <a:latin typeface="Droid Sans Mono"/>
                <a:ea typeface="Droid Sans Mono"/>
                <a:cs typeface="Droid Sans Mono"/>
              </a:rPr>
              <a:t>trainable classifier</a:t>
            </a:r>
            <a:r>
              <a:rPr lang="it-IT" sz="1050" b="1" i="0" u="none">
                <a:solidFill>
                  <a:schemeClr val="tx1"/>
                </a:solidFill>
                <a:latin typeface="Droid Sans Mono"/>
                <a:ea typeface="Droid Sans Mono"/>
                <a:cs typeface="Droid Sans Mono"/>
              </a:rPr>
              <a:t> </a:t>
            </a:r>
            <a:r>
              <a:rPr sz="1050" b="1" i="0" u="none">
                <a:solidFill>
                  <a:schemeClr val="tx1"/>
                </a:solidFill>
                <a:latin typeface="Droid Sans Mono"/>
                <a:ea typeface="Droid Sans Mono"/>
                <a:cs typeface="Droid Sans Mono"/>
              </a:rPr>
              <a:t>→</a:t>
            </a:r>
            <a:r>
              <a:rPr sz="1050" b="1" i="0" u="none">
                <a:solidFill>
                  <a:schemeClr val="tx1"/>
                </a:solidFill>
                <a:latin typeface="Droid Sans Mono"/>
                <a:ea typeface="Droid Sans Mono"/>
                <a:cs typeface="Droid Sans Mono"/>
              </a:rPr>
              <a:t> label</a:t>
            </a:r>
            <a:endParaRPr b="1">
              <a:solidFill>
                <a:schemeClr val="tx1"/>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85986548" name="Google Shape;106;p25"/>
          <p:cNvSpPr txBox="1"/>
          <p:nvPr>
            <p:ph type="title"/>
          </p:nvPr>
        </p:nvSpPr>
        <p:spPr bwMode="auto">
          <a:xfrm>
            <a:off x="720000" y="342630"/>
            <a:ext cx="7704000" cy="572699"/>
          </a:xfrm>
          <a:prstGeom prst="rect">
            <a:avLst/>
          </a:prstGeom>
        </p:spPr>
        <p:txBody>
          <a:bodyPr spcFirstLastPara="1" wrap="square" lIns="91424" tIns="91424" rIns="91424" bIns="91424" anchor="t" anchorCtr="0">
            <a:noAutofit/>
          </a:bodyPr>
          <a:lstStyle/>
          <a:p>
            <a:pPr marL="0" lvl="0" indent="0" algn="l" rtl="0">
              <a:spcBef>
                <a:spcPts val="0"/>
              </a:spcBef>
              <a:spcAft>
                <a:spcPts val="0"/>
              </a:spcAft>
              <a:buNone/>
              <a:defRPr/>
            </a:pPr>
            <a:r>
              <a:rPr lang="it-IT"/>
              <a:t>DISCLAIMER: modifying the dataset</a:t>
            </a:r>
            <a:endParaRPr/>
          </a:p>
        </p:txBody>
      </p:sp>
      <p:sp>
        <p:nvSpPr>
          <p:cNvPr id="1430077010" name="Google Shape;107;p25"/>
          <p:cNvSpPr txBox="1"/>
          <p:nvPr>
            <p:ph type="body" idx="1"/>
          </p:nvPr>
        </p:nvSpPr>
        <p:spPr bwMode="auto">
          <a:xfrm flipH="0" flipV="0">
            <a:off x="553312" y="915330"/>
            <a:ext cx="7704000" cy="3768486"/>
          </a:xfrm>
          <a:prstGeom prst="rect">
            <a:avLst/>
          </a:prstGeom>
        </p:spPr>
        <p:txBody>
          <a:bodyPr spcFirstLastPara="1" wrap="square" lIns="91424" tIns="91424" rIns="91424" bIns="91424" anchor="t" anchorCtr="0">
            <a:noAutofit/>
          </a:bodyPr>
          <a:lstStyle/>
          <a:p>
            <a:pPr marL="152399" indent="0">
              <a:buClr>
                <a:schemeClr val="dk1"/>
              </a:buClr>
              <a:buSzPts val="1200"/>
              <a:buFont typeface="Nunito Light"/>
              <a:buNone/>
              <a:defRPr/>
            </a:pPr>
            <a:r>
              <a:rPr lang="it-IT" sz="1050" b="0" i="0" u="none">
                <a:solidFill>
                  <a:schemeClr val="tx1"/>
                </a:solidFill>
                <a:latin typeface="Droid Sans Mono"/>
                <a:ea typeface="Droid Sans Mono"/>
                <a:cs typeface="Droid Sans Mono"/>
              </a:rPr>
              <a:t>To evaluate this experiment PRONTO’s paper uses a completely different dataset of only positive, then builds a dataset with Reverse, Soft and Hard negatives. To fully replicate the experiment we also build a similiat dataset.</a:t>
            </a:r>
            <a:endParaRPr lang="it-IT" sz="1050" b="0" i="0" u="none">
              <a:solidFill>
                <a:schemeClr val="tx1"/>
              </a:solidFill>
              <a:latin typeface="Droid Sans Mono"/>
              <a:ea typeface="Droid Sans Mono"/>
              <a:cs typeface="Droid Sans Mono"/>
            </a:endParaRPr>
          </a:p>
          <a:p>
            <a:pPr marL="152399" indent="0">
              <a:buClr>
                <a:schemeClr val="dk1"/>
              </a:buClr>
              <a:buSzPts val="1200"/>
              <a:buFont typeface="Nunito Light"/>
              <a:buNone/>
              <a:defRPr/>
            </a:pPr>
            <a:endParaRPr>
              <a:solidFill>
                <a:schemeClr val="tx1"/>
              </a:solidFill>
            </a:endParaRPr>
          </a:p>
          <a:p>
            <a:pPr marL="152399" indent="0">
              <a:buClr>
                <a:schemeClr val="dk1"/>
              </a:buClr>
              <a:buSzPts val="1200"/>
              <a:buFont typeface="Nunito Light"/>
              <a:buNone/>
              <a:defRPr/>
            </a:pPr>
            <a:r>
              <a:rPr sz="1050" b="0" i="0" u="none">
                <a:solidFill>
                  <a:schemeClr val="tx1"/>
                </a:solidFill>
                <a:latin typeface="Droid Sans Mono"/>
                <a:ea typeface="Droid Sans Mono"/>
                <a:cs typeface="Droid Sans Mono"/>
              </a:rPr>
              <a:t>Given we are using OntoLAMA (atomic-si/go), we don't have a rich graph like DBpedia, so the realistic and defensible version is negatives to implement. Differenttly from PRONTO's paper by using OntoLams's dataset we already have a dataset that has soft negatives (like the one used int the PRONTO's paper) but we'll need a dataset with following structure:</a:t>
            </a:r>
            <a:br>
              <a:rPr sz="1050" b="0" i="0" u="none">
                <a:solidFill>
                  <a:schemeClr val="tx1"/>
                </a:solidFill>
                <a:latin typeface="Droid Sans Mono"/>
                <a:ea typeface="Droid Sans Mono"/>
                <a:cs typeface="Droid Sans Mono"/>
              </a:rPr>
            </a:br>
            <a:endParaRPr sz="1050" b="0" i="0" u="none">
              <a:solidFill>
                <a:schemeClr val="tx1"/>
              </a:solidFill>
              <a:latin typeface="Droid Sans Mono"/>
              <a:ea typeface="Droid Sans Mono"/>
              <a:cs typeface="Droid Sans Mono"/>
            </a:endParaRPr>
          </a:p>
          <a:p>
            <a:pPr>
              <a:defRPr/>
            </a:pPr>
            <a:r>
              <a:rPr sz="1050" b="1" i="0" u="none">
                <a:solidFill>
                  <a:schemeClr val="tx1"/>
                </a:solidFill>
                <a:latin typeface="Droid Sans Mono"/>
                <a:ea typeface="Droid Sans Mono"/>
                <a:cs typeface="Droid Sans Mono"/>
              </a:rPr>
              <a:t>Reverse negative</a:t>
            </a:r>
            <a:r>
              <a:rPr lang="it-IT" sz="1050" b="1" i="0" u="none">
                <a:solidFill>
                  <a:schemeClr val="tx1"/>
                </a:solidFill>
                <a:latin typeface="Droid Sans Mono"/>
                <a:ea typeface="Droid Sans Mono"/>
                <a:cs typeface="Droid Sans Mono"/>
              </a:rPr>
              <a:t>s</a:t>
            </a:r>
            <a:r>
              <a:rPr sz="1050" b="0" i="0" u="none">
                <a:solidFill>
                  <a:schemeClr val="tx1"/>
                </a:solidFill>
                <a:latin typeface="Droid Sans Mono"/>
                <a:ea typeface="Droid Sans Mono"/>
                <a:cs typeface="Droid Sans Mono"/>
              </a:rPr>
              <a:t> </a:t>
            </a:r>
            <a:r>
              <a:rPr lang="it-IT" sz="1050" b="0" i="0" u="none">
                <a:solidFill>
                  <a:schemeClr val="tx1"/>
                </a:solidFill>
                <a:latin typeface="Droid Sans Mono"/>
                <a:ea typeface="Droid Sans Mono"/>
                <a:cs typeface="Droid Sans Mono"/>
              </a:rPr>
              <a:t>  </a:t>
            </a:r>
            <a:r>
              <a:rPr sz="1050" b="0" i="0" u="none">
                <a:solidFill>
                  <a:schemeClr val="tx1"/>
                </a:solidFill>
                <a:latin typeface="Droid Sans Mono"/>
                <a:ea typeface="Droid Sans Mono"/>
                <a:cs typeface="Droid Sans Mono"/>
              </a:rPr>
              <a:t>If (C, D) is positive → (D, C) is negative</a:t>
            </a:r>
            <a:br>
              <a:rPr sz="1050" b="0" i="0" u="none">
                <a:solidFill>
                  <a:schemeClr val="tx1"/>
                </a:solidFill>
                <a:latin typeface="Droid Sans Mono"/>
                <a:ea typeface="Droid Sans Mono"/>
                <a:cs typeface="Droid Sans Mono"/>
              </a:rPr>
            </a:br>
            <a:r>
              <a:rPr sz="1050" b="0" i="0" u="none">
                <a:solidFill>
                  <a:schemeClr val="tx1"/>
                </a:solidFill>
                <a:latin typeface="Droid Sans Mono"/>
                <a:ea typeface="Droid Sans Mono"/>
                <a:cs typeface="Droid Sans Mono"/>
              </a:rPr>
              <a:t>We introduce reverse negatives to explicitly test the non-commutative nature of semantic containment. </a:t>
            </a:r>
            <a:br>
              <a:rPr sz="1050" b="0" i="0" u="none">
                <a:solidFill>
                  <a:schemeClr val="tx1"/>
                </a:solidFill>
                <a:latin typeface="Droid Sans Mono"/>
                <a:ea typeface="Droid Sans Mono"/>
                <a:cs typeface="Droid Sans Mono"/>
              </a:rPr>
            </a:br>
            <a:endParaRPr>
              <a:solidFill>
                <a:schemeClr val="tx1"/>
              </a:solidFill>
            </a:endParaRPr>
          </a:p>
          <a:p>
            <a:pPr>
              <a:defRPr/>
            </a:pPr>
            <a:r>
              <a:rPr sz="1050" b="1" i="0" u="none">
                <a:solidFill>
                  <a:schemeClr val="tx1"/>
                </a:solidFill>
                <a:latin typeface="Droid Sans Mono"/>
                <a:ea typeface="Droid Sans Mono"/>
                <a:cs typeface="Droid Sans Mono"/>
              </a:rPr>
              <a:t>Soft negatives</a:t>
            </a:r>
            <a:r>
              <a:rPr lang="it-IT">
                <a:solidFill>
                  <a:schemeClr val="tx1"/>
                </a:solidFill>
              </a:rPr>
              <a:t>   </a:t>
            </a:r>
            <a:r>
              <a:rPr sz="1050" b="0" i="0" u="none">
                <a:solidFill>
                  <a:schemeClr val="tx1"/>
                </a:solidFill>
                <a:latin typeface="Droid Sans Mono"/>
                <a:ea typeface="Droid Sans Mono"/>
                <a:cs typeface="Droid Sans Mono"/>
              </a:rPr>
              <a:t>If (C, D) is positive → (C, D')</a:t>
            </a:r>
            <a:br>
              <a:rPr sz="1050" b="0" i="0" u="none">
                <a:solidFill>
                  <a:schemeClr val="tx1"/>
                </a:solidFill>
                <a:latin typeface="Droid Sans Mono"/>
                <a:ea typeface="Droid Sans Mono"/>
                <a:cs typeface="Droid Sans Mono"/>
              </a:rPr>
            </a:br>
            <a:r>
              <a:rPr sz="1050" b="0" i="0" u="none">
                <a:solidFill>
                  <a:schemeClr val="tx1"/>
                </a:solidFill>
                <a:latin typeface="Droid Sans Mono"/>
                <a:ea typeface="Droid Sans Mono"/>
                <a:cs typeface="Droid Sans Mono"/>
              </a:rPr>
              <a:t>Additional soft negatives were not introduced, as OntoLAMA already contains randomly sampled negative pairs and naive soft negative generation would result in trivial examples that do not meaningfully stress containment reasoning.</a:t>
            </a:r>
            <a:br>
              <a:rPr sz="1050" b="0" i="0" u="none">
                <a:solidFill>
                  <a:schemeClr val="tx1"/>
                </a:solidFill>
                <a:latin typeface="Droid Sans Mono"/>
                <a:ea typeface="Droid Sans Mono"/>
                <a:cs typeface="Droid Sans Mono"/>
              </a:rPr>
            </a:br>
            <a:endParaRPr>
              <a:solidFill>
                <a:schemeClr val="tx1"/>
              </a:solidFill>
            </a:endParaRPr>
          </a:p>
          <a:p>
            <a:pPr>
              <a:defRPr/>
            </a:pPr>
            <a:r>
              <a:rPr sz="1050" b="1" i="0" u="none">
                <a:solidFill>
                  <a:schemeClr val="tx1"/>
                </a:solidFill>
                <a:latin typeface="Droid Sans Mono"/>
                <a:ea typeface="Droid Sans Mono"/>
                <a:cs typeface="Droid Sans Mono"/>
              </a:rPr>
              <a:t>Hard negatives</a:t>
            </a:r>
            <a:br>
              <a:rPr>
                <a:solidFill>
                  <a:schemeClr val="tx1"/>
                </a:solidFill>
              </a:rPr>
            </a:br>
            <a:r>
              <a:rPr sz="1050" b="0" i="0" u="none">
                <a:solidFill>
                  <a:schemeClr val="tx1"/>
                </a:solidFill>
                <a:latin typeface="Droid Sans Mono"/>
                <a:ea typeface="Droid Sans Mono"/>
                <a:cs typeface="Droid Sans Mono"/>
              </a:rPr>
              <a:t>We'll build hard negatives following PRONTO logic using a containment graph reconstructed from OntoLAMA positives. Hard negatives are "cousin" concepts. They share common ancestry with </a:t>
            </a:r>
            <a:r>
              <a:rPr sz="1050" b="0" i="0" u="none">
                <a:solidFill>
                  <a:schemeClr val="tx1"/>
                </a:solidFill>
                <a:latin typeface="Droid Sans Mono"/>
                <a:ea typeface="Droid Sans Mono"/>
                <a:cs typeface="Droid Sans Mono"/>
              </a:rPr>
              <a:t>&lt;C&gt;</a:t>
            </a:r>
            <a:r>
              <a:rPr sz="1050" b="0" i="0" u="none">
                <a:solidFill>
                  <a:schemeClr val="tx1"/>
                </a:solidFill>
                <a:latin typeface="Droid Sans Mono"/>
                <a:ea typeface="Droid Sans Mono"/>
                <a:cs typeface="Droid Sans Mono"/>
              </a:rPr>
              <a:t> but are NOT directly related by subsumption to </a:t>
            </a:r>
            <a:r>
              <a:rPr sz="1050" b="0" i="0" u="none">
                <a:solidFill>
                  <a:schemeClr val="tx1"/>
                </a:solidFill>
                <a:latin typeface="Droid Sans Mono"/>
                <a:ea typeface="Droid Sans Mono"/>
                <a:cs typeface="Droid Sans Mono"/>
              </a:rPr>
              <a:t>&lt;D&gt;</a:t>
            </a:r>
            <a:r>
              <a:rPr sz="1050" b="0" i="0" u="none">
                <a:solidFill>
                  <a:schemeClr val="tx1"/>
                </a:solidFill>
                <a:latin typeface="Droid Sans Mono"/>
                <a:ea typeface="Droid Sans Mono"/>
                <a:cs typeface="Droid Sans Mono"/>
              </a:rPr>
              <a:t>. They are "hard" negatives because they are semantically close!</a:t>
            </a:r>
            <a:br>
              <a:rPr sz="1050" b="0" i="0" u="none">
                <a:solidFill>
                  <a:schemeClr val="tx1"/>
                </a:solidFill>
                <a:latin typeface="Droid Sans Mono"/>
                <a:ea typeface="Droid Sans Mono"/>
                <a:cs typeface="Droid Sans Mono"/>
              </a:rPr>
            </a:br>
            <a:endParaRPr>
              <a:solidFill>
                <a:schemeClr val="tx1"/>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72368948" name="Google Shape;106;p25"/>
          <p:cNvSpPr txBox="1"/>
          <p:nvPr>
            <p:ph type="title"/>
          </p:nvPr>
        </p:nvSpPr>
        <p:spPr bwMode="auto">
          <a:xfrm flipH="0" flipV="0">
            <a:off x="186656" y="-62781"/>
            <a:ext cx="3338812" cy="360437"/>
          </a:xfrm>
          <a:prstGeom prst="rect">
            <a:avLst/>
          </a:prstGeom>
        </p:spPr>
        <p:txBody>
          <a:bodyPr spcFirstLastPara="1" wrap="square" lIns="91424" tIns="91424" rIns="91424" bIns="91424" anchor="t" anchorCtr="0">
            <a:noAutofit/>
          </a:bodyPr>
          <a:lstStyle/>
          <a:p>
            <a:pPr marL="0" lvl="0" indent="0" algn="l" rtl="0">
              <a:spcBef>
                <a:spcPts val="0"/>
              </a:spcBef>
              <a:spcAft>
                <a:spcPts val="0"/>
              </a:spcAft>
              <a:buNone/>
              <a:defRPr/>
            </a:pPr>
            <a:r>
              <a:rPr lang="it-IT" sz="1400"/>
              <a:t>THE VERBALIZERS</a:t>
            </a:r>
            <a:r>
              <a:rPr lang="it-IT" sz="1400"/>
              <a:t>:</a:t>
            </a:r>
            <a:endParaRPr/>
          </a:p>
        </p:txBody>
      </p:sp>
      <p:sp>
        <p:nvSpPr>
          <p:cNvPr id="380722146" name="Google Shape;107;p25"/>
          <p:cNvSpPr txBox="1"/>
          <p:nvPr>
            <p:ph type="body" idx="1"/>
          </p:nvPr>
        </p:nvSpPr>
        <p:spPr bwMode="auto">
          <a:xfrm flipH="0" flipV="0">
            <a:off x="585045" y="316043"/>
            <a:ext cx="3360375" cy="1465918"/>
          </a:xfrm>
          <a:prstGeom prst="rect">
            <a:avLst/>
          </a:prstGeom>
        </p:spPr>
        <p:txBody>
          <a:bodyPr spcFirstLastPara="1" wrap="square" lIns="91424" tIns="91424" rIns="91424" bIns="91424" anchor="t" anchorCtr="0">
            <a:noAutofit/>
          </a:bodyPr>
          <a:lstStyle/>
          <a:p>
            <a:pPr marL="152399" indent="0" algn="ctr">
              <a:buClr>
                <a:schemeClr val="dk1"/>
              </a:buClr>
              <a:buSzPts val="1200"/>
              <a:buFont typeface="Nunito Light"/>
              <a:buNone/>
              <a:defRPr/>
            </a:pPr>
            <a:r>
              <a:rPr lang="it-IT" sz="1600" b="1">
                <a:solidFill>
                  <a:schemeClr val="tx1"/>
                </a:solidFill>
              </a:rPr>
              <a:t>PRONTO-VF</a:t>
            </a:r>
            <a:endParaRPr lang="it-IT">
              <a:solidFill>
                <a:schemeClr val="tx1"/>
              </a:solidFill>
            </a:endParaRPr>
          </a:p>
          <a:p>
            <a:pPr marL="152399" indent="0">
              <a:buClr>
                <a:schemeClr val="dk1"/>
              </a:buClr>
              <a:buSzPts val="1200"/>
              <a:buFont typeface="Nunito Light"/>
              <a:buNone/>
              <a:defRPr/>
            </a:pPr>
            <a:endParaRPr sz="800">
              <a:solidFill>
                <a:schemeClr val="tx1"/>
              </a:solidFill>
            </a:endParaRPr>
          </a:p>
          <a:p>
            <a:pPr marL="152399" indent="0" algn="just">
              <a:buClr>
                <a:schemeClr val="dk1"/>
              </a:buClr>
              <a:buSzPts val="1200"/>
              <a:buFont typeface="Nunito Light"/>
              <a:buNone/>
              <a:defRPr/>
            </a:pPr>
            <a:r>
              <a:rPr lang="it-IT" sz="1200" b="0" i="0" u="none" strike="noStrike" cap="none" spc="0">
                <a:solidFill>
                  <a:schemeClr val="tx1"/>
                </a:solidFill>
                <a:latin typeface="DM Sans"/>
                <a:ea typeface="DM Sans"/>
                <a:cs typeface="DM Sans"/>
              </a:rPr>
              <a:t>A verbalizer-free baseline approach, where the </a:t>
            </a:r>
            <a:r>
              <a:rPr lang="it-IT" sz="1200" b="1" i="0" u="none" strike="noStrike" cap="none" spc="0">
                <a:solidFill>
                  <a:schemeClr val="tx1"/>
                </a:solidFill>
                <a:latin typeface="DM Sans"/>
                <a:ea typeface="DM Sans"/>
                <a:cs typeface="DM Sans"/>
              </a:rPr>
              <a:t>hidden state of the [MASK]</a:t>
            </a:r>
            <a:r>
              <a:rPr lang="it-IT" sz="1200" b="0" i="0" u="none" strike="noStrike" cap="none" spc="0">
                <a:solidFill>
                  <a:schemeClr val="tx1"/>
                </a:solidFill>
                <a:latin typeface="DM Sans"/>
                <a:ea typeface="DM Sans"/>
                <a:cs typeface="DM Sans"/>
              </a:rPr>
              <a:t> token is fed into two fully connected layers with a final sigmoid activatio</a:t>
            </a:r>
            <a:r>
              <a:rPr lang="it-IT">
                <a:solidFill>
                  <a:schemeClr val="tx1"/>
                </a:solidFill>
              </a:rPr>
              <a:t>n:</a:t>
            </a:r>
            <a:endParaRPr>
              <a:solidFill>
                <a:schemeClr val="tx1"/>
              </a:solidFill>
            </a:endParaRPr>
          </a:p>
        </p:txBody>
      </p:sp>
      <p:sp>
        <p:nvSpPr>
          <p:cNvPr id="1710959585" name="Google Shape;107;p25"/>
          <p:cNvSpPr txBox="1"/>
          <p:nvPr/>
        </p:nvSpPr>
        <p:spPr bwMode="auto">
          <a:xfrm flipH="0" flipV="0">
            <a:off x="5076260" y="301434"/>
            <a:ext cx="3360375" cy="2727981"/>
          </a:xfrm>
          <a:prstGeom prst="rect">
            <a:avLst/>
          </a:prstGeom>
        </p:spPr>
        <p:txBody>
          <a:bodyPr spcFirstLastPara="1" wrap="square" lIns="91424" tIns="91424" rIns="91424" bIns="91424" anchor="t" anchorCtr="0">
            <a:noAutofit/>
          </a:bodyPr>
          <a:lstStyle>
            <a:defPPr marR="0" lvl="0" algn="l" rtl="0">
              <a:lnSpc>
                <a:spcPct val="100000"/>
              </a:lnSpc>
              <a:spcBef>
                <a:spcPts val="0"/>
              </a:spcBef>
              <a:spcAft>
                <a:spcPts val="0"/>
              </a:spcAft>
            </a:defPPr>
            <a:lvl1pPr marL="457200" marR="0" lvl="0" indent="-304799" algn="l" rtl="0">
              <a:lnSpc>
                <a:spcPct val="100000"/>
              </a:lnSpc>
              <a:spcBef>
                <a:spcPts val="0"/>
              </a:spcBef>
              <a:spcAft>
                <a:spcPts val="0"/>
              </a:spcAft>
              <a:buClr>
                <a:schemeClr val="dk1"/>
              </a:buClr>
              <a:buSzPts val="1200"/>
              <a:buFont typeface="Nunito Light"/>
              <a:buChar char="●"/>
              <a:defRPr sz="1200" b="0" i="0" u="none" strike="noStrike" cap="none">
                <a:solidFill>
                  <a:schemeClr val="dk1"/>
                </a:solidFill>
                <a:latin typeface="DM Sans"/>
                <a:ea typeface="DM Sans"/>
                <a:cs typeface="DM Sans"/>
              </a:defRPr>
            </a:lvl1pPr>
            <a:lvl2pPr marL="914400" marR="0" lvl="1" indent="-304799" algn="l" rtl="0">
              <a:lnSpc>
                <a:spcPct val="100000"/>
              </a:lnSpc>
              <a:spcBef>
                <a:spcPts val="0"/>
              </a:spcBef>
              <a:spcAft>
                <a:spcPts val="0"/>
              </a:spcAft>
              <a:buClr>
                <a:schemeClr val="dk1"/>
              </a:buClr>
              <a:buSzPts val="1200"/>
              <a:buFont typeface="Nunito Light"/>
              <a:buChar char="○"/>
              <a:defRPr sz="1200" b="0" i="0" u="none" strike="noStrike" cap="none">
                <a:solidFill>
                  <a:schemeClr val="dk1"/>
                </a:solidFill>
                <a:latin typeface="DM Sans"/>
                <a:ea typeface="DM Sans"/>
                <a:cs typeface="DM Sans"/>
              </a:defRPr>
            </a:lvl2pPr>
            <a:lvl3pPr marL="1371600" marR="0" lvl="2" indent="-304799" algn="l" rtl="0">
              <a:lnSpc>
                <a:spcPct val="100000"/>
              </a:lnSpc>
              <a:spcBef>
                <a:spcPts val="0"/>
              </a:spcBef>
              <a:spcAft>
                <a:spcPts val="0"/>
              </a:spcAft>
              <a:buClr>
                <a:schemeClr val="dk1"/>
              </a:buClr>
              <a:buSzPts val="1200"/>
              <a:buFont typeface="Nunito Light"/>
              <a:buChar char="■"/>
              <a:defRPr sz="1200" b="0" i="0" u="none" strike="noStrike" cap="none">
                <a:solidFill>
                  <a:schemeClr val="dk1"/>
                </a:solidFill>
                <a:latin typeface="DM Sans"/>
                <a:ea typeface="DM Sans"/>
                <a:cs typeface="DM Sans"/>
              </a:defRPr>
            </a:lvl3pPr>
            <a:lvl4pPr marL="1828800" marR="0" lvl="3" indent="-304799" algn="l" rtl="0">
              <a:lnSpc>
                <a:spcPct val="100000"/>
              </a:lnSpc>
              <a:spcBef>
                <a:spcPts val="0"/>
              </a:spcBef>
              <a:spcAft>
                <a:spcPts val="0"/>
              </a:spcAft>
              <a:buClr>
                <a:schemeClr val="dk1"/>
              </a:buClr>
              <a:buSzPts val="1200"/>
              <a:buFont typeface="Nunito Light"/>
              <a:buChar char="●"/>
              <a:defRPr sz="1200" b="0" i="0" u="none" strike="noStrike" cap="none">
                <a:solidFill>
                  <a:schemeClr val="dk1"/>
                </a:solidFill>
                <a:latin typeface="DM Sans"/>
                <a:ea typeface="DM Sans"/>
                <a:cs typeface="DM Sans"/>
              </a:defRPr>
            </a:lvl4pPr>
            <a:lvl5pPr marL="2286000" marR="0" lvl="4" indent="-304799" algn="l" rtl="0">
              <a:lnSpc>
                <a:spcPct val="100000"/>
              </a:lnSpc>
              <a:spcBef>
                <a:spcPts val="0"/>
              </a:spcBef>
              <a:spcAft>
                <a:spcPts val="0"/>
              </a:spcAft>
              <a:buClr>
                <a:schemeClr val="dk1"/>
              </a:buClr>
              <a:buSzPts val="1200"/>
              <a:buFont typeface="Nunito Light"/>
              <a:buChar char="○"/>
              <a:defRPr sz="1200" b="0" i="0" u="none" strike="noStrike" cap="none">
                <a:solidFill>
                  <a:schemeClr val="dk1"/>
                </a:solidFill>
                <a:latin typeface="DM Sans"/>
                <a:ea typeface="DM Sans"/>
                <a:cs typeface="DM Sans"/>
              </a:defRPr>
            </a:lvl5pPr>
            <a:lvl6pPr marL="2743200" marR="0" lvl="5" indent="-304799" algn="l" rtl="0">
              <a:lnSpc>
                <a:spcPct val="100000"/>
              </a:lnSpc>
              <a:spcBef>
                <a:spcPts val="0"/>
              </a:spcBef>
              <a:spcAft>
                <a:spcPts val="0"/>
              </a:spcAft>
              <a:buClr>
                <a:schemeClr val="dk1"/>
              </a:buClr>
              <a:buSzPts val="1200"/>
              <a:buFont typeface="Nunito Light"/>
              <a:buChar char="■"/>
              <a:defRPr sz="1200" b="0" i="0" u="none" strike="noStrike" cap="none">
                <a:solidFill>
                  <a:schemeClr val="dk1"/>
                </a:solidFill>
                <a:latin typeface="DM Sans"/>
                <a:ea typeface="DM Sans"/>
                <a:cs typeface="DM Sans"/>
              </a:defRPr>
            </a:lvl6pPr>
            <a:lvl7pPr marL="3200400" marR="0" lvl="6" indent="-304799" algn="l" rtl="0">
              <a:lnSpc>
                <a:spcPct val="100000"/>
              </a:lnSpc>
              <a:spcBef>
                <a:spcPts val="0"/>
              </a:spcBef>
              <a:spcAft>
                <a:spcPts val="0"/>
              </a:spcAft>
              <a:buClr>
                <a:schemeClr val="dk1"/>
              </a:buClr>
              <a:buSzPts val="1200"/>
              <a:buFont typeface="Nunito Light"/>
              <a:buChar char="●"/>
              <a:defRPr sz="1200" b="0" i="0" u="none" strike="noStrike" cap="none">
                <a:solidFill>
                  <a:schemeClr val="dk1"/>
                </a:solidFill>
                <a:latin typeface="DM Sans"/>
                <a:ea typeface="DM Sans"/>
                <a:cs typeface="DM Sans"/>
              </a:defRPr>
            </a:lvl7pPr>
            <a:lvl8pPr marL="3657600" marR="0" lvl="7" indent="-304799" algn="l" rtl="0">
              <a:lnSpc>
                <a:spcPct val="100000"/>
              </a:lnSpc>
              <a:spcBef>
                <a:spcPts val="0"/>
              </a:spcBef>
              <a:spcAft>
                <a:spcPts val="0"/>
              </a:spcAft>
              <a:buClr>
                <a:schemeClr val="dk1"/>
              </a:buClr>
              <a:buSzPts val="1200"/>
              <a:buFont typeface="Nunito Light"/>
              <a:buChar char="○"/>
              <a:defRPr sz="1200" b="0" i="0" u="none" strike="noStrike" cap="none">
                <a:solidFill>
                  <a:schemeClr val="dk1"/>
                </a:solidFill>
                <a:latin typeface="DM Sans"/>
                <a:ea typeface="DM Sans"/>
                <a:cs typeface="DM Sans"/>
              </a:defRPr>
            </a:lvl8pPr>
            <a:lvl9pPr marL="4114800" marR="0" lvl="8" indent="-304799" algn="l" rtl="0">
              <a:lnSpc>
                <a:spcPct val="100000"/>
              </a:lnSpc>
              <a:spcBef>
                <a:spcPts val="0"/>
              </a:spcBef>
              <a:spcAft>
                <a:spcPts val="0"/>
              </a:spcAft>
              <a:buClr>
                <a:schemeClr val="dk1"/>
              </a:buClr>
              <a:buSzPts val="1200"/>
              <a:buFont typeface="Nunito Light"/>
              <a:buChar char="■"/>
              <a:defRPr sz="1200" b="0" i="0" u="none" strike="noStrike" cap="none">
                <a:solidFill>
                  <a:schemeClr val="dk1"/>
                </a:solidFill>
                <a:latin typeface="DM Sans"/>
                <a:ea typeface="DM Sans"/>
                <a:cs typeface="DM Sans"/>
              </a:defRPr>
            </a:lvl9pPr>
          </a:lstStyle>
          <a:p>
            <a:pPr marL="152398" indent="0" algn="ctr">
              <a:buClr>
                <a:schemeClr val="dk1"/>
              </a:buClr>
              <a:buSzPts val="1200"/>
              <a:buFont typeface="Nunito Light"/>
              <a:buNone/>
              <a:defRPr/>
            </a:pPr>
            <a:r>
              <a:rPr lang="it-IT" sz="1600" b="1">
                <a:solidFill>
                  <a:schemeClr val="tx1"/>
                </a:solidFill>
              </a:rPr>
              <a:t>PRONTO-LIN</a:t>
            </a:r>
            <a:endParaRPr lang="it-IT">
              <a:solidFill>
                <a:schemeClr val="tx1"/>
              </a:solidFill>
            </a:endParaRPr>
          </a:p>
          <a:p>
            <a:pPr marL="152398" indent="0">
              <a:buClr>
                <a:schemeClr val="dk1"/>
              </a:buClr>
              <a:buSzPts val="1200"/>
              <a:buFont typeface="Nunito Light"/>
              <a:buNone/>
              <a:defRPr/>
            </a:pPr>
            <a:endParaRPr sz="800">
              <a:solidFill>
                <a:schemeClr val="tx1"/>
              </a:solidFill>
            </a:endParaRPr>
          </a:p>
          <a:p>
            <a:pPr marL="152398" indent="0" algn="ctr">
              <a:buClr>
                <a:schemeClr val="dk1"/>
              </a:buClr>
              <a:buSzPts val="1200"/>
              <a:buFont typeface="Nunito Light"/>
              <a:buNone/>
              <a:defRPr/>
            </a:pPr>
            <a:r>
              <a:rPr lang="it-IT" sz="1200" b="0" i="0" u="none" strike="noStrike" cap="none" spc="0">
                <a:solidFill>
                  <a:schemeClr val="tx1"/>
                </a:solidFill>
                <a:latin typeface="DM Sans"/>
                <a:ea typeface="DM Sans"/>
                <a:cs typeface="DM Sans"/>
              </a:rPr>
              <a:t>A naive linear direct-mapping approach</a:t>
            </a:r>
            <a:r>
              <a:rPr lang="it-IT">
                <a:solidFill>
                  <a:schemeClr val="tx1"/>
                </a:solidFill>
              </a:rPr>
              <a:t>:</a:t>
            </a:r>
            <a:endParaRPr>
              <a:solidFill>
                <a:schemeClr val="tx1"/>
              </a:solidFill>
            </a:endParaRPr>
          </a:p>
          <a:p>
            <a:pPr marL="152398" indent="0" algn="ctr">
              <a:buClr>
                <a:schemeClr val="dk1"/>
              </a:buClr>
              <a:buSzPts val="1200"/>
              <a:buFont typeface="Nunito Light"/>
              <a:buNone/>
              <a:defRPr/>
            </a:pPr>
            <a:endParaRPr lang="it-IT">
              <a:solidFill>
                <a:schemeClr val="tx1"/>
              </a:solidFill>
            </a:endParaRPr>
          </a:p>
          <a:p>
            <a:pPr marL="152398" indent="0" algn="ctr">
              <a:buClr>
                <a:schemeClr val="dk1"/>
              </a:buClr>
              <a:buSzPts val="1200"/>
              <a:buFont typeface="Nunito Light"/>
              <a:buNone/>
              <a:defRPr/>
            </a:pPr>
            <a:endParaRPr lang="it-IT">
              <a:solidFill>
                <a:schemeClr val="tx1"/>
              </a:solidFill>
            </a:endParaRPr>
          </a:p>
          <a:p>
            <a:pPr marL="152398" indent="0" algn="ctr">
              <a:buClr>
                <a:schemeClr val="dk1"/>
              </a:buClr>
              <a:buSzPts val="1200"/>
              <a:buFont typeface="Nunito Light"/>
              <a:buNone/>
              <a:defRPr/>
            </a:pPr>
            <a:endParaRPr>
              <a:solidFill>
                <a:schemeClr val="tx1"/>
              </a:solidFill>
            </a:endParaRPr>
          </a:p>
          <a:p>
            <a:pPr marL="152398" indent="0" algn="just">
              <a:buClr>
                <a:schemeClr val="dk1"/>
              </a:buClr>
              <a:buSzPts val="1200"/>
              <a:buFont typeface="Nunito Light"/>
              <a:buNone/>
              <a:defRPr/>
            </a:pPr>
            <a:r>
              <a:rPr lang="en-US" sz="1200" b="0" i="0" u="none" strike="noStrike" cap="none" spc="0">
                <a:solidFill>
                  <a:schemeClr val="tx1"/>
                </a:solidFill>
                <a:latin typeface="DM Sans"/>
                <a:ea typeface="DM Sans"/>
                <a:cs typeface="DM Sans"/>
              </a:rPr>
              <a:t>where </a:t>
            </a:r>
            <a:r>
              <a:rPr lang="en-US" sz="1200" b="1" i="0" u="none" strike="noStrike" cap="none" spc="0">
                <a:solidFill>
                  <a:schemeClr val="tx1"/>
                </a:solidFill>
                <a:latin typeface="DM Sans"/>
                <a:ea typeface="DM Sans"/>
                <a:cs typeface="DM Sans"/>
              </a:rPr>
              <a:t>λj ∈ [0, 1] is a weighting factor that modulates the contribution of each token vj in the vocabulary</a:t>
            </a:r>
            <a:r>
              <a:rPr lang="en-US" sz="1200" b="0" i="0" u="none" strike="noStrike" cap="none" spc="0">
                <a:solidFill>
                  <a:schemeClr val="tx1"/>
                </a:solidFill>
                <a:latin typeface="DM Sans"/>
                <a:ea typeface="DM Sans"/>
                <a:cs typeface="DM Sans"/>
              </a:rPr>
              <a:t> to the probability of predicting y given x. The λj weights can be learned through an optimization process aiming to minimize a specified loss function</a:t>
            </a:r>
            <a:endParaRPr>
              <a:solidFill>
                <a:schemeClr val="tx1"/>
              </a:solidFill>
            </a:endParaRPr>
          </a:p>
          <a:p>
            <a:pPr marL="152398" indent="0" algn="ctr">
              <a:buClr>
                <a:schemeClr val="dk1"/>
              </a:buClr>
              <a:buSzPts val="1200"/>
              <a:buFont typeface="Nunito Light"/>
              <a:buNone/>
              <a:defRPr/>
            </a:pPr>
            <a:endParaRPr>
              <a:solidFill>
                <a:schemeClr val="tx1"/>
              </a:solidFill>
            </a:endParaRPr>
          </a:p>
        </p:txBody>
      </p:sp>
      <p:pic>
        <p:nvPicPr>
          <p:cNvPr id="2091828165" name=""/>
          <p:cNvPicPr>
            <a:picLocks noChangeAspect="1"/>
          </p:cNvPicPr>
          <p:nvPr/>
        </p:nvPicPr>
        <p:blipFill rotWithShape="1">
          <a:blip r:embed="rId3"/>
          <a:stretch/>
        </p:blipFill>
        <p:spPr bwMode="auto">
          <a:xfrm flipH="0" flipV="0">
            <a:off x="5009560" y="915330"/>
            <a:ext cx="3765917" cy="566204"/>
          </a:xfrm>
          <a:prstGeom prst="rect">
            <a:avLst/>
          </a:prstGeom>
        </p:spPr>
      </p:pic>
      <p:sp>
        <p:nvSpPr>
          <p:cNvPr id="642474827" name="Google Shape;107;p25"/>
          <p:cNvSpPr txBox="1"/>
          <p:nvPr/>
        </p:nvSpPr>
        <p:spPr bwMode="auto">
          <a:xfrm flipH="0" flipV="0">
            <a:off x="5076260" y="2931909"/>
            <a:ext cx="3360375" cy="1465917"/>
          </a:xfrm>
          <a:prstGeom prst="rect">
            <a:avLst/>
          </a:prstGeom>
        </p:spPr>
        <p:txBody>
          <a:bodyPr spcFirstLastPara="1" wrap="square" lIns="91424" tIns="91424" rIns="91424" bIns="91424" anchor="t" anchorCtr="0">
            <a:noAutofit/>
          </a:bodyPr>
          <a:lstStyle>
            <a:defPPr marR="0" lvl="0" algn="l" rtl="0">
              <a:lnSpc>
                <a:spcPct val="100000"/>
              </a:lnSpc>
              <a:spcBef>
                <a:spcPts val="0"/>
              </a:spcBef>
              <a:spcAft>
                <a:spcPts val="0"/>
              </a:spcAft>
            </a:defPPr>
            <a:lvl1pPr marL="457200" marR="0" lvl="0" indent="-304799" algn="l" rtl="0">
              <a:lnSpc>
                <a:spcPct val="100000"/>
              </a:lnSpc>
              <a:spcBef>
                <a:spcPts val="0"/>
              </a:spcBef>
              <a:spcAft>
                <a:spcPts val="0"/>
              </a:spcAft>
              <a:buClr>
                <a:schemeClr val="dk1"/>
              </a:buClr>
              <a:buSzPts val="1200"/>
              <a:buFont typeface="Nunito Light"/>
              <a:buChar char="●"/>
              <a:defRPr sz="1200" b="0" i="0" u="none" strike="noStrike" cap="none">
                <a:solidFill>
                  <a:schemeClr val="dk1"/>
                </a:solidFill>
                <a:latin typeface="DM Sans"/>
                <a:ea typeface="DM Sans"/>
                <a:cs typeface="DM Sans"/>
              </a:defRPr>
            </a:lvl1pPr>
            <a:lvl2pPr marL="914400" marR="0" lvl="1" indent="-304799" algn="l" rtl="0">
              <a:lnSpc>
                <a:spcPct val="100000"/>
              </a:lnSpc>
              <a:spcBef>
                <a:spcPts val="0"/>
              </a:spcBef>
              <a:spcAft>
                <a:spcPts val="0"/>
              </a:spcAft>
              <a:buClr>
                <a:schemeClr val="dk1"/>
              </a:buClr>
              <a:buSzPts val="1200"/>
              <a:buFont typeface="Nunito Light"/>
              <a:buChar char="○"/>
              <a:defRPr sz="1200" b="0" i="0" u="none" strike="noStrike" cap="none">
                <a:solidFill>
                  <a:schemeClr val="dk1"/>
                </a:solidFill>
                <a:latin typeface="DM Sans"/>
                <a:ea typeface="DM Sans"/>
                <a:cs typeface="DM Sans"/>
              </a:defRPr>
            </a:lvl2pPr>
            <a:lvl3pPr marL="1371600" marR="0" lvl="2" indent="-304799" algn="l" rtl="0">
              <a:lnSpc>
                <a:spcPct val="100000"/>
              </a:lnSpc>
              <a:spcBef>
                <a:spcPts val="0"/>
              </a:spcBef>
              <a:spcAft>
                <a:spcPts val="0"/>
              </a:spcAft>
              <a:buClr>
                <a:schemeClr val="dk1"/>
              </a:buClr>
              <a:buSzPts val="1200"/>
              <a:buFont typeface="Nunito Light"/>
              <a:buChar char="■"/>
              <a:defRPr sz="1200" b="0" i="0" u="none" strike="noStrike" cap="none">
                <a:solidFill>
                  <a:schemeClr val="dk1"/>
                </a:solidFill>
                <a:latin typeface="DM Sans"/>
                <a:ea typeface="DM Sans"/>
                <a:cs typeface="DM Sans"/>
              </a:defRPr>
            </a:lvl3pPr>
            <a:lvl4pPr marL="1828800" marR="0" lvl="3" indent="-304799" algn="l" rtl="0">
              <a:lnSpc>
                <a:spcPct val="100000"/>
              </a:lnSpc>
              <a:spcBef>
                <a:spcPts val="0"/>
              </a:spcBef>
              <a:spcAft>
                <a:spcPts val="0"/>
              </a:spcAft>
              <a:buClr>
                <a:schemeClr val="dk1"/>
              </a:buClr>
              <a:buSzPts val="1200"/>
              <a:buFont typeface="Nunito Light"/>
              <a:buChar char="●"/>
              <a:defRPr sz="1200" b="0" i="0" u="none" strike="noStrike" cap="none">
                <a:solidFill>
                  <a:schemeClr val="dk1"/>
                </a:solidFill>
                <a:latin typeface="DM Sans"/>
                <a:ea typeface="DM Sans"/>
                <a:cs typeface="DM Sans"/>
              </a:defRPr>
            </a:lvl4pPr>
            <a:lvl5pPr marL="2286000" marR="0" lvl="4" indent="-304799" algn="l" rtl="0">
              <a:lnSpc>
                <a:spcPct val="100000"/>
              </a:lnSpc>
              <a:spcBef>
                <a:spcPts val="0"/>
              </a:spcBef>
              <a:spcAft>
                <a:spcPts val="0"/>
              </a:spcAft>
              <a:buClr>
                <a:schemeClr val="dk1"/>
              </a:buClr>
              <a:buSzPts val="1200"/>
              <a:buFont typeface="Nunito Light"/>
              <a:buChar char="○"/>
              <a:defRPr sz="1200" b="0" i="0" u="none" strike="noStrike" cap="none">
                <a:solidFill>
                  <a:schemeClr val="dk1"/>
                </a:solidFill>
                <a:latin typeface="DM Sans"/>
                <a:ea typeface="DM Sans"/>
                <a:cs typeface="DM Sans"/>
              </a:defRPr>
            </a:lvl5pPr>
            <a:lvl6pPr marL="2743200" marR="0" lvl="5" indent="-304799" algn="l" rtl="0">
              <a:lnSpc>
                <a:spcPct val="100000"/>
              </a:lnSpc>
              <a:spcBef>
                <a:spcPts val="0"/>
              </a:spcBef>
              <a:spcAft>
                <a:spcPts val="0"/>
              </a:spcAft>
              <a:buClr>
                <a:schemeClr val="dk1"/>
              </a:buClr>
              <a:buSzPts val="1200"/>
              <a:buFont typeface="Nunito Light"/>
              <a:buChar char="■"/>
              <a:defRPr sz="1200" b="0" i="0" u="none" strike="noStrike" cap="none">
                <a:solidFill>
                  <a:schemeClr val="dk1"/>
                </a:solidFill>
                <a:latin typeface="DM Sans"/>
                <a:ea typeface="DM Sans"/>
                <a:cs typeface="DM Sans"/>
              </a:defRPr>
            </a:lvl6pPr>
            <a:lvl7pPr marL="3200400" marR="0" lvl="6" indent="-304799" algn="l" rtl="0">
              <a:lnSpc>
                <a:spcPct val="100000"/>
              </a:lnSpc>
              <a:spcBef>
                <a:spcPts val="0"/>
              </a:spcBef>
              <a:spcAft>
                <a:spcPts val="0"/>
              </a:spcAft>
              <a:buClr>
                <a:schemeClr val="dk1"/>
              </a:buClr>
              <a:buSzPts val="1200"/>
              <a:buFont typeface="Nunito Light"/>
              <a:buChar char="●"/>
              <a:defRPr sz="1200" b="0" i="0" u="none" strike="noStrike" cap="none">
                <a:solidFill>
                  <a:schemeClr val="dk1"/>
                </a:solidFill>
                <a:latin typeface="DM Sans"/>
                <a:ea typeface="DM Sans"/>
                <a:cs typeface="DM Sans"/>
              </a:defRPr>
            </a:lvl7pPr>
            <a:lvl8pPr marL="3657600" marR="0" lvl="7" indent="-304799" algn="l" rtl="0">
              <a:lnSpc>
                <a:spcPct val="100000"/>
              </a:lnSpc>
              <a:spcBef>
                <a:spcPts val="0"/>
              </a:spcBef>
              <a:spcAft>
                <a:spcPts val="0"/>
              </a:spcAft>
              <a:buClr>
                <a:schemeClr val="dk1"/>
              </a:buClr>
              <a:buSzPts val="1200"/>
              <a:buFont typeface="Nunito Light"/>
              <a:buChar char="○"/>
              <a:defRPr sz="1200" b="0" i="0" u="none" strike="noStrike" cap="none">
                <a:solidFill>
                  <a:schemeClr val="dk1"/>
                </a:solidFill>
                <a:latin typeface="DM Sans"/>
                <a:ea typeface="DM Sans"/>
                <a:cs typeface="DM Sans"/>
              </a:defRPr>
            </a:lvl8pPr>
            <a:lvl9pPr marL="4114800" marR="0" lvl="8" indent="-304799" algn="l" rtl="0">
              <a:lnSpc>
                <a:spcPct val="100000"/>
              </a:lnSpc>
              <a:spcBef>
                <a:spcPts val="0"/>
              </a:spcBef>
              <a:spcAft>
                <a:spcPts val="0"/>
              </a:spcAft>
              <a:buClr>
                <a:schemeClr val="dk1"/>
              </a:buClr>
              <a:buSzPts val="1200"/>
              <a:buFont typeface="Nunito Light"/>
              <a:buChar char="■"/>
              <a:defRPr sz="1200" b="0" i="0" u="none" strike="noStrike" cap="none">
                <a:solidFill>
                  <a:schemeClr val="dk1"/>
                </a:solidFill>
                <a:latin typeface="DM Sans"/>
                <a:ea typeface="DM Sans"/>
                <a:cs typeface="DM Sans"/>
              </a:defRPr>
            </a:lvl9pPr>
          </a:lstStyle>
          <a:p>
            <a:pPr marL="152398" indent="0" algn="ctr">
              <a:buClr>
                <a:schemeClr val="dk1"/>
              </a:buClr>
              <a:buSzPts val="1200"/>
              <a:buFont typeface="Nunito Light"/>
              <a:buNone/>
              <a:defRPr/>
            </a:pPr>
            <a:r>
              <a:rPr lang="it-IT" sz="1600" b="1">
                <a:solidFill>
                  <a:schemeClr val="tx1"/>
                </a:solidFill>
              </a:rPr>
              <a:t>PRONTO-MAV</a:t>
            </a:r>
            <a:endParaRPr lang="it-IT">
              <a:solidFill>
                <a:schemeClr val="tx1"/>
              </a:solidFill>
            </a:endParaRPr>
          </a:p>
          <a:p>
            <a:pPr marL="152398" indent="0">
              <a:buClr>
                <a:schemeClr val="dk1"/>
              </a:buClr>
              <a:buSzPts val="1200"/>
              <a:buFont typeface="Nunito Light"/>
              <a:buNone/>
              <a:defRPr/>
            </a:pPr>
            <a:endParaRPr sz="800">
              <a:solidFill>
                <a:schemeClr val="tx1"/>
              </a:solidFill>
            </a:endParaRPr>
          </a:p>
          <a:p>
            <a:pPr marL="152398" indent="0" algn="just">
              <a:buClr>
                <a:schemeClr val="dk1"/>
              </a:buClr>
              <a:buSzPts val="1200"/>
              <a:buFont typeface="Nunito Light"/>
              <a:buNone/>
              <a:defRPr/>
            </a:pPr>
            <a:r>
              <a:rPr lang="it-IT" sz="1200" b="0" i="0" u="none" strike="noStrike" cap="none" spc="0">
                <a:solidFill>
                  <a:schemeClr val="tx1"/>
                </a:solidFill>
                <a:latin typeface="DM Sans"/>
                <a:ea typeface="DM Sans"/>
                <a:cs typeface="DM Sans"/>
              </a:rPr>
              <a:t>A verbalizer-free baseline approach, where the </a:t>
            </a:r>
            <a:r>
              <a:rPr lang="it-IT" sz="1200" b="1" i="0" u="none" strike="noStrike" cap="none" spc="0">
                <a:solidFill>
                  <a:schemeClr val="tx1"/>
                </a:solidFill>
                <a:latin typeface="DM Sans"/>
                <a:ea typeface="DM Sans"/>
                <a:cs typeface="DM Sans"/>
              </a:rPr>
              <a:t>logits of the [MASK]</a:t>
            </a:r>
            <a:r>
              <a:rPr lang="it-IT" sz="1200" b="0" i="0" u="none" strike="noStrike" cap="none" spc="0">
                <a:solidFill>
                  <a:schemeClr val="tx1"/>
                </a:solidFill>
                <a:latin typeface="DM Sans"/>
                <a:ea typeface="DM Sans"/>
                <a:cs typeface="DM Sans"/>
              </a:rPr>
              <a:t> token is fed into two fully connected layers with a final sigmoid activatio</a:t>
            </a:r>
            <a:r>
              <a:rPr lang="it-IT">
                <a:solidFill>
                  <a:schemeClr val="tx1"/>
                </a:solidFill>
              </a:rPr>
              <a:t>n:</a:t>
            </a:r>
            <a:endParaRPr>
              <a:solidFill>
                <a:schemeClr val="tx1"/>
              </a:solidFill>
            </a:endParaRPr>
          </a:p>
        </p:txBody>
      </p:sp>
      <p:pic>
        <p:nvPicPr>
          <p:cNvPr id="1525372227" name=""/>
          <p:cNvPicPr>
            <a:picLocks noChangeAspect="1"/>
          </p:cNvPicPr>
          <p:nvPr/>
        </p:nvPicPr>
        <p:blipFill rotWithShape="1">
          <a:blip r:embed="rId4"/>
          <a:stretch/>
        </p:blipFill>
        <p:spPr bwMode="auto">
          <a:xfrm flipH="0" flipV="0">
            <a:off x="5076260" y="4149191"/>
            <a:ext cx="3525467" cy="378210"/>
          </a:xfrm>
          <a:prstGeom prst="rect">
            <a:avLst/>
          </a:prstGeom>
        </p:spPr>
      </p:pic>
      <p:pic>
        <p:nvPicPr>
          <p:cNvPr id="95872268" name=""/>
          <p:cNvPicPr>
            <a:picLocks noChangeAspect="1"/>
          </p:cNvPicPr>
          <p:nvPr/>
        </p:nvPicPr>
        <p:blipFill rotWithShape="1">
          <a:blip r:embed="rId5"/>
          <a:stretch/>
        </p:blipFill>
        <p:spPr bwMode="auto">
          <a:xfrm flipH="0" flipV="0">
            <a:off x="644576" y="1555675"/>
            <a:ext cx="3489319" cy="306080"/>
          </a:xfrm>
          <a:prstGeom prst="rect">
            <a:avLst/>
          </a:prstGeom>
        </p:spPr>
      </p:pic>
      <p:cxnSp>
        <p:nvCxnSpPr>
          <p:cNvPr id="1494258882" name=""/>
          <p:cNvCxnSpPr/>
          <p:nvPr/>
        </p:nvCxnSpPr>
        <p:spPr bwMode="auto">
          <a:xfrm flipH="1" flipV="0">
            <a:off x="4750285" y="340178"/>
            <a:ext cx="0" cy="4286250"/>
          </a:xfrm>
          <a:prstGeom prst="line">
            <a:avLst/>
          </a:prstGeom>
        </p:spPr>
        <p:style>
          <a:lnRef idx="1">
            <a:schemeClr val="accent1">
              <a:shade val="50000"/>
            </a:schemeClr>
          </a:lnRef>
          <a:fillRef idx="0">
            <a:schemeClr val="accent1"/>
          </a:fillRef>
          <a:effectRef idx="0">
            <a:schemeClr val="accent1"/>
          </a:effectRef>
          <a:fontRef idx="minor">
            <a:schemeClr val="tx1"/>
          </a:fontRef>
        </p:style>
      </p:cxnSp>
      <p:cxnSp>
        <p:nvCxnSpPr>
          <p:cNvPr id="143547454" name=""/>
          <p:cNvCxnSpPr/>
          <p:nvPr/>
        </p:nvCxnSpPr>
        <p:spPr bwMode="auto">
          <a:xfrm flipH="0" flipV="0">
            <a:off x="4736678" y="2830285"/>
            <a:ext cx="4027714" cy="0"/>
          </a:xfrm>
          <a:prstGeom prst="line">
            <a:avLst/>
          </a:prstGeom>
        </p:spPr>
        <p:style>
          <a:lnRef idx="1">
            <a:schemeClr val="accent1">
              <a:shade val="50000"/>
            </a:schemeClr>
          </a:lnRef>
          <a:fillRef idx="0">
            <a:schemeClr val="accent1"/>
          </a:fillRef>
          <a:effectRef idx="0">
            <a:schemeClr val="accent1"/>
          </a:effectRef>
          <a:fontRef idx="minor">
            <a:schemeClr val="tx1"/>
          </a:fontRef>
        </p:style>
      </p:cxnSp>
      <p:cxnSp>
        <p:nvCxnSpPr>
          <p:cNvPr id="2055466582" name=""/>
          <p:cNvCxnSpPr/>
          <p:nvPr/>
        </p:nvCxnSpPr>
        <p:spPr bwMode="auto">
          <a:xfrm flipH="1" flipV="1">
            <a:off x="240354" y="2086995"/>
            <a:ext cx="4517571" cy="0"/>
          </a:xfrm>
          <a:prstGeom prst="line">
            <a:avLst/>
          </a:prstGeom>
        </p:spPr>
        <p:style>
          <a:lnRef idx="1">
            <a:schemeClr val="accent1">
              <a:shade val="50000"/>
            </a:schemeClr>
          </a:lnRef>
          <a:fillRef idx="0">
            <a:schemeClr val="accent1"/>
          </a:fillRef>
          <a:effectRef idx="0">
            <a:schemeClr val="accent1"/>
          </a:effectRef>
          <a:fontRef idx="minor">
            <a:schemeClr val="tx1"/>
          </a:fontRef>
        </p:style>
      </p:cxnSp>
      <p:sp>
        <p:nvSpPr>
          <p:cNvPr id="607585575" name="Google Shape;107;p25"/>
          <p:cNvSpPr txBox="1"/>
          <p:nvPr/>
        </p:nvSpPr>
        <p:spPr bwMode="auto">
          <a:xfrm flipH="0" flipV="0">
            <a:off x="585045" y="2200452"/>
            <a:ext cx="3360375" cy="2727980"/>
          </a:xfrm>
          <a:prstGeom prst="rect">
            <a:avLst/>
          </a:prstGeom>
        </p:spPr>
        <p:txBody>
          <a:bodyPr spcFirstLastPara="1" wrap="square" lIns="91424" tIns="91424" rIns="91424" bIns="91424" anchor="t" anchorCtr="0">
            <a:noAutofit/>
          </a:bodyPr>
          <a:lstStyle>
            <a:defPPr marR="0" lvl="0" algn="l" rtl="0">
              <a:lnSpc>
                <a:spcPct val="100000"/>
              </a:lnSpc>
              <a:spcBef>
                <a:spcPts val="0"/>
              </a:spcBef>
              <a:spcAft>
                <a:spcPts val="0"/>
              </a:spcAft>
            </a:defPPr>
            <a:lvl1pPr marL="457200" marR="0" lvl="0" indent="-304799" algn="l" rtl="0">
              <a:lnSpc>
                <a:spcPct val="100000"/>
              </a:lnSpc>
              <a:spcBef>
                <a:spcPts val="0"/>
              </a:spcBef>
              <a:spcAft>
                <a:spcPts val="0"/>
              </a:spcAft>
              <a:buClr>
                <a:schemeClr val="dk1"/>
              </a:buClr>
              <a:buSzPts val="1200"/>
              <a:buFont typeface="Nunito Light"/>
              <a:buChar char="●"/>
              <a:defRPr sz="1200" b="0" i="0" u="none" strike="noStrike" cap="none">
                <a:solidFill>
                  <a:schemeClr val="dk1"/>
                </a:solidFill>
                <a:latin typeface="DM Sans"/>
                <a:ea typeface="DM Sans"/>
                <a:cs typeface="DM Sans"/>
              </a:defRPr>
            </a:lvl1pPr>
            <a:lvl2pPr marL="914400" marR="0" lvl="1" indent="-304799" algn="l" rtl="0">
              <a:lnSpc>
                <a:spcPct val="100000"/>
              </a:lnSpc>
              <a:spcBef>
                <a:spcPts val="0"/>
              </a:spcBef>
              <a:spcAft>
                <a:spcPts val="0"/>
              </a:spcAft>
              <a:buClr>
                <a:schemeClr val="dk1"/>
              </a:buClr>
              <a:buSzPts val="1200"/>
              <a:buFont typeface="Nunito Light"/>
              <a:buChar char="○"/>
              <a:defRPr sz="1200" b="0" i="0" u="none" strike="noStrike" cap="none">
                <a:solidFill>
                  <a:schemeClr val="dk1"/>
                </a:solidFill>
                <a:latin typeface="DM Sans"/>
                <a:ea typeface="DM Sans"/>
                <a:cs typeface="DM Sans"/>
              </a:defRPr>
            </a:lvl2pPr>
            <a:lvl3pPr marL="1371600" marR="0" lvl="2" indent="-304799" algn="l" rtl="0">
              <a:lnSpc>
                <a:spcPct val="100000"/>
              </a:lnSpc>
              <a:spcBef>
                <a:spcPts val="0"/>
              </a:spcBef>
              <a:spcAft>
                <a:spcPts val="0"/>
              </a:spcAft>
              <a:buClr>
                <a:schemeClr val="dk1"/>
              </a:buClr>
              <a:buSzPts val="1200"/>
              <a:buFont typeface="Nunito Light"/>
              <a:buChar char="■"/>
              <a:defRPr sz="1200" b="0" i="0" u="none" strike="noStrike" cap="none">
                <a:solidFill>
                  <a:schemeClr val="dk1"/>
                </a:solidFill>
                <a:latin typeface="DM Sans"/>
                <a:ea typeface="DM Sans"/>
                <a:cs typeface="DM Sans"/>
              </a:defRPr>
            </a:lvl3pPr>
            <a:lvl4pPr marL="1828800" marR="0" lvl="3" indent="-304799" algn="l" rtl="0">
              <a:lnSpc>
                <a:spcPct val="100000"/>
              </a:lnSpc>
              <a:spcBef>
                <a:spcPts val="0"/>
              </a:spcBef>
              <a:spcAft>
                <a:spcPts val="0"/>
              </a:spcAft>
              <a:buClr>
                <a:schemeClr val="dk1"/>
              </a:buClr>
              <a:buSzPts val="1200"/>
              <a:buFont typeface="Nunito Light"/>
              <a:buChar char="●"/>
              <a:defRPr sz="1200" b="0" i="0" u="none" strike="noStrike" cap="none">
                <a:solidFill>
                  <a:schemeClr val="dk1"/>
                </a:solidFill>
                <a:latin typeface="DM Sans"/>
                <a:ea typeface="DM Sans"/>
                <a:cs typeface="DM Sans"/>
              </a:defRPr>
            </a:lvl4pPr>
            <a:lvl5pPr marL="2286000" marR="0" lvl="4" indent="-304799" algn="l" rtl="0">
              <a:lnSpc>
                <a:spcPct val="100000"/>
              </a:lnSpc>
              <a:spcBef>
                <a:spcPts val="0"/>
              </a:spcBef>
              <a:spcAft>
                <a:spcPts val="0"/>
              </a:spcAft>
              <a:buClr>
                <a:schemeClr val="dk1"/>
              </a:buClr>
              <a:buSzPts val="1200"/>
              <a:buFont typeface="Nunito Light"/>
              <a:buChar char="○"/>
              <a:defRPr sz="1200" b="0" i="0" u="none" strike="noStrike" cap="none">
                <a:solidFill>
                  <a:schemeClr val="dk1"/>
                </a:solidFill>
                <a:latin typeface="DM Sans"/>
                <a:ea typeface="DM Sans"/>
                <a:cs typeface="DM Sans"/>
              </a:defRPr>
            </a:lvl5pPr>
            <a:lvl6pPr marL="2743200" marR="0" lvl="5" indent="-304799" algn="l" rtl="0">
              <a:lnSpc>
                <a:spcPct val="100000"/>
              </a:lnSpc>
              <a:spcBef>
                <a:spcPts val="0"/>
              </a:spcBef>
              <a:spcAft>
                <a:spcPts val="0"/>
              </a:spcAft>
              <a:buClr>
                <a:schemeClr val="dk1"/>
              </a:buClr>
              <a:buSzPts val="1200"/>
              <a:buFont typeface="Nunito Light"/>
              <a:buChar char="■"/>
              <a:defRPr sz="1200" b="0" i="0" u="none" strike="noStrike" cap="none">
                <a:solidFill>
                  <a:schemeClr val="dk1"/>
                </a:solidFill>
                <a:latin typeface="DM Sans"/>
                <a:ea typeface="DM Sans"/>
                <a:cs typeface="DM Sans"/>
              </a:defRPr>
            </a:lvl6pPr>
            <a:lvl7pPr marL="3200400" marR="0" lvl="6" indent="-304799" algn="l" rtl="0">
              <a:lnSpc>
                <a:spcPct val="100000"/>
              </a:lnSpc>
              <a:spcBef>
                <a:spcPts val="0"/>
              </a:spcBef>
              <a:spcAft>
                <a:spcPts val="0"/>
              </a:spcAft>
              <a:buClr>
                <a:schemeClr val="dk1"/>
              </a:buClr>
              <a:buSzPts val="1200"/>
              <a:buFont typeface="Nunito Light"/>
              <a:buChar char="●"/>
              <a:defRPr sz="1200" b="0" i="0" u="none" strike="noStrike" cap="none">
                <a:solidFill>
                  <a:schemeClr val="dk1"/>
                </a:solidFill>
                <a:latin typeface="DM Sans"/>
                <a:ea typeface="DM Sans"/>
                <a:cs typeface="DM Sans"/>
              </a:defRPr>
            </a:lvl7pPr>
            <a:lvl8pPr marL="3657600" marR="0" lvl="7" indent="-304799" algn="l" rtl="0">
              <a:lnSpc>
                <a:spcPct val="100000"/>
              </a:lnSpc>
              <a:spcBef>
                <a:spcPts val="0"/>
              </a:spcBef>
              <a:spcAft>
                <a:spcPts val="0"/>
              </a:spcAft>
              <a:buClr>
                <a:schemeClr val="dk1"/>
              </a:buClr>
              <a:buSzPts val="1200"/>
              <a:buFont typeface="Nunito Light"/>
              <a:buChar char="○"/>
              <a:defRPr sz="1200" b="0" i="0" u="none" strike="noStrike" cap="none">
                <a:solidFill>
                  <a:schemeClr val="dk1"/>
                </a:solidFill>
                <a:latin typeface="DM Sans"/>
                <a:ea typeface="DM Sans"/>
                <a:cs typeface="DM Sans"/>
              </a:defRPr>
            </a:lvl8pPr>
            <a:lvl9pPr marL="4114800" marR="0" lvl="8" indent="-304799" algn="l" rtl="0">
              <a:lnSpc>
                <a:spcPct val="100000"/>
              </a:lnSpc>
              <a:spcBef>
                <a:spcPts val="0"/>
              </a:spcBef>
              <a:spcAft>
                <a:spcPts val="0"/>
              </a:spcAft>
              <a:buClr>
                <a:schemeClr val="dk1"/>
              </a:buClr>
              <a:buSzPts val="1200"/>
              <a:buFont typeface="Nunito Light"/>
              <a:buChar char="■"/>
              <a:defRPr sz="1200" b="0" i="0" u="none" strike="noStrike" cap="none">
                <a:solidFill>
                  <a:schemeClr val="dk1"/>
                </a:solidFill>
                <a:latin typeface="DM Sans"/>
                <a:ea typeface="DM Sans"/>
                <a:cs typeface="DM Sans"/>
              </a:defRPr>
            </a:lvl9pPr>
          </a:lstStyle>
          <a:p>
            <a:pPr marL="152398" indent="0" algn="ctr">
              <a:buClr>
                <a:schemeClr val="dk1"/>
              </a:buClr>
              <a:buSzPts val="1200"/>
              <a:buFont typeface="Nunito Light"/>
              <a:buNone/>
              <a:defRPr/>
            </a:pPr>
            <a:r>
              <a:rPr lang="it-IT" sz="1600" b="1">
                <a:solidFill>
                  <a:schemeClr val="tx1"/>
                </a:solidFill>
              </a:rPr>
              <a:t>PRONTO-WS</a:t>
            </a:r>
            <a:endParaRPr lang="it-IT">
              <a:solidFill>
                <a:schemeClr val="tx1"/>
              </a:solidFill>
            </a:endParaRPr>
          </a:p>
          <a:p>
            <a:pPr marL="152398" indent="0" algn="ctr">
              <a:buClr>
                <a:schemeClr val="dk1"/>
              </a:buClr>
              <a:buSzPts val="1200"/>
              <a:buFont typeface="Nunito Light"/>
              <a:buNone/>
              <a:defRPr/>
            </a:pPr>
            <a:endParaRPr lang="it-IT" sz="800">
              <a:solidFill>
                <a:schemeClr val="tx1"/>
              </a:solidFill>
            </a:endParaRPr>
          </a:p>
          <a:p>
            <a:pPr marL="152398" indent="0" algn="just">
              <a:buClr>
                <a:schemeClr val="dk1"/>
              </a:buClr>
              <a:buSzPts val="1200"/>
              <a:buFont typeface="Nunito Light"/>
              <a:buNone/>
              <a:defRPr/>
            </a:pPr>
            <a:r>
              <a:rPr lang="it-IT" sz="1200" b="0" i="0" u="none" strike="noStrike" cap="none" spc="0">
                <a:solidFill>
                  <a:schemeClr val="tx1"/>
                </a:solidFill>
                <a:latin typeface="DM Sans"/>
                <a:ea typeface="DM Sans"/>
                <a:cs typeface="DM Sans"/>
              </a:rPr>
              <a:t>A</a:t>
            </a:r>
            <a:r>
              <a:rPr lang="en-US" sz="1200" b="0" i="0" u="none" strike="noStrike" cap="none" spc="0">
                <a:solidFill>
                  <a:schemeClr val="tx1"/>
                </a:solidFill>
                <a:latin typeface="DM Sans"/>
                <a:ea typeface="DM Sans"/>
                <a:cs typeface="DM Sans"/>
              </a:rPr>
              <a:t> direct-mapping approach where</a:t>
            </a:r>
            <a:r>
              <a:rPr lang="en-US" sz="1200" b="1" i="0" u="none" strike="noStrike" cap="none" spc="0">
                <a:solidFill>
                  <a:schemeClr val="tx1"/>
                </a:solidFill>
                <a:latin typeface="DM Sans"/>
                <a:ea typeface="DM Sans"/>
                <a:cs typeface="DM Sans"/>
              </a:rPr>
              <a:t> logits are</a:t>
            </a:r>
            <a:r>
              <a:rPr lang="it-IT" sz="1200" b="1" i="0" u="none" strike="noStrike" cap="none" spc="0">
                <a:solidFill>
                  <a:schemeClr val="tx1"/>
                </a:solidFill>
                <a:latin typeface="DM Sans"/>
                <a:ea typeface="DM Sans"/>
                <a:cs typeface="DM Sans"/>
              </a:rPr>
              <a:t> </a:t>
            </a:r>
            <a:r>
              <a:rPr lang="en-US" sz="1200" b="1" i="0" u="none" strike="noStrike" cap="none" spc="0">
                <a:solidFill>
                  <a:schemeClr val="tx1"/>
                </a:solidFill>
                <a:latin typeface="DM Sans"/>
                <a:ea typeface="DM Sans"/>
                <a:cs typeface="DM Sans"/>
              </a:rPr>
              <a:t>re-weighted before the Softmax</a:t>
            </a:r>
            <a:r>
              <a:rPr lang="en-US" sz="1200" b="0" i="0" u="none" strike="noStrike" cap="none" spc="0">
                <a:solidFill>
                  <a:schemeClr val="tx1"/>
                </a:solidFill>
                <a:latin typeface="DM Sans"/>
                <a:ea typeface="DM Sans"/>
                <a:cs typeface="DM Sans"/>
              </a:rPr>
              <a:t> </a:t>
            </a:r>
            <a:r>
              <a:rPr lang="it-IT" sz="1200" b="0" i="0" u="none" strike="noStrike" cap="none" spc="0">
                <a:solidFill>
                  <a:schemeClr val="tx1"/>
                </a:solidFill>
                <a:latin typeface="DM Sans"/>
                <a:ea typeface="DM Sans"/>
                <a:cs typeface="DM Sans"/>
              </a:rPr>
              <a:t>like this:</a:t>
            </a:r>
            <a:endParaRPr lang="en-US" sz="1200" b="0" i="0" u="none" strike="noStrike" cap="none" spc="0">
              <a:solidFill>
                <a:schemeClr val="tx1"/>
              </a:solidFill>
              <a:latin typeface="DM Sans"/>
              <a:ea typeface="DM Sans"/>
              <a:cs typeface="DM Sans"/>
            </a:endParaRPr>
          </a:p>
          <a:p>
            <a:pPr marL="152398" indent="0" algn="just">
              <a:buClr>
                <a:schemeClr val="dk1"/>
              </a:buClr>
              <a:buSzPts val="1200"/>
              <a:buFont typeface="Nunito Light"/>
              <a:buNone/>
              <a:defRPr/>
            </a:pPr>
            <a:endParaRPr lang="it-IT" sz="1200" b="0" i="0" u="none" strike="noStrike" cap="none" spc="0">
              <a:solidFill>
                <a:schemeClr val="tx1"/>
              </a:solidFill>
              <a:latin typeface="DM Sans"/>
              <a:ea typeface="DM Sans"/>
              <a:cs typeface="DM Sans"/>
            </a:endParaRPr>
          </a:p>
          <a:p>
            <a:pPr marL="152398" indent="0" algn="just">
              <a:buClr>
                <a:schemeClr val="dk1"/>
              </a:buClr>
              <a:buSzPts val="1200"/>
              <a:buFont typeface="Nunito Light"/>
              <a:buNone/>
              <a:defRPr/>
            </a:pPr>
            <a:endParaRPr lang="en-US" sz="1200" b="0" i="0" u="none" strike="noStrike" cap="none" spc="0">
              <a:solidFill>
                <a:schemeClr val="tx1"/>
              </a:solidFill>
              <a:latin typeface="DM Sans"/>
              <a:ea typeface="DM Sans"/>
              <a:cs typeface="DM Sans"/>
            </a:endParaRPr>
          </a:p>
          <a:p>
            <a:pPr marL="152398" indent="0" algn="just">
              <a:buClr>
                <a:schemeClr val="dk1"/>
              </a:buClr>
              <a:buSzPts val="1200"/>
              <a:buFont typeface="Nunito Light"/>
              <a:buNone/>
              <a:defRPr/>
            </a:pPr>
            <a:endParaRPr lang="en-US" sz="1200" b="0" i="0" u="none" strike="noStrike" cap="none" spc="0">
              <a:solidFill>
                <a:schemeClr val="tx1"/>
              </a:solidFill>
              <a:latin typeface="DM Sans"/>
              <a:ea typeface="DM Sans"/>
              <a:cs typeface="DM Sans"/>
            </a:endParaRPr>
          </a:p>
          <a:p>
            <a:pPr marL="152398" indent="0" algn="just">
              <a:buClr>
                <a:schemeClr val="dk1"/>
              </a:buClr>
              <a:buSzPts val="1200"/>
              <a:buFont typeface="Nunito Light"/>
              <a:buNone/>
              <a:defRPr/>
            </a:pPr>
            <a:r>
              <a:rPr lang="it-IT" sz="1200" b="0" i="0" u="none" strike="noStrike" cap="none" spc="0">
                <a:solidFill>
                  <a:schemeClr val="tx1"/>
                </a:solidFill>
                <a:latin typeface="DM Sans"/>
                <a:ea typeface="DM Sans"/>
                <a:cs typeface="DM Sans"/>
              </a:rPr>
              <a:t>where w are parameters learned jointly in the optimization process and constrained in the [0, 1] range</a:t>
            </a:r>
            <a:r>
              <a:rPr lang="it-IT" sz="1200" b="0" i="0" u="none" strike="noStrike" cap="none" spc="0">
                <a:solidFill>
                  <a:schemeClr val="tx1"/>
                </a:solidFill>
                <a:latin typeface="DM Sans"/>
                <a:ea typeface="DM Sans"/>
                <a:cs typeface="DM Sans"/>
              </a:rPr>
              <a:t>. </a:t>
            </a:r>
            <a:endParaRPr lang="it-IT" sz="1200" b="0" i="0" u="none" strike="noStrike" cap="none" spc="0">
              <a:solidFill>
                <a:schemeClr val="tx1"/>
              </a:solidFill>
              <a:latin typeface="DM Sans"/>
              <a:ea typeface="DM Sans"/>
              <a:cs typeface="DM Sans"/>
            </a:endParaRPr>
          </a:p>
          <a:p>
            <a:pPr marL="152398" indent="0" algn="just">
              <a:buClr>
                <a:schemeClr val="dk1"/>
              </a:buClr>
              <a:buSzPts val="1200"/>
              <a:buFont typeface="Nunito Light"/>
              <a:buNone/>
              <a:defRPr/>
            </a:pPr>
            <a:r>
              <a:rPr lang="it-IT" sz="1200" b="0" i="0" u="none" strike="noStrike" cap="none" spc="0">
                <a:solidFill>
                  <a:schemeClr val="tx1"/>
                </a:solidFill>
                <a:latin typeface="DM Sans"/>
                <a:ea typeface="DM Sans"/>
                <a:cs typeface="DM Sans"/>
              </a:rPr>
              <a:t>Then </a:t>
            </a:r>
            <a:r>
              <a:rPr lang="en-US" sz="1200" b="0" i="0" u="none" strike="noStrike" cap="none" spc="0">
                <a:solidFill>
                  <a:schemeClr val="tx1"/>
                </a:solidFill>
                <a:latin typeface="DM Sans"/>
                <a:ea typeface="DM Sans"/>
                <a:cs typeface="DM Sans"/>
              </a:rPr>
              <a:t>the final label probability is obtained</a:t>
            </a:r>
            <a:r>
              <a:rPr lang="it-IT" sz="1200" b="0" i="0" u="none" strike="noStrike" cap="none" spc="0">
                <a:solidFill>
                  <a:schemeClr val="tx1"/>
                </a:solidFill>
                <a:latin typeface="DM Sans"/>
                <a:ea typeface="DM Sans"/>
                <a:cs typeface="DM Sans"/>
              </a:rPr>
              <a:t> by</a:t>
            </a:r>
            <a:endParaRPr lang="en-US" sz="1200" b="0" i="0" u="none" strike="noStrike" cap="none" spc="0">
              <a:solidFill>
                <a:schemeClr val="tx1"/>
              </a:solidFill>
              <a:latin typeface="DM Sans"/>
              <a:ea typeface="DM Sans"/>
              <a:cs typeface="DM Sans"/>
            </a:endParaRPr>
          </a:p>
        </p:txBody>
      </p:sp>
      <p:pic>
        <p:nvPicPr>
          <p:cNvPr id="267110574" name=""/>
          <p:cNvPicPr>
            <a:picLocks noChangeAspect="1"/>
          </p:cNvPicPr>
          <p:nvPr/>
        </p:nvPicPr>
        <p:blipFill rotWithShape="1">
          <a:blip r:embed="rId3"/>
          <a:stretch/>
        </p:blipFill>
        <p:spPr bwMode="auto">
          <a:xfrm flipH="0" flipV="0">
            <a:off x="461041" y="4316378"/>
            <a:ext cx="3765916" cy="566203"/>
          </a:xfrm>
          <a:prstGeom prst="rect">
            <a:avLst/>
          </a:prstGeom>
        </p:spPr>
      </p:pic>
      <p:pic>
        <p:nvPicPr>
          <p:cNvPr id="1982638702" name=""/>
          <p:cNvPicPr>
            <a:picLocks noChangeAspect="1"/>
          </p:cNvPicPr>
          <p:nvPr/>
        </p:nvPicPr>
        <p:blipFill rotWithShape="1">
          <a:blip r:embed="rId6"/>
          <a:stretch/>
        </p:blipFill>
        <p:spPr bwMode="auto">
          <a:xfrm flipH="0" flipV="0">
            <a:off x="759955" y="3067980"/>
            <a:ext cx="3321535" cy="45990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0455908" name="Google Shape;106;p25"/>
          <p:cNvSpPr txBox="1"/>
          <p:nvPr>
            <p:ph type="title"/>
          </p:nvPr>
        </p:nvSpPr>
        <p:spPr bwMode="auto">
          <a:xfrm flipH="0" flipV="0">
            <a:off x="263154" y="342630"/>
            <a:ext cx="8616094" cy="572699"/>
          </a:xfrm>
          <a:prstGeom prst="rect">
            <a:avLst/>
          </a:prstGeom>
        </p:spPr>
        <p:txBody>
          <a:bodyPr spcFirstLastPara="1" wrap="square" lIns="91424" tIns="91424" rIns="91424" bIns="91424" anchor="t" anchorCtr="0">
            <a:noAutofit/>
          </a:bodyPr>
          <a:lstStyle/>
          <a:p>
            <a:pPr marL="0" lvl="0" indent="0" algn="l" rtl="0">
              <a:spcBef>
                <a:spcPts val="0"/>
              </a:spcBef>
              <a:spcAft>
                <a:spcPts val="0"/>
              </a:spcAft>
              <a:buNone/>
              <a:defRPr/>
            </a:pPr>
            <a:r>
              <a:rPr lang="it-IT"/>
              <a:t>PRONTO’S verbalizers results</a:t>
            </a:r>
            <a:r>
              <a:rPr lang="it-IT"/>
              <a:t>:</a:t>
            </a:r>
            <a:r>
              <a:rPr lang="it-IT" sz="1800"/>
              <a:t> comparaison with “unseen instances”</a:t>
            </a:r>
            <a:endParaRPr/>
          </a:p>
        </p:txBody>
      </p:sp>
      <p:graphicFrame>
        <p:nvGraphicFramePr>
          <p:cNvPr id="285538563" name="Google Shape;108;p25"/>
          <p:cNvGraphicFramePr>
            <a:graphicFrameLocks xmlns:a="http://schemas.openxmlformats.org/drawingml/2006/main"/>
          </p:cNvGraphicFramePr>
          <p:nvPr/>
        </p:nvGraphicFramePr>
        <p:xfrm rot="0">
          <a:off x="263154" y="970899"/>
          <a:ext cx="8580339" cy="1825618"/>
        </p:xfrm>
        <a:graphic>
          <a:graphicData uri="http://schemas.openxmlformats.org/drawingml/2006/table">
            <a:tbl>
              <a:tblPr firstRow="0" firstCol="0" lastRow="0" lastCol="0" bandRow="0" bandCol="0">
                <a:tableStyleId>{EA37CDA1-CCFA-4E4F-8383-CC0F6BD98904}</a:tableStyleId>
                <a:noFill/>
              </a:tblPr>
              <a:tblGrid>
                <a:gridCol w="1610357"/>
                <a:gridCol w="819642"/>
                <a:gridCol w="900000"/>
                <a:gridCol w="810000"/>
                <a:gridCol w="900000"/>
                <a:gridCol w="810000"/>
                <a:gridCol w="900000"/>
                <a:gridCol w="900000"/>
                <a:gridCol w="956569"/>
              </a:tblGrid>
              <a:tr h="361525">
                <a:tc rowSpan="2">
                  <a:txBody>
                    <a:bodyPr/>
                    <a:p>
                      <a:pPr marL="0" lvl="0" indent="0" algn="l" rtl="0">
                        <a:spcBef>
                          <a:spcPts val="0"/>
                        </a:spcBef>
                        <a:spcAft>
                          <a:spcPts val="0"/>
                        </a:spcAft>
                        <a:buNone/>
                        <a:defRPr/>
                      </a:pPr>
                      <a:endParaRPr sz="1000" b="1" u="sng">
                        <a:solidFill>
                          <a:schemeClr val="dk1"/>
                        </a:solidFill>
                        <a:latin typeface="DM Sans"/>
                        <a:ea typeface="DM Sans"/>
                        <a:cs typeface="DM Sans"/>
                      </a:endParaRPr>
                    </a:p>
                  </a:txBody>
                  <a:tcPr marL="91424" marR="91424" marT="0" marB="0" anchor="ctr">
                    <a:lnL w="9524" algn="ctr">
                      <a:solidFill>
                        <a:schemeClr val="dk1"/>
                      </a:solidFill>
                    </a:lnL>
                    <a:lnR w="9524" algn="ctr">
                      <a:solidFill>
                        <a:schemeClr val="dk1"/>
                      </a:solidFill>
                    </a:lnR>
                    <a:lnT w="9524" algn="ctr">
                      <a:solidFill>
                        <a:schemeClr val="dk1"/>
                      </a:solidFill>
                    </a:lnT>
                    <a:lnB w="9524" algn="ctr">
                      <a:solidFill>
                        <a:srgbClr val="595959">
                          <a:alpha val="0"/>
                        </a:srgbClr>
                      </a:solidFill>
                    </a:lnB>
                    <a:noFill/>
                  </a:tcPr>
                </a:tc>
                <a:tc gridSpan="2">
                  <a:txBody>
                    <a:bodyPr/>
                    <a:p>
                      <a:pPr marL="0" lvl="0" indent="0" algn="ctr" rtl="0">
                        <a:spcBef>
                          <a:spcPts val="0"/>
                        </a:spcBef>
                        <a:spcAft>
                          <a:spcPts val="1599"/>
                        </a:spcAft>
                        <a:buNone/>
                        <a:defRPr/>
                      </a:pPr>
                      <a:r>
                        <a:rPr lang="it-IT" sz="1400" b="1">
                          <a:solidFill>
                            <a:schemeClr val="dk1"/>
                          </a:solidFill>
                          <a:latin typeface="DM Sans"/>
                          <a:ea typeface="DM Sans"/>
                          <a:cs typeface="DM Sans"/>
                        </a:rPr>
                        <a:t>VF</a:t>
                      </a:r>
                      <a:endParaRPr lang="it-IT" sz="1100" b="1">
                        <a:solidFill>
                          <a:schemeClr val="dk1"/>
                        </a:solidFill>
                        <a:latin typeface="DM Sans"/>
                        <a:ea typeface="DM Sans"/>
                        <a:cs typeface="DM Sans"/>
                      </a:endParaRPr>
                    </a:p>
                  </a:txBody>
                  <a:tcPr marL="91424" marR="91424" marT="0" marB="0" anchor="ctr">
                    <a:lnL w="9524" algn="ctr">
                      <a:solidFill>
                        <a:schemeClr val="dk1"/>
                      </a:solidFill>
                    </a:lnL>
                    <a:lnR w="9524" algn="ctr">
                      <a:solidFill>
                        <a:schemeClr val="dk1"/>
                      </a:solidFill>
                    </a:lnR>
                    <a:lnT w="9524" algn="ctr">
                      <a:solidFill>
                        <a:schemeClr val="dk1"/>
                      </a:solidFill>
                    </a:lnT>
                    <a:lnB w="9524" algn="ctr">
                      <a:solidFill>
                        <a:srgbClr val="595959">
                          <a:alpha val="0"/>
                        </a:srgbClr>
                      </a:solidFill>
                    </a:lnB>
                    <a:noFill/>
                  </a:tcPr>
                </a:tc>
                <a:tc hMerge="1">
                  <a:txBody>
                    <a:bodyPr/>
                    <a:p>
                      <a:endParaRPr/>
                    </a:p>
                  </a:txBody>
                </a:tc>
                <a:tc gridSpan="2">
                  <a:txBody>
                    <a:bodyPr/>
                    <a:p>
                      <a:pPr algn="ctr">
                        <a:defRPr/>
                      </a:pPr>
                      <a:r>
                        <a:rPr lang="it-IT" sz="1400" b="1">
                          <a:solidFill>
                            <a:schemeClr val="dk1"/>
                          </a:solidFill>
                          <a:latin typeface="DM Sans"/>
                          <a:ea typeface="DM Sans"/>
                          <a:cs typeface="DM Sans"/>
                        </a:rPr>
                        <a:t>LIN</a:t>
                      </a:r>
                      <a:endParaRPr lang="it-IT" sz="1400" b="1">
                        <a:solidFill>
                          <a:schemeClr val="dk1"/>
                        </a:solidFill>
                        <a:latin typeface="DM Sans"/>
                        <a:ea typeface="DM Sans"/>
                        <a:cs typeface="DM Sans"/>
                      </a:endParaRPr>
                    </a:p>
                  </a:txBody>
                  <a:tcPr marL="91424" marR="91424" marT="0" marB="0" anchor="ctr">
                    <a:lnL w="9524" algn="ctr">
                      <a:solidFill>
                        <a:schemeClr val="dk1"/>
                      </a:solidFill>
                    </a:lnL>
                    <a:lnR w="9524" algn="ctr">
                      <a:solidFill>
                        <a:schemeClr val="dk1"/>
                      </a:solidFill>
                    </a:lnR>
                    <a:lnT w="9524" algn="ctr">
                      <a:solidFill>
                        <a:schemeClr val="dk1"/>
                      </a:solidFill>
                    </a:lnT>
                    <a:lnB w="9524" algn="ctr">
                      <a:solidFill>
                        <a:srgbClr val="595959">
                          <a:alpha val="0"/>
                        </a:srgbClr>
                      </a:solidFill>
                    </a:lnB>
                    <a:noFill/>
                  </a:tcPr>
                </a:tc>
                <a:tc hMerge="1">
                  <a:txBody>
                    <a:bodyPr/>
                    <a:p>
                      <a:endParaRPr/>
                    </a:p>
                  </a:txBody>
                </a:tc>
                <a:tc gridSpan="2">
                  <a:txBody>
                    <a:bodyPr/>
                    <a:p>
                      <a:pPr algn="ctr">
                        <a:defRPr/>
                      </a:pPr>
                      <a:r>
                        <a:rPr lang="it-IT" sz="1400" b="1">
                          <a:solidFill>
                            <a:schemeClr val="dk1"/>
                          </a:solidFill>
                          <a:latin typeface="DM Sans"/>
                          <a:ea typeface="DM Sans"/>
                          <a:cs typeface="DM Sans"/>
                        </a:rPr>
                        <a:t>WS</a:t>
                      </a:r>
                      <a:endParaRPr lang="it-IT" sz="1400" b="1">
                        <a:solidFill>
                          <a:schemeClr val="dk1"/>
                        </a:solidFill>
                        <a:latin typeface="DM Sans"/>
                        <a:ea typeface="DM Sans"/>
                        <a:cs typeface="DM Sans"/>
                      </a:endParaRPr>
                    </a:p>
                  </a:txBody>
                  <a:tcPr marL="91424" marR="91424" marT="0" marB="0" anchor="ctr">
                    <a:lnL w="9524" algn="ctr">
                      <a:solidFill>
                        <a:schemeClr val="dk1"/>
                      </a:solidFill>
                    </a:lnL>
                    <a:lnR w="9524" algn="ctr">
                      <a:solidFill>
                        <a:schemeClr val="dk1"/>
                      </a:solidFill>
                    </a:lnR>
                    <a:lnT w="9524" algn="ctr">
                      <a:solidFill>
                        <a:schemeClr val="dk1"/>
                      </a:solidFill>
                    </a:lnT>
                    <a:lnB w="9524" algn="ctr">
                      <a:solidFill>
                        <a:srgbClr val="595959">
                          <a:alpha val="0"/>
                        </a:srgbClr>
                      </a:solidFill>
                    </a:lnB>
                    <a:noFill/>
                  </a:tcPr>
                </a:tc>
                <a:tc hMerge="1">
                  <a:txBody>
                    <a:bodyPr/>
                    <a:p>
                      <a:endParaRPr/>
                    </a:p>
                  </a:txBody>
                </a:tc>
                <a:tc gridSpan="2">
                  <a:txBody>
                    <a:bodyPr/>
                    <a:p>
                      <a:pPr algn="ctr">
                        <a:defRPr/>
                      </a:pPr>
                      <a:r>
                        <a:rPr lang="it-IT" sz="1400" b="1">
                          <a:solidFill>
                            <a:schemeClr val="dk1"/>
                          </a:solidFill>
                          <a:latin typeface="DM Sans"/>
                          <a:ea typeface="DM Sans"/>
                          <a:cs typeface="DM Sans"/>
                        </a:rPr>
                        <a:t>MAV</a:t>
                      </a:r>
                      <a:endParaRPr lang="it-IT" sz="1400" b="1">
                        <a:solidFill>
                          <a:schemeClr val="dk1"/>
                        </a:solidFill>
                        <a:latin typeface="DM Sans"/>
                        <a:ea typeface="DM Sans"/>
                        <a:cs typeface="DM Sans"/>
                      </a:endParaRPr>
                    </a:p>
                  </a:txBody>
                  <a:tcPr marL="91424" marR="91424" marT="0" marB="0" anchor="ctr">
                    <a:lnL w="9524" algn="ctr">
                      <a:solidFill>
                        <a:schemeClr val="dk1"/>
                      </a:solidFill>
                    </a:lnL>
                    <a:lnR w="9524" algn="ctr">
                      <a:solidFill>
                        <a:schemeClr val="dk1"/>
                      </a:solidFill>
                    </a:lnR>
                    <a:lnT w="9524" algn="ctr">
                      <a:solidFill>
                        <a:schemeClr val="dk1"/>
                      </a:solidFill>
                    </a:lnT>
                    <a:lnB w="9524" algn="ctr">
                      <a:solidFill>
                        <a:srgbClr val="595959">
                          <a:alpha val="0"/>
                        </a:srgbClr>
                      </a:solidFill>
                    </a:lnB>
                    <a:noFill/>
                  </a:tcPr>
                </a:tc>
                <a:tc hMerge="1">
                  <a:txBody>
                    <a:bodyPr/>
                    <a:p>
                      <a:endParaRPr/>
                    </a:p>
                  </a:txBody>
                </a:tc>
              </a:tr>
              <a:tr h="361525">
                <a:tc vMerge="1">
                  <a:txBody>
                    <a:bodyPr/>
                    <a:p>
                      <a:pPr>
                        <a:defRPr/>
                      </a:pPr>
                      <a:endParaRPr/>
                    </a:p>
                  </a:txBody>
                  <a:tcPr marL="91424" marR="91424" marT="0" marB="0" anchor="ctr">
                    <a:lnL w="9524" algn="ctr">
                      <a:solidFill>
                        <a:schemeClr val="dk1"/>
                      </a:solidFill>
                    </a:lnL>
                    <a:lnR w="9524" algn="ctr">
                      <a:solidFill>
                        <a:schemeClr val="dk1"/>
                      </a:solidFill>
                    </a:lnR>
                    <a:lnT w="9524" algn="ctr">
                      <a:solidFill>
                        <a:schemeClr val="dk1"/>
                      </a:solidFill>
                    </a:lnT>
                    <a:lnB w="9524" algn="ctr">
                      <a:solidFill>
                        <a:srgbClr val="595959">
                          <a:alpha val="0"/>
                        </a:srgbClr>
                      </a:solidFill>
                    </a:lnB>
                    <a:noFill/>
                  </a:tcPr>
                </a:tc>
                <a:tc>
                  <a:txBody>
                    <a:bodyPr/>
                    <a:p>
                      <a:pPr marL="0" lvl="0" indent="0" algn="ctr" rtl="0">
                        <a:spcBef>
                          <a:spcPts val="0"/>
                        </a:spcBef>
                        <a:spcAft>
                          <a:spcPts val="1599"/>
                        </a:spcAft>
                        <a:buNone/>
                        <a:defRPr/>
                      </a:pPr>
                      <a:r>
                        <a:rPr lang="it-IT" sz="1000" b="1">
                          <a:solidFill>
                            <a:schemeClr val="dk1"/>
                          </a:solidFill>
                          <a:latin typeface="DM Sans"/>
                          <a:ea typeface="DM Sans"/>
                          <a:cs typeface="DM Sans"/>
                        </a:rPr>
                        <a:t>BERT</a:t>
                      </a:r>
                      <a:endParaRPr sz="1000">
                        <a:solidFill>
                          <a:schemeClr val="dk1"/>
                        </a:solidFill>
                        <a:latin typeface="DM Sans"/>
                        <a:ea typeface="DM Sans"/>
                        <a:cs typeface="DM Sans"/>
                      </a:endParaRPr>
                    </a:p>
                  </a:txBody>
                  <a:tcPr marL="91424" marR="91424" marT="0" marB="0" anchor="ctr">
                    <a:lnL w="9524" algn="ctr">
                      <a:solidFill>
                        <a:schemeClr val="dk1"/>
                      </a:solidFill>
                    </a:lnL>
                    <a:lnR w="9524" algn="ctr">
                      <a:solidFill>
                        <a:schemeClr val="dk1"/>
                      </a:solidFill>
                    </a:lnR>
                    <a:lnT w="9524" algn="ctr">
                      <a:solidFill>
                        <a:schemeClr val="dk1"/>
                      </a:solidFill>
                    </a:lnT>
                    <a:lnB w="9524" algn="ctr">
                      <a:solidFill>
                        <a:srgbClr val="595959">
                          <a:alpha val="0"/>
                        </a:srgbClr>
                      </a:solidFill>
                    </a:lnB>
                    <a:noFill/>
                  </a:tcPr>
                </a:tc>
                <a:tc>
                  <a:txBody>
                    <a:bodyPr/>
                    <a:p>
                      <a:pPr marL="0" lvl="0" indent="0" algn="ctr" rtl="0">
                        <a:spcBef>
                          <a:spcPts val="0"/>
                        </a:spcBef>
                        <a:spcAft>
                          <a:spcPts val="1599"/>
                        </a:spcAft>
                        <a:buNone/>
                        <a:defRPr/>
                      </a:pPr>
                      <a:r>
                        <a:rPr lang="it-IT" sz="1000" b="1">
                          <a:solidFill>
                            <a:schemeClr val="dk1"/>
                          </a:solidFill>
                          <a:latin typeface="DM Sans"/>
                          <a:ea typeface="DM Sans"/>
                          <a:cs typeface="DM Sans"/>
                        </a:rPr>
                        <a:t>RoBERTa</a:t>
                      </a:r>
                      <a:endParaRPr lang="en" sz="1000">
                        <a:solidFill>
                          <a:schemeClr val="dk1"/>
                        </a:solidFill>
                        <a:latin typeface="DM Sans"/>
                        <a:ea typeface="DM Sans"/>
                        <a:cs typeface="DM Sans"/>
                      </a:endParaRPr>
                    </a:p>
                  </a:txBody>
                  <a:tcPr marL="91424" marR="91424" marT="0" marB="0" anchor="ctr">
                    <a:lnL w="9524" algn="ctr">
                      <a:solidFill>
                        <a:schemeClr val="dk1"/>
                      </a:solidFill>
                    </a:lnL>
                    <a:lnR w="9524" algn="ctr">
                      <a:solidFill>
                        <a:schemeClr val="dk1"/>
                      </a:solidFill>
                    </a:lnR>
                    <a:lnT w="9524" algn="ctr">
                      <a:solidFill>
                        <a:schemeClr val="dk1"/>
                      </a:solidFill>
                    </a:lnT>
                    <a:lnB w="9524" algn="ctr">
                      <a:solidFill>
                        <a:srgbClr val="595959">
                          <a:alpha val="0"/>
                        </a:srgbClr>
                      </a:solidFill>
                    </a:lnB>
                    <a:noFill/>
                  </a:tcPr>
                </a:tc>
                <a:tc>
                  <a:txBody>
                    <a:bodyPr/>
                    <a:p>
                      <a:pPr marL="0" lvl="0" indent="0" algn="ctr" rtl="0">
                        <a:spcBef>
                          <a:spcPts val="0"/>
                        </a:spcBef>
                        <a:spcAft>
                          <a:spcPts val="1599"/>
                        </a:spcAft>
                        <a:buNone/>
                        <a:defRPr/>
                      </a:pPr>
                      <a:r>
                        <a:rPr lang="it-IT" sz="1000" b="1">
                          <a:solidFill>
                            <a:schemeClr val="dk1"/>
                          </a:solidFill>
                          <a:latin typeface="DM Sans"/>
                          <a:ea typeface="DM Sans"/>
                          <a:cs typeface="DM Sans"/>
                        </a:rPr>
                        <a:t>BERT</a:t>
                      </a:r>
                      <a:endParaRPr sz="1000">
                        <a:solidFill>
                          <a:schemeClr val="dk1"/>
                        </a:solidFill>
                        <a:latin typeface="DM Sans"/>
                        <a:ea typeface="DM Sans"/>
                        <a:cs typeface="DM Sans"/>
                      </a:endParaRPr>
                    </a:p>
                  </a:txBody>
                  <a:tcPr marL="91424" marR="91424" marT="0" marB="0" anchor="ctr">
                    <a:lnL w="9524" algn="ctr">
                      <a:solidFill>
                        <a:schemeClr val="dk1"/>
                      </a:solidFill>
                    </a:lnL>
                    <a:lnR w="9524" algn="ctr">
                      <a:solidFill>
                        <a:schemeClr val="dk1"/>
                      </a:solidFill>
                    </a:lnR>
                    <a:lnT w="9524" algn="ctr">
                      <a:solidFill>
                        <a:schemeClr val="dk1"/>
                      </a:solidFill>
                    </a:lnT>
                    <a:lnB w="9524" algn="ctr">
                      <a:solidFill>
                        <a:srgbClr val="595959">
                          <a:alpha val="0"/>
                        </a:srgbClr>
                      </a:solidFill>
                    </a:lnB>
                    <a:noFill/>
                  </a:tcPr>
                </a:tc>
                <a:tc>
                  <a:txBody>
                    <a:bodyPr/>
                    <a:p>
                      <a:pPr marL="0" lvl="0" indent="0" algn="ctr" rtl="0">
                        <a:spcBef>
                          <a:spcPts val="0"/>
                        </a:spcBef>
                        <a:spcAft>
                          <a:spcPts val="1599"/>
                        </a:spcAft>
                        <a:buNone/>
                        <a:defRPr/>
                      </a:pPr>
                      <a:r>
                        <a:rPr lang="it-IT" sz="1000" b="1">
                          <a:solidFill>
                            <a:schemeClr val="dk1"/>
                          </a:solidFill>
                          <a:latin typeface="DM Sans"/>
                          <a:ea typeface="DM Sans"/>
                          <a:cs typeface="DM Sans"/>
                        </a:rPr>
                        <a:t>RoBERTa</a:t>
                      </a:r>
                      <a:endParaRPr lang="en" sz="1000">
                        <a:solidFill>
                          <a:schemeClr val="dk1"/>
                        </a:solidFill>
                        <a:latin typeface="DM Sans"/>
                        <a:ea typeface="DM Sans"/>
                        <a:cs typeface="DM Sans"/>
                      </a:endParaRPr>
                    </a:p>
                  </a:txBody>
                  <a:tcPr marL="91424" marR="91424" marT="0" marB="0" anchor="ctr">
                    <a:lnL w="9524" algn="ctr">
                      <a:solidFill>
                        <a:schemeClr val="dk1"/>
                      </a:solidFill>
                    </a:lnL>
                    <a:lnR w="9524" algn="ctr">
                      <a:solidFill>
                        <a:schemeClr val="dk1"/>
                      </a:solidFill>
                    </a:lnR>
                    <a:lnT w="9524" algn="ctr">
                      <a:solidFill>
                        <a:schemeClr val="dk1"/>
                      </a:solidFill>
                    </a:lnT>
                    <a:lnB w="9524" algn="ctr">
                      <a:solidFill>
                        <a:srgbClr val="595959">
                          <a:alpha val="0"/>
                        </a:srgbClr>
                      </a:solidFill>
                    </a:lnB>
                    <a:noFill/>
                  </a:tcPr>
                </a:tc>
                <a:tc>
                  <a:txBody>
                    <a:bodyPr/>
                    <a:p>
                      <a:pPr marL="0" lvl="0" indent="0" algn="ctr" rtl="0">
                        <a:spcBef>
                          <a:spcPts val="0"/>
                        </a:spcBef>
                        <a:spcAft>
                          <a:spcPts val="1599"/>
                        </a:spcAft>
                        <a:buNone/>
                        <a:defRPr/>
                      </a:pPr>
                      <a:r>
                        <a:rPr lang="it-IT" sz="1000" b="1">
                          <a:solidFill>
                            <a:schemeClr val="dk1"/>
                          </a:solidFill>
                          <a:latin typeface="DM Sans"/>
                          <a:ea typeface="DM Sans"/>
                          <a:cs typeface="DM Sans"/>
                        </a:rPr>
                        <a:t>BERT</a:t>
                      </a:r>
                      <a:endParaRPr sz="1000">
                        <a:solidFill>
                          <a:schemeClr val="dk1"/>
                        </a:solidFill>
                        <a:latin typeface="DM Sans"/>
                        <a:ea typeface="DM Sans"/>
                        <a:cs typeface="DM Sans"/>
                      </a:endParaRPr>
                    </a:p>
                  </a:txBody>
                  <a:tcPr marL="91424" marR="91424" marT="0" marB="0" anchor="ctr">
                    <a:lnL w="9524" algn="ctr">
                      <a:solidFill>
                        <a:schemeClr val="dk1"/>
                      </a:solidFill>
                    </a:lnL>
                    <a:lnR w="9524" algn="ctr">
                      <a:solidFill>
                        <a:schemeClr val="dk1"/>
                      </a:solidFill>
                    </a:lnR>
                    <a:lnT w="9524" algn="ctr">
                      <a:solidFill>
                        <a:schemeClr val="dk1"/>
                      </a:solidFill>
                    </a:lnT>
                    <a:lnB w="9524" algn="ctr">
                      <a:solidFill>
                        <a:srgbClr val="595959">
                          <a:alpha val="0"/>
                        </a:srgbClr>
                      </a:solidFill>
                    </a:lnB>
                    <a:noFill/>
                  </a:tcPr>
                </a:tc>
                <a:tc>
                  <a:txBody>
                    <a:bodyPr/>
                    <a:p>
                      <a:pPr marL="0" lvl="0" indent="0" algn="ctr" rtl="0">
                        <a:spcBef>
                          <a:spcPts val="0"/>
                        </a:spcBef>
                        <a:spcAft>
                          <a:spcPts val="1599"/>
                        </a:spcAft>
                        <a:buNone/>
                        <a:defRPr/>
                      </a:pPr>
                      <a:r>
                        <a:rPr lang="it-IT" sz="1000" b="1">
                          <a:solidFill>
                            <a:schemeClr val="dk1"/>
                          </a:solidFill>
                          <a:latin typeface="DM Sans"/>
                          <a:ea typeface="DM Sans"/>
                          <a:cs typeface="DM Sans"/>
                        </a:rPr>
                        <a:t>RoBERTa</a:t>
                      </a:r>
                      <a:endParaRPr lang="en" sz="1000">
                        <a:solidFill>
                          <a:schemeClr val="dk1"/>
                        </a:solidFill>
                        <a:latin typeface="DM Sans"/>
                        <a:ea typeface="DM Sans"/>
                        <a:cs typeface="DM Sans"/>
                      </a:endParaRPr>
                    </a:p>
                  </a:txBody>
                  <a:tcPr marL="91424" marR="91424" marT="0" marB="0" anchor="ctr">
                    <a:lnL w="9524" algn="ctr">
                      <a:solidFill>
                        <a:schemeClr val="dk1"/>
                      </a:solidFill>
                    </a:lnL>
                    <a:lnR w="9524" algn="ctr">
                      <a:solidFill>
                        <a:schemeClr val="dk1"/>
                      </a:solidFill>
                    </a:lnR>
                    <a:lnT w="9524" algn="ctr">
                      <a:solidFill>
                        <a:schemeClr val="dk1"/>
                      </a:solidFill>
                    </a:lnT>
                    <a:lnB w="9524" algn="ctr">
                      <a:solidFill>
                        <a:srgbClr val="595959">
                          <a:alpha val="0"/>
                        </a:srgbClr>
                      </a:solidFill>
                    </a:lnB>
                    <a:noFill/>
                  </a:tcPr>
                </a:tc>
                <a:tc>
                  <a:txBody>
                    <a:bodyPr/>
                    <a:p>
                      <a:pPr marL="0" lvl="0" indent="0" algn="ctr" rtl="0">
                        <a:spcBef>
                          <a:spcPts val="0"/>
                        </a:spcBef>
                        <a:spcAft>
                          <a:spcPts val="1599"/>
                        </a:spcAft>
                        <a:buNone/>
                        <a:defRPr/>
                      </a:pPr>
                      <a:r>
                        <a:rPr lang="it-IT" sz="1000" b="1">
                          <a:solidFill>
                            <a:schemeClr val="dk1"/>
                          </a:solidFill>
                          <a:latin typeface="DM Sans"/>
                          <a:ea typeface="DM Sans"/>
                          <a:cs typeface="DM Sans"/>
                        </a:rPr>
                        <a:t>BERT</a:t>
                      </a:r>
                      <a:endParaRPr sz="1000">
                        <a:solidFill>
                          <a:schemeClr val="dk1"/>
                        </a:solidFill>
                        <a:latin typeface="DM Sans"/>
                        <a:ea typeface="DM Sans"/>
                        <a:cs typeface="DM Sans"/>
                      </a:endParaRPr>
                    </a:p>
                  </a:txBody>
                  <a:tcPr marL="91424" marR="91424" marT="0" marB="0" anchor="ctr">
                    <a:lnL w="9524" algn="ctr">
                      <a:solidFill>
                        <a:schemeClr val="dk1"/>
                      </a:solidFill>
                    </a:lnL>
                    <a:lnR w="9524" algn="ctr">
                      <a:solidFill>
                        <a:schemeClr val="dk1"/>
                      </a:solidFill>
                    </a:lnR>
                    <a:lnT w="9524" algn="ctr">
                      <a:solidFill>
                        <a:schemeClr val="dk1"/>
                      </a:solidFill>
                    </a:lnT>
                    <a:lnB w="9524" algn="ctr">
                      <a:solidFill>
                        <a:srgbClr val="595959">
                          <a:alpha val="0"/>
                        </a:srgbClr>
                      </a:solidFill>
                    </a:lnB>
                    <a:noFill/>
                  </a:tcPr>
                </a:tc>
                <a:tc>
                  <a:txBody>
                    <a:bodyPr/>
                    <a:p>
                      <a:pPr marL="0" lvl="0" indent="0" algn="ctr" rtl="0">
                        <a:spcBef>
                          <a:spcPts val="0"/>
                        </a:spcBef>
                        <a:spcAft>
                          <a:spcPts val="1599"/>
                        </a:spcAft>
                        <a:buNone/>
                        <a:defRPr/>
                      </a:pPr>
                      <a:r>
                        <a:rPr lang="it-IT" sz="1000" b="1">
                          <a:solidFill>
                            <a:schemeClr val="dk1"/>
                          </a:solidFill>
                          <a:latin typeface="DM Sans"/>
                          <a:ea typeface="DM Sans"/>
                          <a:cs typeface="DM Sans"/>
                        </a:rPr>
                        <a:t>RoBERTa</a:t>
                      </a:r>
                      <a:endParaRPr lang="en" sz="1000">
                        <a:solidFill>
                          <a:schemeClr val="dk1"/>
                        </a:solidFill>
                        <a:latin typeface="DM Sans"/>
                        <a:ea typeface="DM Sans"/>
                        <a:cs typeface="DM Sans"/>
                      </a:endParaRPr>
                    </a:p>
                  </a:txBody>
                  <a:tcPr marL="91424" marR="91424" marT="0" marB="0" anchor="ctr">
                    <a:lnL w="9524" algn="ctr">
                      <a:solidFill>
                        <a:schemeClr val="dk1"/>
                      </a:solidFill>
                    </a:lnL>
                    <a:lnR w="9524" algn="ctr">
                      <a:solidFill>
                        <a:schemeClr val="dk1"/>
                      </a:solidFill>
                    </a:lnR>
                    <a:lnT w="9524" algn="ctr">
                      <a:solidFill>
                        <a:schemeClr val="dk1"/>
                      </a:solidFill>
                    </a:lnT>
                    <a:lnB w="9524" algn="ctr">
                      <a:solidFill>
                        <a:srgbClr val="595959">
                          <a:alpha val="0"/>
                        </a:srgbClr>
                      </a:solidFill>
                    </a:lnB>
                    <a:noFill/>
                  </a:tcPr>
                </a:tc>
              </a:tr>
              <a:tr h="361525">
                <a:tc>
                  <a:txBody>
                    <a:bodyPr/>
                    <a:p>
                      <a:pPr marL="0" lvl="0" indent="0" algn="l" rtl="0">
                        <a:spcBef>
                          <a:spcPts val="0"/>
                        </a:spcBef>
                        <a:spcAft>
                          <a:spcPts val="0"/>
                        </a:spcAft>
                        <a:buNone/>
                        <a:defRPr/>
                      </a:pPr>
                      <a:r>
                        <a:rPr lang="it-IT" sz="1000" b="1" u="sng">
                          <a:solidFill>
                            <a:schemeClr val="hlink"/>
                          </a:solidFill>
                          <a:latin typeface="DM Sans"/>
                          <a:ea typeface="DM Sans"/>
                          <a:cs typeface="DM Sans"/>
                        </a:rPr>
                        <a:t>PRONTO’s paper results</a:t>
                      </a:r>
                      <a:endParaRPr sz="1000" b="1" u="sng">
                        <a:solidFill>
                          <a:schemeClr val="dk1"/>
                        </a:solidFill>
                        <a:latin typeface="DM Sans"/>
                        <a:ea typeface="DM Sans"/>
                        <a:cs typeface="DM Sans"/>
                      </a:endParaRPr>
                    </a:p>
                  </a:txBody>
                  <a:tcPr marL="91424" marR="91424" marT="0" marB="0" anchor="ctr">
                    <a:lnL w="9524" algn="ctr">
                      <a:solidFill>
                        <a:schemeClr val="dk1"/>
                      </a:solidFill>
                    </a:lnL>
                    <a:lnR w="9524" algn="ctr">
                      <a:solidFill>
                        <a:schemeClr val="dk1"/>
                      </a:solidFill>
                    </a:lnR>
                    <a:lnT w="9524" algn="ctr">
                      <a:solidFill>
                        <a:srgbClr val="595959">
                          <a:alpha val="0"/>
                        </a:srgbClr>
                      </a:solidFill>
                    </a:lnT>
                    <a:lnB w="9524" algn="ctr">
                      <a:solidFill>
                        <a:srgbClr val="595959">
                          <a:alpha val="0"/>
                        </a:srgbClr>
                      </a:solidFill>
                    </a:lnB>
                    <a:noFill/>
                  </a:tcPr>
                </a:tc>
                <a:tc>
                  <a:txBody>
                    <a:bodyPr/>
                    <a:p>
                      <a:pPr marL="0" marR="0" indent="0" algn="ctr">
                        <a:lnSpc>
                          <a:spcPct val="100000"/>
                        </a:lnSpc>
                        <a:spcBef>
                          <a:spcPts val="0"/>
                        </a:spcBef>
                        <a:spcAft>
                          <a:spcPts val="0"/>
                        </a:spcAft>
                        <a:defRPr/>
                      </a:pPr>
                      <a:r>
                        <a:rPr lang="it-IT" sz="1200" b="0" i="0" u="none" strike="noStrike" cap="none" spc="0">
                          <a:solidFill>
                            <a:srgbClr val="000000"/>
                          </a:solidFill>
                          <a:latin typeface="Arial"/>
                          <a:ea typeface="Arial"/>
                          <a:cs typeface="Arial"/>
                        </a:rPr>
                        <a:t>/</a:t>
                      </a:r>
                      <a:endParaRPr lang="it-IT" sz="1200" b="0" i="0" u="none" strike="noStrike" cap="none" spc="0">
                        <a:solidFill>
                          <a:srgbClr val="000000"/>
                        </a:solidFill>
                        <a:latin typeface="Arial"/>
                        <a:cs typeface="Arial"/>
                      </a:endParaRPr>
                    </a:p>
                  </a:txBody>
                  <a:tcPr marL="91424" marR="91424" marT="0" marB="0" anchor="ctr">
                    <a:lnL w="9524" algn="ctr">
                      <a:solidFill>
                        <a:schemeClr val="dk1"/>
                      </a:solidFill>
                    </a:lnL>
                    <a:lnR w="9524" algn="ctr">
                      <a:solidFill>
                        <a:schemeClr val="dk1"/>
                      </a:solidFill>
                    </a:lnR>
                    <a:lnT w="9524" algn="ctr">
                      <a:solidFill>
                        <a:srgbClr val="595959">
                          <a:alpha val="0"/>
                        </a:srgbClr>
                      </a:solidFill>
                    </a:lnT>
                    <a:lnB w="9524" algn="ctr">
                      <a:solidFill>
                        <a:srgbClr val="595959">
                          <a:alpha val="0"/>
                        </a:srgbClr>
                      </a:solidFill>
                    </a:lnB>
                    <a:noFill/>
                  </a:tcPr>
                </a:tc>
                <a:tc>
                  <a:txBody>
                    <a:bodyPr/>
                    <a:p>
                      <a:pPr marL="0" marR="0" indent="0" algn="ctr">
                        <a:lnSpc>
                          <a:spcPct val="100000"/>
                        </a:lnSpc>
                        <a:spcBef>
                          <a:spcPts val="0"/>
                        </a:spcBef>
                        <a:spcAft>
                          <a:spcPts val="0"/>
                        </a:spcAft>
                        <a:defRPr/>
                      </a:pPr>
                      <a:r>
                        <a:rPr lang="it-IT" sz="1200" b="0" i="0" u="none" strike="noStrike" cap="none" spc="0">
                          <a:solidFill>
                            <a:srgbClr val="000000"/>
                          </a:solidFill>
                          <a:latin typeface="Arial"/>
                          <a:ea typeface="Arial"/>
                          <a:cs typeface="Arial"/>
                        </a:rPr>
                        <a:t>79.09%</a:t>
                      </a:r>
                      <a:endParaRPr lang="it-IT" sz="1200" b="0" i="0" u="none" strike="noStrike" cap="none" spc="0">
                        <a:solidFill>
                          <a:srgbClr val="000000"/>
                        </a:solidFill>
                        <a:latin typeface="Arial"/>
                        <a:cs typeface="Arial"/>
                      </a:endParaRPr>
                    </a:p>
                  </a:txBody>
                  <a:tcPr marL="91424" marR="91424" marT="0" marB="0" anchor="ctr">
                    <a:lnL w="9524" algn="ctr">
                      <a:solidFill>
                        <a:schemeClr val="dk1"/>
                      </a:solidFill>
                    </a:lnL>
                    <a:lnR w="9524" algn="ctr">
                      <a:solidFill>
                        <a:schemeClr val="dk1"/>
                      </a:solidFill>
                    </a:lnR>
                    <a:lnT w="9524" algn="ctr">
                      <a:solidFill>
                        <a:srgbClr val="595959">
                          <a:alpha val="0"/>
                        </a:srgbClr>
                      </a:solidFill>
                    </a:lnT>
                    <a:lnB w="9524" algn="ctr">
                      <a:solidFill>
                        <a:srgbClr val="595959">
                          <a:alpha val="0"/>
                        </a:srgbClr>
                      </a:solidFill>
                    </a:lnB>
                    <a:noFill/>
                  </a:tcPr>
                </a:tc>
                <a:tc>
                  <a:txBody>
                    <a:bodyPr/>
                    <a:p>
                      <a:pPr marL="0" marR="0" indent="0" algn="ctr">
                        <a:lnSpc>
                          <a:spcPct val="100000"/>
                        </a:lnSpc>
                        <a:spcBef>
                          <a:spcPts val="0"/>
                        </a:spcBef>
                        <a:spcAft>
                          <a:spcPts val="0"/>
                        </a:spcAft>
                        <a:defRPr/>
                      </a:pPr>
                      <a:r>
                        <a:rPr lang="it-IT" sz="1200" b="0" i="0" u="none" strike="noStrike" cap="none" spc="0">
                          <a:solidFill>
                            <a:srgbClr val="000000"/>
                          </a:solidFill>
                          <a:latin typeface="Arial"/>
                          <a:ea typeface="Arial"/>
                          <a:cs typeface="Arial"/>
                        </a:rPr>
                        <a:t>/</a:t>
                      </a:r>
                      <a:endParaRPr lang="it-IT" sz="1200" b="0" i="0" u="none" strike="noStrike" cap="none" spc="0">
                        <a:solidFill>
                          <a:srgbClr val="000000"/>
                        </a:solidFill>
                        <a:latin typeface="Arial"/>
                        <a:cs typeface="Arial"/>
                      </a:endParaRPr>
                    </a:p>
                  </a:txBody>
                  <a:tcPr marL="91424" marR="91424" marT="0" marB="0" anchor="ctr">
                    <a:lnL w="9524" algn="ctr">
                      <a:solidFill>
                        <a:schemeClr val="dk1"/>
                      </a:solidFill>
                    </a:lnL>
                    <a:lnR w="9524" algn="ctr">
                      <a:solidFill>
                        <a:schemeClr val="dk1"/>
                      </a:solidFill>
                    </a:lnR>
                    <a:lnT w="9524" algn="ctr">
                      <a:solidFill>
                        <a:srgbClr val="595959">
                          <a:alpha val="0"/>
                        </a:srgbClr>
                      </a:solidFill>
                    </a:lnT>
                    <a:lnB w="9524" algn="ctr">
                      <a:solidFill>
                        <a:srgbClr val="595959">
                          <a:alpha val="0"/>
                        </a:srgbClr>
                      </a:solidFill>
                    </a:lnB>
                    <a:noFill/>
                  </a:tcPr>
                </a:tc>
                <a:tc>
                  <a:txBody>
                    <a:bodyPr/>
                    <a:p>
                      <a:pPr marL="0" marR="0" indent="0" algn="ctr">
                        <a:lnSpc>
                          <a:spcPct val="100000"/>
                        </a:lnSpc>
                        <a:spcBef>
                          <a:spcPts val="0"/>
                        </a:spcBef>
                        <a:spcAft>
                          <a:spcPts val="0"/>
                        </a:spcAft>
                        <a:defRPr/>
                      </a:pPr>
                      <a:r>
                        <a:rPr lang="it-IT" sz="1200" b="0" i="0" u="none" strike="noStrike" cap="none" spc="0">
                          <a:solidFill>
                            <a:srgbClr val="000000"/>
                          </a:solidFill>
                          <a:latin typeface="Arial"/>
                          <a:ea typeface="Arial"/>
                          <a:cs typeface="Arial"/>
                        </a:rPr>
                        <a:t>58.59%</a:t>
                      </a:r>
                      <a:endParaRPr lang="it-IT" sz="1200" b="0" i="0" u="none" strike="noStrike" cap="none" spc="0">
                        <a:solidFill>
                          <a:srgbClr val="000000"/>
                        </a:solidFill>
                        <a:latin typeface="Arial"/>
                        <a:cs typeface="Arial"/>
                      </a:endParaRPr>
                    </a:p>
                  </a:txBody>
                  <a:tcPr marL="91424" marR="91424" marT="0" marB="0" anchor="ctr">
                    <a:lnL w="9524" algn="ctr">
                      <a:solidFill>
                        <a:schemeClr val="dk1"/>
                      </a:solidFill>
                    </a:lnL>
                    <a:lnR w="9524" algn="ctr">
                      <a:solidFill>
                        <a:schemeClr val="dk1"/>
                      </a:solidFill>
                    </a:lnR>
                    <a:lnT w="9524" algn="ctr">
                      <a:solidFill>
                        <a:srgbClr val="595959">
                          <a:alpha val="0"/>
                        </a:srgbClr>
                      </a:solidFill>
                    </a:lnT>
                    <a:lnB w="9524" algn="ctr">
                      <a:solidFill>
                        <a:srgbClr val="595959">
                          <a:alpha val="0"/>
                        </a:srgbClr>
                      </a:solidFill>
                    </a:lnB>
                    <a:noFill/>
                  </a:tcPr>
                </a:tc>
                <a:tc>
                  <a:txBody>
                    <a:bodyPr/>
                    <a:p>
                      <a:pPr marL="0" marR="0" indent="0" algn="ctr">
                        <a:lnSpc>
                          <a:spcPct val="100000"/>
                        </a:lnSpc>
                        <a:spcBef>
                          <a:spcPts val="0"/>
                        </a:spcBef>
                        <a:spcAft>
                          <a:spcPts val="0"/>
                        </a:spcAft>
                        <a:defRPr/>
                      </a:pPr>
                      <a:r>
                        <a:rPr lang="it-IT" sz="1200" b="0" i="0" u="none" strike="noStrike" cap="none" spc="0">
                          <a:solidFill>
                            <a:srgbClr val="000000"/>
                          </a:solidFill>
                          <a:latin typeface="Arial"/>
                          <a:ea typeface="Arial"/>
                          <a:cs typeface="Arial"/>
                        </a:rPr>
                        <a:t>/</a:t>
                      </a:r>
                      <a:endParaRPr lang="it-IT" sz="1200" b="0" i="0" u="none" strike="noStrike" cap="none" spc="0">
                        <a:solidFill>
                          <a:srgbClr val="000000"/>
                        </a:solidFill>
                        <a:latin typeface="Arial"/>
                        <a:cs typeface="Arial"/>
                      </a:endParaRPr>
                    </a:p>
                  </a:txBody>
                  <a:tcPr marL="91424" marR="91424" marT="0" marB="0" anchor="ctr">
                    <a:lnL w="9524" algn="ctr">
                      <a:solidFill>
                        <a:schemeClr val="dk1"/>
                      </a:solidFill>
                    </a:lnL>
                    <a:lnR w="9524" algn="ctr">
                      <a:solidFill>
                        <a:schemeClr val="dk1"/>
                      </a:solidFill>
                    </a:lnR>
                    <a:lnT w="9524" algn="ctr">
                      <a:solidFill>
                        <a:srgbClr val="595959">
                          <a:alpha val="0"/>
                        </a:srgbClr>
                      </a:solidFill>
                    </a:lnT>
                    <a:lnB w="9524" algn="ctr">
                      <a:solidFill>
                        <a:srgbClr val="595959">
                          <a:alpha val="0"/>
                        </a:srgbClr>
                      </a:solidFill>
                    </a:lnB>
                    <a:noFill/>
                  </a:tcPr>
                </a:tc>
                <a:tc>
                  <a:txBody>
                    <a:bodyPr/>
                    <a:p>
                      <a:pPr marL="0" marR="0" indent="0" algn="ctr">
                        <a:lnSpc>
                          <a:spcPct val="100000"/>
                        </a:lnSpc>
                        <a:spcBef>
                          <a:spcPts val="0"/>
                        </a:spcBef>
                        <a:spcAft>
                          <a:spcPts val="0"/>
                        </a:spcAft>
                        <a:defRPr/>
                      </a:pPr>
                      <a:r>
                        <a:rPr lang="it-IT" sz="1200" b="0" i="0" u="none" strike="noStrike" cap="none" spc="0">
                          <a:solidFill>
                            <a:srgbClr val="000000"/>
                          </a:solidFill>
                          <a:latin typeface="Arial"/>
                          <a:ea typeface="Arial"/>
                          <a:cs typeface="Arial"/>
                        </a:rPr>
                        <a:t>74.69%</a:t>
                      </a:r>
                      <a:endParaRPr lang="it-IT" sz="1200" b="0" i="0" u="none" strike="noStrike" cap="none" spc="0">
                        <a:solidFill>
                          <a:srgbClr val="000000"/>
                        </a:solidFill>
                        <a:latin typeface="Arial"/>
                        <a:cs typeface="Arial"/>
                      </a:endParaRPr>
                    </a:p>
                  </a:txBody>
                  <a:tcPr marL="91424" marR="91424" marT="0" marB="0" anchor="ctr">
                    <a:lnL w="9524" algn="ctr">
                      <a:solidFill>
                        <a:schemeClr val="dk1"/>
                      </a:solidFill>
                    </a:lnL>
                    <a:lnR w="9524" algn="ctr">
                      <a:solidFill>
                        <a:schemeClr val="dk1"/>
                      </a:solidFill>
                    </a:lnR>
                    <a:lnT w="9524" algn="ctr">
                      <a:solidFill>
                        <a:srgbClr val="595959">
                          <a:alpha val="0"/>
                        </a:srgbClr>
                      </a:solidFill>
                    </a:lnT>
                    <a:lnB w="9524" algn="ctr">
                      <a:solidFill>
                        <a:srgbClr val="595959">
                          <a:alpha val="0"/>
                        </a:srgbClr>
                      </a:solidFill>
                    </a:lnB>
                    <a:noFill/>
                  </a:tcPr>
                </a:tc>
                <a:tc>
                  <a:txBody>
                    <a:bodyPr/>
                    <a:p>
                      <a:pPr marL="0" marR="0" indent="0" algn="ctr">
                        <a:lnSpc>
                          <a:spcPct val="100000"/>
                        </a:lnSpc>
                        <a:spcBef>
                          <a:spcPts val="0"/>
                        </a:spcBef>
                        <a:spcAft>
                          <a:spcPts val="0"/>
                        </a:spcAft>
                        <a:defRPr/>
                      </a:pPr>
                      <a:r>
                        <a:rPr lang="it-IT" sz="1200" b="0" i="0" u="none" strike="noStrike" cap="none" spc="0">
                          <a:solidFill>
                            <a:srgbClr val="000000"/>
                          </a:solidFill>
                          <a:latin typeface="Arial"/>
                          <a:ea typeface="Arial"/>
                          <a:cs typeface="Arial"/>
                        </a:rPr>
                        <a:t>/</a:t>
                      </a:r>
                      <a:endParaRPr lang="it-IT" sz="1200" b="0" i="0" u="none" strike="noStrike" cap="none" spc="0">
                        <a:solidFill>
                          <a:srgbClr val="000000"/>
                        </a:solidFill>
                        <a:latin typeface="Arial"/>
                        <a:cs typeface="Arial"/>
                      </a:endParaRPr>
                    </a:p>
                  </a:txBody>
                  <a:tcPr marL="91424" marR="91424" marT="0" marB="0" anchor="ctr">
                    <a:lnL w="9524" algn="ctr">
                      <a:solidFill>
                        <a:schemeClr val="dk1"/>
                      </a:solidFill>
                    </a:lnL>
                    <a:lnR w="9524" algn="ctr">
                      <a:solidFill>
                        <a:schemeClr val="dk1"/>
                      </a:solidFill>
                    </a:lnR>
                    <a:lnT w="9524" algn="ctr">
                      <a:solidFill>
                        <a:srgbClr val="595959">
                          <a:alpha val="0"/>
                        </a:srgbClr>
                      </a:solidFill>
                    </a:lnT>
                    <a:lnB w="9524" algn="ctr">
                      <a:solidFill>
                        <a:srgbClr val="595959">
                          <a:alpha val="0"/>
                        </a:srgbClr>
                      </a:solidFill>
                    </a:lnB>
                    <a:noFill/>
                  </a:tcPr>
                </a:tc>
                <a:tc>
                  <a:txBody>
                    <a:bodyPr/>
                    <a:p>
                      <a:pPr marL="0" marR="0" indent="0" algn="ctr">
                        <a:lnSpc>
                          <a:spcPct val="100000"/>
                        </a:lnSpc>
                        <a:spcBef>
                          <a:spcPts val="0"/>
                        </a:spcBef>
                        <a:spcAft>
                          <a:spcPts val="0"/>
                        </a:spcAft>
                        <a:defRPr/>
                      </a:pPr>
                      <a:r>
                        <a:rPr lang="it-IT" sz="1200" b="0" i="0" u="none" strike="noStrike" cap="none" spc="0">
                          <a:solidFill>
                            <a:srgbClr val="000000"/>
                          </a:solidFill>
                          <a:latin typeface="Arial"/>
                          <a:ea typeface="Arial"/>
                          <a:cs typeface="Arial"/>
                        </a:rPr>
                        <a:t>81.97%</a:t>
                      </a:r>
                      <a:endParaRPr lang="it-IT" sz="1200" b="0" i="0" u="none" strike="noStrike" cap="none" spc="0">
                        <a:solidFill>
                          <a:srgbClr val="000000"/>
                        </a:solidFill>
                        <a:latin typeface="Arial"/>
                        <a:cs typeface="Arial"/>
                      </a:endParaRPr>
                    </a:p>
                  </a:txBody>
                  <a:tcPr marL="91424" marR="91424" marT="0" marB="0" anchor="ctr">
                    <a:lnL w="9524" algn="ctr">
                      <a:solidFill>
                        <a:schemeClr val="dk1"/>
                      </a:solidFill>
                    </a:lnL>
                    <a:lnR w="9524" algn="ctr">
                      <a:solidFill>
                        <a:schemeClr val="dk1"/>
                      </a:solidFill>
                    </a:lnR>
                    <a:lnT w="9524" algn="ctr">
                      <a:solidFill>
                        <a:srgbClr val="595959">
                          <a:alpha val="0"/>
                        </a:srgbClr>
                      </a:solidFill>
                    </a:lnT>
                    <a:lnB w="9524" algn="ctr">
                      <a:solidFill>
                        <a:srgbClr val="595959">
                          <a:alpha val="0"/>
                        </a:srgbClr>
                      </a:solidFill>
                    </a:lnB>
                    <a:noFill/>
                  </a:tcPr>
                </a:tc>
              </a:tr>
              <a:tr h="361525">
                <a:tc>
                  <a:txBody>
                    <a:bodyPr/>
                    <a:p>
                      <a:pPr marL="0" lvl="0" indent="0" algn="l" rtl="0">
                        <a:spcBef>
                          <a:spcPts val="0"/>
                        </a:spcBef>
                        <a:spcAft>
                          <a:spcPts val="0"/>
                        </a:spcAft>
                        <a:buNone/>
                        <a:defRPr/>
                      </a:pPr>
                      <a:r>
                        <a:rPr lang="it-IT" sz="1000" b="1" u="sng">
                          <a:solidFill>
                            <a:schemeClr val="dk1"/>
                          </a:solidFill>
                          <a:latin typeface="DM Sans"/>
                          <a:ea typeface="DM Sans"/>
                          <a:cs typeface="DM Sans"/>
                        </a:rPr>
                        <a:t>PRONTO’s prompt experiment</a:t>
                      </a:r>
                      <a:endParaRPr sz="1000" b="1" u="sng">
                        <a:solidFill>
                          <a:schemeClr val="dk1"/>
                        </a:solidFill>
                        <a:latin typeface="DM Sans"/>
                        <a:ea typeface="DM Sans"/>
                        <a:cs typeface="DM Sans"/>
                      </a:endParaRPr>
                    </a:p>
                  </a:txBody>
                  <a:tcPr marL="91424" marR="91424" marT="0" marB="0" anchor="ctr">
                    <a:lnL w="9524" algn="ctr">
                      <a:solidFill>
                        <a:schemeClr val="dk1"/>
                      </a:solidFill>
                    </a:lnL>
                    <a:lnR w="9524" algn="ctr">
                      <a:solidFill>
                        <a:schemeClr val="dk1"/>
                      </a:solidFill>
                    </a:lnR>
                    <a:lnT w="9524" algn="ctr">
                      <a:solidFill>
                        <a:srgbClr val="595959">
                          <a:alpha val="0"/>
                        </a:srgbClr>
                      </a:solidFill>
                    </a:lnT>
                    <a:lnB w="9524" algn="ctr">
                      <a:solidFill>
                        <a:srgbClr val="595959">
                          <a:alpha val="0"/>
                        </a:srgbClr>
                      </a:solidFill>
                    </a:lnB>
                    <a:noFill/>
                  </a:tcPr>
                </a:tc>
                <a:tc>
                  <a:txBody>
                    <a:bodyPr/>
                    <a:p>
                      <a:pPr marL="0" marR="0" indent="0" algn="ctr">
                        <a:lnSpc>
                          <a:spcPct val="100000"/>
                        </a:lnSpc>
                        <a:spcBef>
                          <a:spcPts val="0"/>
                        </a:spcBef>
                        <a:spcAft>
                          <a:spcPts val="0"/>
                        </a:spcAft>
                        <a:defRPr/>
                      </a:pPr>
                      <a:r>
                        <a:rPr lang="it-IT" sz="1200" b="0" i="0" u="none" strike="noStrike" cap="none" spc="0">
                          <a:solidFill>
                            <a:srgbClr val="000000"/>
                          </a:solidFill>
                          <a:latin typeface="Arial"/>
                          <a:ea typeface="Arial"/>
                          <a:cs typeface="Arial"/>
                        </a:rPr>
                        <a:t>80.8</a:t>
                      </a:r>
                      <a:r>
                        <a:rPr lang="it-IT" sz="1200" b="0"/>
                        <a:t>5%</a:t>
                      </a:r>
                      <a:endParaRPr sz="1200" b="0"/>
                    </a:p>
                  </a:txBody>
                  <a:tcPr marL="91424" marR="91424" marT="0" marB="0" anchor="ctr">
                    <a:lnL w="9524" algn="ctr">
                      <a:solidFill>
                        <a:schemeClr val="dk1"/>
                      </a:solidFill>
                    </a:lnL>
                    <a:lnR w="9524" algn="ctr">
                      <a:solidFill>
                        <a:schemeClr val="dk1"/>
                      </a:solidFill>
                    </a:lnR>
                    <a:lnT w="9524" algn="ctr">
                      <a:solidFill>
                        <a:srgbClr val="595959">
                          <a:alpha val="0"/>
                        </a:srgbClr>
                      </a:solidFill>
                    </a:lnT>
                    <a:lnB w="9524" algn="ctr">
                      <a:solidFill>
                        <a:srgbClr val="595959">
                          <a:alpha val="0"/>
                        </a:srgbClr>
                      </a:solidFill>
                    </a:lnB>
                    <a:noFill/>
                  </a:tcPr>
                </a:tc>
                <a:tc>
                  <a:txBody>
                    <a:bodyPr/>
                    <a:p>
                      <a:pPr algn="ctr">
                        <a:defRPr/>
                      </a:pPr>
                      <a:r>
                        <a:rPr lang="it-IT" sz="1200" b="0" i="0" u="none" strike="noStrike" cap="none" spc="0">
                          <a:solidFill>
                            <a:srgbClr val="000000"/>
                          </a:solidFill>
                          <a:latin typeface="Arial"/>
                          <a:ea typeface="Arial"/>
                          <a:cs typeface="Arial"/>
                        </a:rPr>
                        <a:t>80.35% </a:t>
                      </a:r>
                      <a:br>
                        <a:rPr lang="it-IT" sz="1200" b="0" i="0" u="none" strike="noStrike" cap="none" spc="0">
                          <a:solidFill>
                            <a:srgbClr val="000000"/>
                          </a:solidFill>
                          <a:latin typeface="Arial"/>
                          <a:ea typeface="Arial"/>
                          <a:cs typeface="Arial"/>
                        </a:rPr>
                      </a:br>
                      <a:r>
                        <a:rPr lang="it-IT" sz="1200" b="0" i="0" u="none" strike="noStrike" cap="none" spc="0">
                          <a:solidFill>
                            <a:srgbClr val="00B0F0"/>
                          </a:solidFill>
                          <a:latin typeface="Arial"/>
                          <a:ea typeface="Arial"/>
                          <a:cs typeface="Arial"/>
                        </a:rPr>
                        <a:t>(no diff)</a:t>
                      </a:r>
                      <a:endParaRPr sz="1200" b="0"/>
                    </a:p>
                  </a:txBody>
                  <a:tcPr marL="91424" marR="91424" marT="0" marB="0" anchor="ctr">
                    <a:lnL w="9524" algn="ctr">
                      <a:solidFill>
                        <a:schemeClr val="dk1"/>
                      </a:solidFill>
                    </a:lnL>
                    <a:lnR w="9524" algn="ctr">
                      <a:solidFill>
                        <a:schemeClr val="dk1"/>
                      </a:solidFill>
                    </a:lnR>
                    <a:lnT w="9524" algn="ctr">
                      <a:solidFill>
                        <a:srgbClr val="595959">
                          <a:alpha val="0"/>
                        </a:srgbClr>
                      </a:solidFill>
                    </a:lnT>
                    <a:lnB w="9524" algn="ctr">
                      <a:solidFill>
                        <a:srgbClr val="595959">
                          <a:alpha val="0"/>
                        </a:srgbClr>
                      </a:solidFill>
                    </a:lnB>
                    <a:noFill/>
                  </a:tcPr>
                </a:tc>
                <a:tc>
                  <a:txBody>
                    <a:bodyPr/>
                    <a:p>
                      <a:pPr algn="ctr">
                        <a:defRPr/>
                      </a:pPr>
                      <a:r>
                        <a:rPr lang="it-IT" sz="1200" b="0" i="0" u="none" strike="noStrike" cap="none" spc="0">
                          <a:solidFill>
                            <a:srgbClr val="000000"/>
                          </a:solidFill>
                          <a:latin typeface="Arial"/>
                          <a:ea typeface="Arial"/>
                          <a:cs typeface="Arial"/>
                        </a:rPr>
                        <a:t>47.37%</a:t>
                      </a:r>
                      <a:endParaRPr lang="it-IT" sz="1200" b="0" i="0" u="none" strike="noStrike" cap="none" spc="0">
                        <a:solidFill>
                          <a:srgbClr val="000000"/>
                        </a:solidFill>
                        <a:latin typeface="Arial"/>
                        <a:ea typeface="Arial"/>
                        <a:cs typeface="Arial"/>
                      </a:endParaRPr>
                    </a:p>
                  </a:txBody>
                  <a:tcPr marL="91424" marR="91424" marT="0" marB="0" anchor="ctr">
                    <a:lnL w="9524" algn="ctr">
                      <a:solidFill>
                        <a:schemeClr val="dk1"/>
                      </a:solidFill>
                    </a:lnL>
                    <a:lnR w="9524" algn="ctr">
                      <a:solidFill>
                        <a:schemeClr val="dk1"/>
                      </a:solidFill>
                    </a:lnR>
                    <a:lnT w="9524" algn="ctr">
                      <a:solidFill>
                        <a:srgbClr val="595959">
                          <a:alpha val="0"/>
                        </a:srgbClr>
                      </a:solidFill>
                    </a:lnT>
                    <a:lnB w="9524" algn="ctr">
                      <a:solidFill>
                        <a:srgbClr val="595959">
                          <a:alpha val="0"/>
                        </a:srgbClr>
                      </a:solidFill>
                    </a:lnB>
                    <a:noFill/>
                  </a:tcPr>
                </a:tc>
                <a:tc>
                  <a:txBody>
                    <a:bodyPr/>
                    <a:p>
                      <a:pPr algn="ctr">
                        <a:defRPr/>
                      </a:pPr>
                      <a:r>
                        <a:rPr lang="it-IT" sz="1200" b="0" i="0" u="none" strike="noStrike" cap="none" spc="0">
                          <a:solidFill>
                            <a:srgbClr val="000000"/>
                          </a:solidFill>
                          <a:latin typeface="Arial"/>
                          <a:ea typeface="Arial"/>
                          <a:cs typeface="Arial"/>
                        </a:rPr>
                        <a:t>55.45% </a:t>
                      </a:r>
                      <a:br>
                        <a:rPr lang="it-IT" sz="1200" b="0" i="0" u="none" strike="noStrike" cap="none" spc="0">
                          <a:solidFill>
                            <a:srgbClr val="000000"/>
                          </a:solidFill>
                          <a:latin typeface="Arial"/>
                          <a:ea typeface="Arial"/>
                          <a:cs typeface="Arial"/>
                        </a:rPr>
                      </a:br>
                      <a:r>
                        <a:rPr lang="it-IT" sz="1200" b="0" i="0" u="none" strike="noStrike" cap="none" spc="0">
                          <a:solidFill>
                            <a:srgbClr val="FF0000"/>
                          </a:solidFill>
                          <a:latin typeface="Arial"/>
                          <a:ea typeface="Arial"/>
                          <a:cs typeface="Arial"/>
                        </a:rPr>
                        <a:t>(-3%)</a:t>
                      </a:r>
                      <a:endParaRPr lang="it-IT" sz="1200" b="0" i="0" u="none" strike="noStrike" cap="none" spc="0">
                        <a:solidFill>
                          <a:srgbClr val="000000"/>
                        </a:solidFill>
                        <a:latin typeface="Arial"/>
                        <a:ea typeface="Arial"/>
                        <a:cs typeface="Arial"/>
                      </a:endParaRPr>
                    </a:p>
                  </a:txBody>
                  <a:tcPr marL="91424" marR="91424" marT="0" marB="0" anchor="ctr">
                    <a:lnL w="9524" algn="ctr">
                      <a:solidFill>
                        <a:schemeClr val="dk1"/>
                      </a:solidFill>
                    </a:lnL>
                    <a:lnR w="9524" algn="ctr">
                      <a:solidFill>
                        <a:schemeClr val="dk1"/>
                      </a:solidFill>
                    </a:lnR>
                    <a:lnT w="9524" algn="ctr">
                      <a:solidFill>
                        <a:srgbClr val="595959">
                          <a:alpha val="0"/>
                        </a:srgbClr>
                      </a:solidFill>
                    </a:lnT>
                    <a:lnB w="9524" algn="ctr">
                      <a:solidFill>
                        <a:srgbClr val="595959">
                          <a:alpha val="0"/>
                        </a:srgbClr>
                      </a:solidFill>
                    </a:lnB>
                    <a:noFill/>
                  </a:tcPr>
                </a:tc>
                <a:tc>
                  <a:txBody>
                    <a:bodyPr/>
                    <a:p>
                      <a:pPr algn="ctr">
                        <a:defRPr/>
                      </a:pPr>
                      <a:r>
                        <a:rPr lang="it-IT" sz="1200" b="0" i="0" u="none" strike="noStrike" cap="none" spc="0">
                          <a:solidFill>
                            <a:srgbClr val="000000"/>
                          </a:solidFill>
                          <a:latin typeface="Arial"/>
                          <a:ea typeface="Arial"/>
                          <a:cs typeface="Arial"/>
                        </a:rPr>
                        <a:t>56.96%</a:t>
                      </a:r>
                      <a:endParaRPr lang="it-IT" sz="1200" b="0" i="0" u="none" strike="noStrike" cap="none" spc="0">
                        <a:solidFill>
                          <a:srgbClr val="000000"/>
                        </a:solidFill>
                        <a:latin typeface="Arial"/>
                        <a:ea typeface="Arial"/>
                        <a:cs typeface="Arial"/>
                      </a:endParaRPr>
                    </a:p>
                  </a:txBody>
                  <a:tcPr marL="91424" marR="91424" marT="0" marB="0" anchor="ctr">
                    <a:lnL w="9524" algn="ctr">
                      <a:solidFill>
                        <a:schemeClr val="dk1"/>
                      </a:solidFill>
                    </a:lnL>
                    <a:lnR w="9524" algn="ctr">
                      <a:solidFill>
                        <a:schemeClr val="dk1"/>
                      </a:solidFill>
                    </a:lnR>
                    <a:lnT w="9524" algn="ctr">
                      <a:solidFill>
                        <a:srgbClr val="595959">
                          <a:alpha val="0"/>
                        </a:srgbClr>
                      </a:solidFill>
                    </a:lnT>
                    <a:lnB w="9524" algn="ctr">
                      <a:solidFill>
                        <a:srgbClr val="595959">
                          <a:alpha val="0"/>
                        </a:srgbClr>
                      </a:solidFill>
                    </a:lnB>
                    <a:noFill/>
                  </a:tcPr>
                </a:tc>
                <a:tc>
                  <a:txBody>
                    <a:bodyPr/>
                    <a:p>
                      <a:pPr algn="ctr">
                        <a:defRPr/>
                      </a:pPr>
                      <a:r>
                        <a:rPr lang="it-IT" sz="1200" b="0" i="0" u="none" strike="noStrike" cap="none" spc="0">
                          <a:solidFill>
                            <a:srgbClr val="000000"/>
                          </a:solidFill>
                          <a:latin typeface="Arial"/>
                          <a:ea typeface="Arial"/>
                          <a:cs typeface="Arial"/>
                        </a:rPr>
                        <a:t>61.45%</a:t>
                      </a:r>
                      <a:br>
                        <a:rPr lang="it-IT" sz="1200" b="0" i="0" u="none" strike="noStrike" cap="none" spc="0">
                          <a:solidFill>
                            <a:srgbClr val="000000"/>
                          </a:solidFill>
                          <a:latin typeface="Arial"/>
                          <a:ea typeface="Arial"/>
                          <a:cs typeface="Arial"/>
                        </a:rPr>
                      </a:br>
                      <a:r>
                        <a:rPr lang="it-IT" sz="1200" b="0" i="0" u="none" strike="noStrike" cap="none" spc="0">
                          <a:solidFill>
                            <a:srgbClr val="FF0000"/>
                          </a:solidFill>
                          <a:latin typeface="Arial"/>
                          <a:ea typeface="Arial"/>
                          <a:cs typeface="Arial"/>
                        </a:rPr>
                        <a:t>(-10%)</a:t>
                      </a:r>
                      <a:endParaRPr lang="it-IT" sz="1200" b="0" i="0" u="none" strike="noStrike" cap="none" spc="0">
                        <a:solidFill>
                          <a:srgbClr val="000000"/>
                        </a:solidFill>
                        <a:latin typeface="Arial"/>
                        <a:ea typeface="Arial"/>
                        <a:cs typeface="Arial"/>
                      </a:endParaRPr>
                    </a:p>
                  </a:txBody>
                  <a:tcPr marL="91424" marR="91424" marT="0" marB="0" anchor="ctr">
                    <a:lnL w="9524" algn="ctr">
                      <a:solidFill>
                        <a:schemeClr val="dk1"/>
                      </a:solidFill>
                    </a:lnL>
                    <a:lnR w="9524" algn="ctr">
                      <a:solidFill>
                        <a:schemeClr val="dk1"/>
                      </a:solidFill>
                    </a:lnR>
                    <a:lnT w="9524" algn="ctr">
                      <a:solidFill>
                        <a:srgbClr val="595959">
                          <a:alpha val="0"/>
                        </a:srgbClr>
                      </a:solidFill>
                    </a:lnT>
                    <a:lnB w="9524" algn="ctr">
                      <a:solidFill>
                        <a:srgbClr val="595959">
                          <a:alpha val="0"/>
                        </a:srgbClr>
                      </a:solidFill>
                    </a:lnB>
                    <a:noFill/>
                  </a:tcPr>
                </a:tc>
                <a:tc>
                  <a:txBody>
                    <a:bodyPr/>
                    <a:p>
                      <a:pPr algn="ctr">
                        <a:defRPr/>
                      </a:pPr>
                      <a:r>
                        <a:rPr lang="it-IT" sz="1200" b="0" i="0" u="none" strike="noStrike" cap="none" spc="0">
                          <a:solidFill>
                            <a:srgbClr val="000000"/>
                          </a:solidFill>
                          <a:latin typeface="Arial"/>
                          <a:ea typeface="Arial"/>
                          <a:cs typeface="Arial"/>
                        </a:rPr>
                        <a:t>81.21% </a:t>
                      </a:r>
                      <a:endParaRPr lang="it-IT" sz="1200" b="0" i="0" u="none" strike="noStrike" cap="none" spc="0">
                        <a:solidFill>
                          <a:srgbClr val="000000"/>
                        </a:solidFill>
                        <a:latin typeface="Arial"/>
                        <a:ea typeface="Arial"/>
                        <a:cs typeface="Arial"/>
                      </a:endParaRPr>
                    </a:p>
                  </a:txBody>
                  <a:tcPr marL="91424" marR="91424" marT="0" marB="0" anchor="ctr">
                    <a:lnL w="9524" algn="ctr">
                      <a:solidFill>
                        <a:schemeClr val="dk1"/>
                      </a:solidFill>
                    </a:lnL>
                    <a:lnR w="9524" algn="ctr">
                      <a:solidFill>
                        <a:schemeClr val="dk1"/>
                      </a:solidFill>
                    </a:lnR>
                    <a:lnT w="9524" algn="ctr">
                      <a:solidFill>
                        <a:srgbClr val="595959">
                          <a:alpha val="0"/>
                        </a:srgbClr>
                      </a:solidFill>
                    </a:lnT>
                    <a:lnB w="9524" algn="ctr">
                      <a:solidFill>
                        <a:srgbClr val="595959">
                          <a:alpha val="0"/>
                        </a:srgbClr>
                      </a:solidFill>
                    </a:lnB>
                    <a:noFill/>
                  </a:tcPr>
                </a:tc>
                <a:tc>
                  <a:txBody>
                    <a:bodyPr/>
                    <a:p>
                      <a:pPr algn="ctr">
                        <a:defRPr/>
                      </a:pPr>
                      <a:r>
                        <a:rPr lang="it-IT" sz="1200" b="0" i="0" u="none" strike="noStrike" cap="none" spc="0">
                          <a:solidFill>
                            <a:srgbClr val="000000"/>
                          </a:solidFill>
                          <a:latin typeface="Arial"/>
                          <a:ea typeface="Arial"/>
                          <a:cs typeface="Arial"/>
                        </a:rPr>
                        <a:t>81.01%</a:t>
                      </a:r>
                      <a:endParaRPr lang="it-IT" sz="1200" b="0" i="0" u="none" strike="noStrike" cap="none" spc="0">
                        <a:solidFill>
                          <a:srgbClr val="000000"/>
                        </a:solidFill>
                        <a:latin typeface="Arial"/>
                        <a:ea typeface="Arial"/>
                        <a:cs typeface="Arial"/>
                      </a:endParaRPr>
                    </a:p>
                    <a:p>
                      <a:pPr algn="ctr">
                        <a:defRPr/>
                      </a:pPr>
                      <a:r>
                        <a:rPr lang="it-IT" sz="1200" b="0" i="0" u="none" strike="noStrike" cap="none" spc="0">
                          <a:solidFill>
                            <a:srgbClr val="00B0F0"/>
                          </a:solidFill>
                          <a:latin typeface="Arial"/>
                          <a:ea typeface="Arial"/>
                          <a:cs typeface="Arial"/>
                        </a:rPr>
                        <a:t>(no diff)</a:t>
                      </a:r>
                      <a:endParaRPr lang="it-IT" sz="1200" b="0" i="0" u="none" strike="noStrike" cap="none" spc="0">
                        <a:solidFill>
                          <a:srgbClr val="000000"/>
                        </a:solidFill>
                        <a:latin typeface="Arial"/>
                        <a:ea typeface="Arial"/>
                        <a:cs typeface="Arial"/>
                      </a:endParaRPr>
                    </a:p>
                  </a:txBody>
                  <a:tcPr marL="91424" marR="91424" marT="0" marB="0" anchor="ctr">
                    <a:lnL w="9524" algn="ctr">
                      <a:solidFill>
                        <a:schemeClr val="dk1"/>
                      </a:solidFill>
                    </a:lnL>
                    <a:lnR w="9524" algn="ctr">
                      <a:solidFill>
                        <a:schemeClr val="dk1"/>
                      </a:solidFill>
                    </a:lnR>
                    <a:lnT w="9524" algn="ctr">
                      <a:solidFill>
                        <a:srgbClr val="595959">
                          <a:alpha val="0"/>
                        </a:srgbClr>
                      </a:solidFill>
                    </a:lnT>
                    <a:lnB w="9524" algn="ctr">
                      <a:solidFill>
                        <a:srgbClr val="595959">
                          <a:alpha val="0"/>
                        </a:srgbClr>
                      </a:solidFill>
                    </a:lnB>
                    <a:noFill/>
                  </a:tcPr>
                </a:tc>
              </a:tr>
              <a:tr h="364950">
                <a:tc>
                  <a:txBody>
                    <a:bodyPr/>
                    <a:p>
                      <a:pPr marL="0" lvl="0" indent="0" algn="l" rtl="0">
                        <a:spcBef>
                          <a:spcPts val="0"/>
                        </a:spcBef>
                        <a:spcAft>
                          <a:spcPts val="0"/>
                        </a:spcAft>
                        <a:buNone/>
                        <a:defRPr/>
                      </a:pPr>
                      <a:r>
                        <a:rPr lang="it-IT" sz="1000" b="1" i="0" u="sng" strike="noStrike" cap="none" spc="0">
                          <a:solidFill>
                            <a:schemeClr val="dk1"/>
                          </a:solidFill>
                          <a:latin typeface="DM Sans"/>
                          <a:ea typeface="DM Sans"/>
                          <a:cs typeface="DM Sans"/>
                        </a:rPr>
                        <a:t>LMAOSI’s prompt experiment</a:t>
                      </a:r>
                      <a:endParaRPr sz="1000" b="1" u="sng">
                        <a:solidFill>
                          <a:schemeClr val="dk1"/>
                        </a:solidFill>
                        <a:latin typeface="DM Sans"/>
                        <a:ea typeface="DM Sans"/>
                        <a:cs typeface="DM Sans"/>
                      </a:endParaRPr>
                    </a:p>
                  </a:txBody>
                  <a:tcPr marL="91424" marR="91424" marT="0" marB="0" anchor="ctr">
                    <a:lnL w="9524" algn="ctr">
                      <a:solidFill>
                        <a:schemeClr val="dk1"/>
                      </a:solidFill>
                    </a:lnL>
                    <a:lnR w="9524" algn="ctr">
                      <a:solidFill>
                        <a:schemeClr val="dk1"/>
                      </a:solidFill>
                    </a:lnR>
                    <a:lnT w="9524" algn="ctr">
                      <a:solidFill>
                        <a:srgbClr val="595959">
                          <a:alpha val="0"/>
                        </a:srgbClr>
                      </a:solidFill>
                    </a:lnT>
                    <a:lnB w="9524" algn="ctr">
                      <a:solidFill>
                        <a:srgbClr val="595959">
                          <a:alpha val="0"/>
                        </a:srgbClr>
                      </a:solidFill>
                    </a:lnB>
                    <a:noFill/>
                  </a:tcPr>
                </a:tc>
                <a:tc>
                  <a:txBody>
                    <a:bodyPr/>
                    <a:p>
                      <a:pPr marL="0" lvl="0" indent="0" algn="ctr" rtl="0">
                        <a:spcBef>
                          <a:spcPts val="0"/>
                        </a:spcBef>
                        <a:spcAft>
                          <a:spcPts val="1599"/>
                        </a:spcAft>
                        <a:buNone/>
                        <a:defRPr/>
                      </a:pPr>
                      <a:r>
                        <a:rPr lang="it-IT" sz="1200" b="0">
                          <a:solidFill>
                            <a:schemeClr val="dk1"/>
                          </a:solidFill>
                          <a:latin typeface="DM Sans"/>
                          <a:ea typeface="DM Sans"/>
                          <a:cs typeface="DM Sans"/>
                        </a:rPr>
                        <a:t>80.90%</a:t>
                      </a:r>
                      <a:endParaRPr sz="1200" b="0">
                        <a:solidFill>
                          <a:schemeClr val="dk1"/>
                        </a:solidFill>
                        <a:latin typeface="DM Sans"/>
                        <a:ea typeface="DM Sans"/>
                        <a:cs typeface="DM Sans"/>
                      </a:endParaRPr>
                    </a:p>
                  </a:txBody>
                  <a:tcPr marL="91424" marR="91424" marT="0" marB="0" anchor="ctr">
                    <a:lnL w="9524" algn="ctr">
                      <a:solidFill>
                        <a:schemeClr val="dk1"/>
                      </a:solidFill>
                    </a:lnL>
                    <a:lnR w="9524" algn="ctr">
                      <a:solidFill>
                        <a:schemeClr val="dk1"/>
                      </a:solidFill>
                    </a:lnR>
                    <a:lnT w="9524" algn="ctr">
                      <a:solidFill>
                        <a:srgbClr val="595959">
                          <a:alpha val="0"/>
                        </a:srgbClr>
                      </a:solidFill>
                    </a:lnT>
                    <a:lnB w="9524" algn="ctr">
                      <a:solidFill>
                        <a:srgbClr val="595959">
                          <a:alpha val="0"/>
                        </a:srgbClr>
                      </a:solidFill>
                    </a:lnB>
                    <a:noFill/>
                  </a:tcPr>
                </a:tc>
                <a:tc>
                  <a:txBody>
                    <a:bodyPr/>
                    <a:p>
                      <a:pPr marL="0" lvl="0" indent="0" algn="ctr" rtl="0">
                        <a:spcBef>
                          <a:spcPts val="0"/>
                        </a:spcBef>
                        <a:spcAft>
                          <a:spcPts val="1599"/>
                        </a:spcAft>
                        <a:buNone/>
                        <a:defRPr/>
                      </a:pPr>
                      <a:r>
                        <a:rPr lang="it-IT" sz="1200" b="0">
                          <a:solidFill>
                            <a:schemeClr val="dk1"/>
                          </a:solidFill>
                          <a:latin typeface="DM Sans"/>
                          <a:ea typeface="DM Sans"/>
                          <a:cs typeface="DM Sans"/>
                        </a:rPr>
                        <a:t>75.65% </a:t>
                      </a:r>
                      <a:br>
                        <a:rPr lang="it-IT" sz="1200" b="0">
                          <a:solidFill>
                            <a:schemeClr val="dk1"/>
                          </a:solidFill>
                          <a:latin typeface="DM Sans"/>
                          <a:ea typeface="DM Sans"/>
                          <a:cs typeface="DM Sans"/>
                        </a:rPr>
                      </a:br>
                      <a:r>
                        <a:rPr lang="it-IT" sz="1200" b="0">
                          <a:solidFill>
                            <a:srgbClr val="FF0000"/>
                          </a:solidFill>
                          <a:latin typeface="DM Sans"/>
                          <a:ea typeface="DM Sans"/>
                          <a:cs typeface="DM Sans"/>
                        </a:rPr>
                        <a:t>(-3%)</a:t>
                      </a:r>
                      <a:endParaRPr sz="1200" b="0">
                        <a:solidFill>
                          <a:schemeClr val="dk1"/>
                        </a:solidFill>
                        <a:latin typeface="DM Sans"/>
                        <a:ea typeface="DM Sans"/>
                        <a:cs typeface="DM Sans"/>
                      </a:endParaRPr>
                    </a:p>
                  </a:txBody>
                  <a:tcPr marL="91424" marR="91424" marT="0" marB="0" anchor="ctr">
                    <a:lnL w="9524" algn="ctr">
                      <a:solidFill>
                        <a:schemeClr val="dk1"/>
                      </a:solidFill>
                    </a:lnL>
                    <a:lnR w="9524" algn="ctr">
                      <a:solidFill>
                        <a:schemeClr val="dk1"/>
                      </a:solidFill>
                    </a:lnR>
                    <a:lnT w="9524" algn="ctr">
                      <a:solidFill>
                        <a:srgbClr val="595959">
                          <a:alpha val="0"/>
                        </a:srgbClr>
                      </a:solidFill>
                    </a:lnT>
                    <a:lnB w="9524" algn="ctr">
                      <a:solidFill>
                        <a:srgbClr val="595959">
                          <a:alpha val="0"/>
                        </a:srgbClr>
                      </a:solidFill>
                    </a:lnB>
                    <a:noFill/>
                  </a:tcPr>
                </a:tc>
                <a:tc>
                  <a:txBody>
                    <a:bodyPr/>
                    <a:p>
                      <a:pPr algn="ctr">
                        <a:defRPr/>
                      </a:pPr>
                      <a:r>
                        <a:rPr lang="it-IT" sz="1200" b="0">
                          <a:solidFill>
                            <a:schemeClr val="dk1"/>
                          </a:solidFill>
                          <a:latin typeface="DM Sans"/>
                          <a:ea typeface="DM Sans"/>
                          <a:cs typeface="DM Sans"/>
                        </a:rPr>
                        <a:t>55.20%</a:t>
                      </a:r>
                      <a:endParaRPr lang="it-IT" sz="1200" b="0">
                        <a:solidFill>
                          <a:schemeClr val="dk1"/>
                        </a:solidFill>
                        <a:latin typeface="DM Sans"/>
                        <a:ea typeface="DM Sans"/>
                        <a:cs typeface="DM Sans"/>
                      </a:endParaRPr>
                    </a:p>
                  </a:txBody>
                  <a:tcPr marL="91424" marR="91424" marT="0" marB="0" anchor="ctr">
                    <a:lnL w="9524" algn="ctr">
                      <a:solidFill>
                        <a:schemeClr val="dk1"/>
                      </a:solidFill>
                    </a:lnL>
                    <a:lnR w="9524" algn="ctr">
                      <a:solidFill>
                        <a:schemeClr val="dk1"/>
                      </a:solidFill>
                    </a:lnR>
                    <a:lnT w="9524" algn="ctr">
                      <a:solidFill>
                        <a:srgbClr val="595959">
                          <a:alpha val="0"/>
                        </a:srgbClr>
                      </a:solidFill>
                    </a:lnT>
                    <a:lnB w="9524" algn="ctr">
                      <a:solidFill>
                        <a:srgbClr val="595959">
                          <a:alpha val="0"/>
                        </a:srgbClr>
                      </a:solidFill>
                    </a:lnB>
                    <a:noFill/>
                  </a:tcPr>
                </a:tc>
                <a:tc>
                  <a:txBody>
                    <a:bodyPr/>
                    <a:p>
                      <a:pPr algn="ctr">
                        <a:defRPr/>
                      </a:pPr>
                      <a:r>
                        <a:rPr lang="it-IT" sz="1200" b="0">
                          <a:solidFill>
                            <a:schemeClr val="dk1"/>
                          </a:solidFill>
                          <a:latin typeface="DM Sans"/>
                          <a:ea typeface="DM Sans"/>
                          <a:cs typeface="DM Sans"/>
                        </a:rPr>
                        <a:t>53.58%</a:t>
                      </a:r>
                      <a:br>
                        <a:rPr lang="it-IT" sz="1200" b="0">
                          <a:solidFill>
                            <a:schemeClr val="dk1"/>
                          </a:solidFill>
                          <a:latin typeface="DM Sans"/>
                          <a:ea typeface="DM Sans"/>
                          <a:cs typeface="DM Sans"/>
                        </a:rPr>
                      </a:br>
                      <a:r>
                        <a:rPr lang="it-IT" sz="1200" b="0" i="0" u="none" strike="noStrike" cap="none" spc="0">
                          <a:solidFill>
                            <a:srgbClr val="FF0000"/>
                          </a:solidFill>
                          <a:latin typeface="Arial"/>
                          <a:ea typeface="Arial"/>
                          <a:cs typeface="Arial"/>
                        </a:rPr>
                        <a:t>(-5%)</a:t>
                      </a:r>
                      <a:endParaRPr lang="it-IT" sz="1200" b="0">
                        <a:solidFill>
                          <a:schemeClr val="dk1"/>
                        </a:solidFill>
                        <a:latin typeface="DM Sans"/>
                        <a:ea typeface="DM Sans"/>
                        <a:cs typeface="DM Sans"/>
                      </a:endParaRPr>
                    </a:p>
                  </a:txBody>
                  <a:tcPr marL="91424" marR="91424" marT="0" marB="0" anchor="ctr">
                    <a:lnL w="9524" algn="ctr">
                      <a:solidFill>
                        <a:schemeClr val="dk1"/>
                      </a:solidFill>
                    </a:lnL>
                    <a:lnR w="9524" algn="ctr">
                      <a:solidFill>
                        <a:schemeClr val="dk1"/>
                      </a:solidFill>
                    </a:lnR>
                    <a:lnT w="9524" algn="ctr">
                      <a:solidFill>
                        <a:srgbClr val="595959">
                          <a:alpha val="0"/>
                        </a:srgbClr>
                      </a:solidFill>
                    </a:lnT>
                    <a:lnB w="9524" algn="ctr">
                      <a:solidFill>
                        <a:srgbClr val="595959">
                          <a:alpha val="0"/>
                        </a:srgbClr>
                      </a:solidFill>
                    </a:lnB>
                    <a:noFill/>
                  </a:tcPr>
                </a:tc>
                <a:tc>
                  <a:txBody>
                    <a:bodyPr/>
                    <a:p>
                      <a:pPr algn="ctr">
                        <a:defRPr/>
                      </a:pPr>
                      <a:r>
                        <a:rPr lang="it-IT" sz="1200" b="0">
                          <a:solidFill>
                            <a:schemeClr val="dk1"/>
                          </a:solidFill>
                          <a:latin typeface="DM Sans"/>
                          <a:ea typeface="DM Sans"/>
                          <a:cs typeface="DM Sans"/>
                        </a:rPr>
                        <a:t>47.97%</a:t>
                      </a:r>
                      <a:endParaRPr lang="it-IT" sz="1200" b="0">
                        <a:solidFill>
                          <a:schemeClr val="dk1"/>
                        </a:solidFill>
                        <a:latin typeface="DM Sans"/>
                        <a:ea typeface="DM Sans"/>
                        <a:cs typeface="DM Sans"/>
                      </a:endParaRPr>
                    </a:p>
                  </a:txBody>
                  <a:tcPr marL="91424" marR="91424" marT="0" marB="0" anchor="ctr">
                    <a:lnL w="9524" algn="ctr">
                      <a:solidFill>
                        <a:schemeClr val="dk1"/>
                      </a:solidFill>
                    </a:lnL>
                    <a:lnR w="9524" algn="ctr">
                      <a:solidFill>
                        <a:schemeClr val="dk1"/>
                      </a:solidFill>
                    </a:lnR>
                    <a:lnT w="9524" algn="ctr">
                      <a:solidFill>
                        <a:srgbClr val="595959">
                          <a:alpha val="0"/>
                        </a:srgbClr>
                      </a:solidFill>
                    </a:lnT>
                    <a:lnB w="9524" algn="ctr">
                      <a:solidFill>
                        <a:srgbClr val="595959">
                          <a:alpha val="0"/>
                        </a:srgbClr>
                      </a:solidFill>
                    </a:lnB>
                    <a:noFill/>
                  </a:tcPr>
                </a:tc>
                <a:tc>
                  <a:txBody>
                    <a:bodyPr/>
                    <a:p>
                      <a:pPr algn="ctr">
                        <a:defRPr/>
                      </a:pPr>
                      <a:r>
                        <a:rPr lang="it-IT" sz="1200" b="0" i="0" u="none" strike="noStrike" cap="none" spc="0">
                          <a:solidFill>
                            <a:srgbClr val="000000"/>
                          </a:solidFill>
                          <a:latin typeface="Arial"/>
                          <a:ea typeface="Arial"/>
                          <a:cs typeface="Arial"/>
                        </a:rPr>
                        <a:t>62.22% </a:t>
                      </a:r>
                      <a:br>
                        <a:rPr lang="it-IT" sz="1200" b="0" i="0" u="none" strike="noStrike" cap="none" spc="0">
                          <a:solidFill>
                            <a:srgbClr val="000000"/>
                          </a:solidFill>
                          <a:latin typeface="Arial"/>
                          <a:ea typeface="Arial"/>
                          <a:cs typeface="Arial"/>
                        </a:rPr>
                      </a:br>
                      <a:r>
                        <a:rPr lang="it-IT" sz="1200" b="0" i="0" u="none" strike="noStrike" cap="none" spc="0">
                          <a:solidFill>
                            <a:srgbClr val="FF0000"/>
                          </a:solidFill>
                          <a:latin typeface="Arial"/>
                          <a:ea typeface="Arial"/>
                          <a:cs typeface="Arial"/>
                        </a:rPr>
                        <a:t>(-9%)</a:t>
                      </a:r>
                      <a:endParaRPr lang="it-IT" sz="1200" b="0" i="0" u="none" strike="noStrike" cap="none" spc="0">
                        <a:solidFill>
                          <a:srgbClr val="000000"/>
                        </a:solidFill>
                        <a:latin typeface="Arial"/>
                        <a:ea typeface="Arial"/>
                        <a:cs typeface="Arial"/>
                      </a:endParaRPr>
                    </a:p>
                  </a:txBody>
                  <a:tcPr marL="91424" marR="91424" marT="0" marB="0" anchor="ctr">
                    <a:lnL w="9524" algn="ctr">
                      <a:solidFill>
                        <a:schemeClr val="dk1"/>
                      </a:solidFill>
                    </a:lnL>
                    <a:lnR w="9524" algn="ctr">
                      <a:solidFill>
                        <a:schemeClr val="dk1"/>
                      </a:solidFill>
                    </a:lnR>
                    <a:lnT w="9524" algn="ctr">
                      <a:solidFill>
                        <a:srgbClr val="595959">
                          <a:alpha val="0"/>
                        </a:srgbClr>
                      </a:solidFill>
                    </a:lnT>
                    <a:lnB w="9524" algn="ctr">
                      <a:solidFill>
                        <a:srgbClr val="595959">
                          <a:alpha val="0"/>
                        </a:srgbClr>
                      </a:solidFill>
                    </a:lnB>
                    <a:noFill/>
                  </a:tcPr>
                </a:tc>
                <a:tc>
                  <a:txBody>
                    <a:bodyPr/>
                    <a:p>
                      <a:pPr algn="ctr">
                        <a:defRPr/>
                      </a:pPr>
                      <a:r>
                        <a:rPr lang="it-IT" sz="1200" b="0" i="0" u="none" strike="noStrike" cap="none" spc="0">
                          <a:solidFill>
                            <a:srgbClr val="000000"/>
                          </a:solidFill>
                          <a:latin typeface="Arial"/>
                          <a:ea typeface="Arial"/>
                          <a:cs typeface="Arial"/>
                        </a:rPr>
                        <a:t>79.69%</a:t>
                      </a:r>
                      <a:endParaRPr lang="it-IT" sz="1200" b="0" i="0" u="none" strike="noStrike" cap="none" spc="0">
                        <a:solidFill>
                          <a:srgbClr val="000000"/>
                        </a:solidFill>
                        <a:latin typeface="Arial"/>
                        <a:ea typeface="Arial"/>
                        <a:cs typeface="Arial"/>
                      </a:endParaRPr>
                    </a:p>
                  </a:txBody>
                  <a:tcPr marL="91424" marR="91424" marT="0" marB="0" anchor="ctr">
                    <a:lnL w="9524" algn="ctr">
                      <a:solidFill>
                        <a:schemeClr val="dk1"/>
                      </a:solidFill>
                    </a:lnL>
                    <a:lnR w="9524" algn="ctr">
                      <a:solidFill>
                        <a:schemeClr val="dk1"/>
                      </a:solidFill>
                    </a:lnR>
                    <a:lnT w="9524" algn="ctr">
                      <a:solidFill>
                        <a:srgbClr val="595959">
                          <a:alpha val="0"/>
                        </a:srgbClr>
                      </a:solidFill>
                    </a:lnT>
                    <a:lnB w="9524" algn="ctr">
                      <a:solidFill>
                        <a:srgbClr val="595959">
                          <a:alpha val="0"/>
                        </a:srgbClr>
                      </a:solidFill>
                    </a:lnB>
                    <a:noFill/>
                  </a:tcPr>
                </a:tc>
                <a:tc>
                  <a:txBody>
                    <a:bodyPr/>
                    <a:p>
                      <a:pPr algn="ctr">
                        <a:defRPr/>
                      </a:pPr>
                      <a:r>
                        <a:rPr lang="it-IT" sz="1200" b="0" i="0" u="none" strike="noStrike" cap="none" spc="0">
                          <a:solidFill>
                            <a:srgbClr val="000000"/>
                          </a:solidFill>
                          <a:latin typeface="Arial"/>
                          <a:ea typeface="Arial"/>
                          <a:cs typeface="Arial"/>
                        </a:rPr>
                        <a:t>76.36%</a:t>
                      </a:r>
                      <a:endParaRPr lang="it-IT" sz="1200" b="0" i="0" u="none" strike="noStrike" cap="none" spc="0">
                        <a:solidFill>
                          <a:srgbClr val="000000"/>
                        </a:solidFill>
                        <a:latin typeface="Arial"/>
                        <a:ea typeface="Arial"/>
                        <a:cs typeface="Arial"/>
                      </a:endParaRPr>
                    </a:p>
                    <a:p>
                      <a:pPr algn="ctr">
                        <a:defRPr/>
                      </a:pPr>
                      <a:r>
                        <a:rPr lang="it-IT" sz="1200" b="0" i="0" u="none" strike="noStrike" cap="none" spc="0">
                          <a:solidFill>
                            <a:srgbClr val="FF0000"/>
                          </a:solidFill>
                          <a:latin typeface="Arial"/>
                          <a:ea typeface="Arial"/>
                          <a:cs typeface="Arial"/>
                        </a:rPr>
                        <a:t>(-5%)</a:t>
                      </a:r>
                      <a:endParaRPr lang="it-IT" sz="1200" b="0" i="0" u="none" strike="noStrike" cap="none" spc="0">
                        <a:solidFill>
                          <a:srgbClr val="000000"/>
                        </a:solidFill>
                        <a:latin typeface="Arial"/>
                        <a:ea typeface="Arial"/>
                        <a:cs typeface="Arial"/>
                      </a:endParaRPr>
                    </a:p>
                  </a:txBody>
                  <a:tcPr marL="91424" marR="91424" marT="0" marB="0" anchor="ctr">
                    <a:lnL w="9524" algn="ctr">
                      <a:solidFill>
                        <a:schemeClr val="dk1"/>
                      </a:solidFill>
                    </a:lnL>
                    <a:lnR w="9524" algn="ctr">
                      <a:solidFill>
                        <a:schemeClr val="dk1"/>
                      </a:solidFill>
                    </a:lnR>
                    <a:lnT w="9524" algn="ctr">
                      <a:solidFill>
                        <a:srgbClr val="595959">
                          <a:alpha val="0"/>
                        </a:srgbClr>
                      </a:solidFill>
                    </a:lnT>
                    <a:lnB w="9524" algn="ctr">
                      <a:solidFill>
                        <a:srgbClr val="595959">
                          <a:alpha val="0"/>
                        </a:srgbClr>
                      </a:solidFill>
                    </a:lnB>
                    <a:noFill/>
                  </a:tcPr>
                </a:tc>
              </a:tr>
            </a:tbl>
          </a:graphicData>
        </a:graphic>
      </p:graphicFrame>
      <p:sp>
        <p:nvSpPr>
          <p:cNvPr id="2102539996" name="Google Shape;107;p25"/>
          <p:cNvSpPr txBox="1"/>
          <p:nvPr>
            <p:ph type="body" idx="1"/>
          </p:nvPr>
        </p:nvSpPr>
        <p:spPr bwMode="auto">
          <a:xfrm flipH="0" flipV="0">
            <a:off x="263154" y="2873374"/>
            <a:ext cx="8616094" cy="1928811"/>
          </a:xfrm>
          <a:prstGeom prst="rect">
            <a:avLst/>
          </a:prstGeom>
        </p:spPr>
        <p:txBody>
          <a:bodyPr spcFirstLastPara="1" wrap="square" lIns="91424" tIns="91424" rIns="91424" bIns="91424" anchor="t" anchorCtr="0">
            <a:noAutofit/>
          </a:bodyPr>
          <a:lstStyle/>
          <a:p>
            <a:pPr marL="0" marR="0" lvl="0" indent="0" algn="just" rtl="0">
              <a:lnSpc>
                <a:spcPct val="100000"/>
              </a:lnSpc>
              <a:spcBef>
                <a:spcPts val="0"/>
              </a:spcBef>
              <a:spcAft>
                <a:spcPts val="0"/>
              </a:spcAft>
              <a:buClr>
                <a:schemeClr val="dk1"/>
              </a:buClr>
              <a:buSzPts val="1200"/>
              <a:buFont typeface="Nunito Light"/>
              <a:buNone/>
              <a:defRPr/>
            </a:pPr>
            <a:r>
              <a:rPr lang="it-IT" sz="1200" b="0" i="0" u="none" strike="noStrike" cap="none" spc="0">
                <a:solidFill>
                  <a:schemeClr val="dk1"/>
                </a:solidFill>
                <a:latin typeface="DM Sans"/>
                <a:ea typeface="DM Sans"/>
                <a:cs typeface="DM Sans"/>
              </a:rPr>
              <a:t>As </a:t>
            </a:r>
            <a:r>
              <a:rPr lang="it-IT" sz="1200" b="0" i="0" u="none" strike="noStrike" cap="none" spc="0">
                <a:solidFill>
                  <a:schemeClr val="dk1"/>
                </a:solidFill>
                <a:latin typeface="DM Sans"/>
                <a:ea typeface="DM Sans"/>
                <a:cs typeface="DM Sans"/>
              </a:rPr>
              <a:t>we can s</a:t>
            </a:r>
            <a:r>
              <a:rPr lang="it-IT" sz="1200" b="0" i="0" u="none" strike="noStrike" cap="none" spc="0">
                <a:solidFill>
                  <a:schemeClr val="dk1"/>
                </a:solidFill>
                <a:latin typeface="DM Sans"/>
                <a:ea typeface="DM Sans"/>
                <a:cs typeface="DM Sans"/>
              </a:rPr>
              <a:t>ee, for this experiment, most verbalizers from our experiment exactly replicate results from PRONTO’s paper having minimal difference, only one that has quite differences in accuracy is WS verbalizer (wich could easily be justified by the fact that that’s the more calculation heavy verbalizer and we have a totally different dataset).</a:t>
            </a:r>
            <a:endParaRPr lang="it-IT" sz="1200" b="0" i="0" u="none" strike="noStrike" cap="none" spc="0">
              <a:solidFill>
                <a:schemeClr val="dk1"/>
              </a:solidFill>
              <a:latin typeface="DM Sans"/>
              <a:ea typeface="DM Sans"/>
              <a:cs typeface="DM Sans"/>
            </a:endParaRPr>
          </a:p>
          <a:p>
            <a:pPr marL="0" marR="0" lvl="0" indent="0" algn="just" rtl="0">
              <a:lnSpc>
                <a:spcPct val="100000"/>
              </a:lnSpc>
              <a:spcBef>
                <a:spcPts val="0"/>
              </a:spcBef>
              <a:spcAft>
                <a:spcPts val="0"/>
              </a:spcAft>
              <a:buClr>
                <a:schemeClr val="dk1"/>
              </a:buClr>
              <a:buSzPts val="1200"/>
              <a:buFont typeface="Nunito Light"/>
              <a:buNone/>
              <a:defRPr/>
            </a:pPr>
            <a:endParaRPr lang="it-IT" sz="700" b="0" i="0" u="none" strike="noStrike" cap="none" spc="0">
              <a:solidFill>
                <a:schemeClr val="dk1"/>
              </a:solidFill>
              <a:latin typeface="DM Sans"/>
              <a:ea typeface="DM Sans"/>
              <a:cs typeface="DM Sans"/>
            </a:endParaRPr>
          </a:p>
          <a:p>
            <a:pPr marL="0" marR="0" lvl="0" indent="0" algn="just" rtl="0">
              <a:lnSpc>
                <a:spcPct val="100000"/>
              </a:lnSpc>
              <a:spcBef>
                <a:spcPts val="0"/>
              </a:spcBef>
              <a:spcAft>
                <a:spcPts val="0"/>
              </a:spcAft>
              <a:buClr>
                <a:schemeClr val="dk1"/>
              </a:buClr>
              <a:buSzPts val="1200"/>
              <a:buFont typeface="Nunito Light"/>
              <a:buNone/>
              <a:defRPr/>
            </a:pPr>
            <a:r>
              <a:rPr lang="it-IT" sz="1200" b="0" i="0" u="none" strike="noStrike" cap="none" spc="0">
                <a:solidFill>
                  <a:schemeClr val="dk1"/>
                </a:solidFill>
                <a:latin typeface="DM Sans"/>
                <a:ea typeface="DM Sans"/>
                <a:cs typeface="DM Sans"/>
              </a:rPr>
              <a:t>Yet, situation is exactly as in the original paper: the </a:t>
            </a:r>
            <a:r>
              <a:rPr lang="en-US" sz="1200" b="0" i="0" u="none" strike="noStrike" cap="none" spc="0">
                <a:solidFill>
                  <a:schemeClr val="dk1"/>
                </a:solidFill>
                <a:latin typeface="DM Sans"/>
                <a:ea typeface="DM Sans"/>
                <a:cs typeface="DM Sans"/>
              </a:rPr>
              <a:t>he Mapping-Free </a:t>
            </a:r>
            <a:r>
              <a:rPr lang="en-US" sz="1200" b="1" i="0" u="none" strike="noStrike" cap="none" spc="0">
                <a:solidFill>
                  <a:schemeClr val="dk1"/>
                </a:solidFill>
                <a:latin typeface="DM Sans"/>
                <a:ea typeface="DM Sans"/>
                <a:cs typeface="DM Sans"/>
              </a:rPr>
              <a:t>Automatic Verbalizer (MAV</a:t>
            </a:r>
            <a:r>
              <a:rPr lang="it-IT" sz="1200" b="1" i="0" u="none" strike="noStrike" cap="none" spc="0">
                <a:solidFill>
                  <a:schemeClr val="dk1"/>
                </a:solidFill>
                <a:latin typeface="DM Sans"/>
                <a:ea typeface="DM Sans"/>
                <a:cs typeface="DM Sans"/>
              </a:rPr>
              <a:t>-VF</a:t>
            </a:r>
            <a:r>
              <a:rPr lang="en-US" sz="1200" b="1" i="0" u="none" strike="noStrike" cap="none" spc="0">
                <a:solidFill>
                  <a:schemeClr val="dk1"/>
                </a:solidFill>
                <a:latin typeface="DM Sans"/>
                <a:ea typeface="DM Sans"/>
                <a:cs typeface="DM Sans"/>
              </a:rPr>
              <a:t>) consistently outperforms those based on direct mapping (LIN and WS)</a:t>
            </a:r>
            <a:r>
              <a:rPr lang="en-US" sz="1200" b="0" i="0" u="none" strike="noStrike" cap="none" spc="0">
                <a:solidFill>
                  <a:schemeClr val="dk1"/>
                </a:solidFill>
                <a:latin typeface="DM Sans"/>
                <a:ea typeface="DM Sans"/>
                <a:cs typeface="DM Sans"/>
              </a:rPr>
              <a:t>. This suggests token probabilities likely contain complex relationships that direct mapping approaches might miss. The MAV strategy seems to capture these more effectively</a:t>
            </a:r>
            <a:r>
              <a:rPr lang="it-IT"/>
              <a:t>. </a:t>
            </a:r>
            <a:endParaRPr lang="it-IT"/>
          </a:p>
          <a:p>
            <a:pPr marL="0" marR="0" lvl="0" indent="0" algn="just" rtl="0">
              <a:lnSpc>
                <a:spcPct val="100000"/>
              </a:lnSpc>
              <a:spcBef>
                <a:spcPts val="0"/>
              </a:spcBef>
              <a:spcAft>
                <a:spcPts val="0"/>
              </a:spcAft>
              <a:buClr>
                <a:schemeClr val="dk1"/>
              </a:buClr>
              <a:buSzPts val="1200"/>
              <a:buFont typeface="Nunito Light"/>
              <a:buNone/>
              <a:defRPr/>
            </a:pPr>
            <a:r>
              <a:rPr lang="it-IT" b="1"/>
              <a:t>Also we can still see LMAOSI’s prompt always underperforming PRONTO’s prompt</a:t>
            </a:r>
            <a:r>
              <a:rPr lang="it-IT"/>
              <a:t>, further validating our theory.</a:t>
            </a:r>
            <a:endParaRPr lang="it-IT"/>
          </a:p>
          <a:p>
            <a:pPr marL="0" marR="0" lvl="0" indent="0" algn="just" rtl="0">
              <a:lnSpc>
                <a:spcPct val="100000"/>
              </a:lnSpc>
              <a:spcBef>
                <a:spcPts val="0"/>
              </a:spcBef>
              <a:spcAft>
                <a:spcPts val="0"/>
              </a:spcAft>
              <a:buClr>
                <a:schemeClr val="dk1"/>
              </a:buClr>
              <a:buSzPts val="1200"/>
              <a:buFont typeface="Nunito Light"/>
              <a:buNone/>
              <a:defRPr/>
            </a:pPr>
            <a:endParaRPr sz="700"/>
          </a:p>
          <a:p>
            <a:pPr marL="0" marR="0" lvl="0" indent="0" algn="just" rtl="0">
              <a:lnSpc>
                <a:spcPct val="100000"/>
              </a:lnSpc>
              <a:spcBef>
                <a:spcPts val="0"/>
              </a:spcBef>
              <a:spcAft>
                <a:spcPts val="0"/>
              </a:spcAft>
              <a:buClr>
                <a:schemeClr val="dk1"/>
              </a:buClr>
              <a:buSzPts val="1200"/>
              <a:buFont typeface="Nunito Light"/>
              <a:buNone/>
              <a:defRPr/>
            </a:pPr>
            <a:r>
              <a:rPr lang="it-IT" b="1"/>
              <a:t>Since MAV verbalizer is trained on a more difficult dataset thatn the on</a:t>
            </a:r>
            <a:r>
              <a:rPr lang="it-IT" b="1"/>
              <a:t>e of k-shots we can confidently say that this verbalizer is the most performing one we came across even if it reaches slightly lesser results than 128-shot.</a:t>
            </a:r>
            <a:endParaRPr lang="it-IT"/>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67268225" name="Google Shape;133;p28"/>
          <p:cNvSpPr txBox="1"/>
          <p:nvPr>
            <p:ph type="title"/>
          </p:nvPr>
        </p:nvSpPr>
        <p:spPr bwMode="auto">
          <a:xfrm flipH="0" flipV="0">
            <a:off x="542674" y="991834"/>
            <a:ext cx="7966874" cy="925069"/>
          </a:xfrm>
          <a:prstGeom prst="rect">
            <a:avLst/>
          </a:prstGeom>
        </p:spPr>
        <p:txBody>
          <a:bodyPr spcFirstLastPara="1" vertOverflow="overflow" horzOverflow="overflow" vert="horz" wrap="square" lIns="91424" tIns="91424" rIns="91424" bIns="91424" numCol="1" spcCol="0" rtlCol="0" fromWordArt="0" anchor="ctr" anchorCtr="0" forceAA="0" upright="0" compatLnSpc="0">
            <a:noAutofit/>
          </a:bodyPr>
          <a:lstStyle/>
          <a:p>
            <a:pPr marL="0" lvl="0" indent="0" algn="r" rtl="0">
              <a:spcBef>
                <a:spcPts val="0"/>
              </a:spcBef>
              <a:spcAft>
                <a:spcPts val="0"/>
              </a:spcAft>
              <a:buNone/>
              <a:defRPr/>
            </a:pPr>
            <a:r>
              <a:rPr lang="it-IT" sz="4500" b="0" i="0" u="none" strike="noStrike" cap="none" spc="0">
                <a:solidFill>
                  <a:schemeClr val="dk1"/>
                </a:solidFill>
                <a:latin typeface="Funnel Display"/>
                <a:ea typeface="Funnel Display"/>
                <a:cs typeface="Funnel Display"/>
              </a:rPr>
              <a:t>CONCLUSIONS:</a:t>
            </a:r>
            <a:endParaRPr sz="4500"/>
          </a:p>
        </p:txBody>
      </p:sp>
      <p:sp>
        <p:nvSpPr>
          <p:cNvPr id="658298261" name="Google Shape;134;p28"/>
          <p:cNvSpPr txBox="1"/>
          <p:nvPr>
            <p:ph type="title" idx="2"/>
          </p:nvPr>
        </p:nvSpPr>
        <p:spPr bwMode="auto">
          <a:xfrm>
            <a:off x="464023" y="424695"/>
            <a:ext cx="859799" cy="668999"/>
          </a:xfrm>
          <a:prstGeom prst="rect">
            <a:avLst/>
          </a:prstGeom>
        </p:spPr>
        <p:txBody>
          <a:bodyPr spcFirstLastPara="1" wrap="square" lIns="91424" tIns="91424" rIns="91424" bIns="91424" anchor="ctr" anchorCtr="0">
            <a:noAutofit/>
          </a:bodyPr>
          <a:lstStyle/>
          <a:p>
            <a:pPr marL="0" lvl="0" indent="0" algn="l" rtl="0">
              <a:spcBef>
                <a:spcPts val="0"/>
              </a:spcBef>
              <a:spcAft>
                <a:spcPts val="0"/>
              </a:spcAft>
              <a:buNone/>
              <a:defRPr/>
            </a:pPr>
            <a:r>
              <a:rPr lang="en"/>
              <a:t>0</a:t>
            </a:r>
            <a:r>
              <a:rPr lang="it-IT"/>
              <a:t>4</a:t>
            </a:r>
            <a:endParaRPr/>
          </a:p>
        </p:txBody>
      </p:sp>
      <p:cxnSp>
        <p:nvCxnSpPr>
          <p:cNvPr id="144831292" name="Google Shape;136;p28"/>
          <p:cNvCxnSpPr/>
          <p:nvPr/>
        </p:nvCxnSpPr>
        <p:spPr bwMode="auto">
          <a:xfrm>
            <a:off x="1217749" y="928580"/>
            <a:ext cx="7291800" cy="0"/>
          </a:xfrm>
          <a:prstGeom prst="straightConnector1">
            <a:avLst/>
          </a:prstGeom>
          <a:noFill/>
          <a:ln w="9525" cap="flat" cmpd="sng">
            <a:solidFill>
              <a:schemeClr val="dk1"/>
            </a:solidFill>
            <a:prstDash val="solid"/>
            <a:round/>
            <a:headEnd type="none" w="med" len="med"/>
            <a:tailEnd type="none" w="med" len="med"/>
          </a:ln>
        </p:spPr>
      </p:cxnSp>
      <p:sp>
        <p:nvSpPr>
          <p:cNvPr id="2121120850" name=""/>
          <p:cNvSpPr/>
          <p:nvPr/>
        </p:nvSpPr>
        <p:spPr bwMode="auto">
          <a:xfrm flipH="0" flipV="0">
            <a:off x="1212970" y="1789992"/>
            <a:ext cx="7260403" cy="251819"/>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lgn="r">
              <a:defRPr/>
            </a:pPr>
            <a:r>
              <a:rPr lang="it-IT" sz="1050" b="1" i="0" u="none">
                <a:solidFill>
                  <a:schemeClr val="tx1"/>
                </a:solidFill>
                <a:latin typeface="Droid Sans Mono"/>
                <a:ea typeface="Droid Sans Mono"/>
                <a:cs typeface="Droid Sans Mono"/>
              </a:rPr>
              <a:t>Website containing all evaluations and reasoning about runned experiment</a:t>
            </a:r>
            <a:endParaRPr b="1">
              <a:solidFill>
                <a:schemeClr val="tx1"/>
              </a:solidFill>
            </a:endParaRPr>
          </a:p>
        </p:txBody>
      </p:sp>
      <p:sp>
        <p:nvSpPr>
          <p:cNvPr id="969144113" name=""/>
          <p:cNvSpPr/>
          <p:nvPr/>
        </p:nvSpPr>
        <p:spPr bwMode="auto">
          <a:xfrm rot="0" flipH="0" flipV="0">
            <a:off x="763737" y="2381249"/>
            <a:ext cx="7683387" cy="2000249"/>
          </a:xfrm>
          <a:prstGeom prst="rect">
            <a:avLst/>
          </a:prstGeom>
          <a:ln w="38099" cap="flat" cmpd="sng" algn="ctr">
            <a:solidFill>
              <a:schemeClr val="accent1">
                <a:shade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p>
            <a:pPr algn="ctr">
              <a:defRPr/>
            </a:pPr>
            <a:endParaRPr/>
          </a:p>
        </p:txBody>
      </p:sp>
      <p:sp>
        <p:nvSpPr>
          <p:cNvPr id="1227550747" name=""/>
          <p:cNvSpPr txBox="1"/>
          <p:nvPr/>
        </p:nvSpPr>
        <p:spPr bwMode="auto">
          <a:xfrm rot="0" flipH="0" flipV="0">
            <a:off x="1176374" y="2619374"/>
            <a:ext cx="6890469" cy="158531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just">
              <a:defRPr/>
            </a:pPr>
            <a:r>
              <a:rPr lang="it-IT"/>
              <a:t>Even throug some experiments got a few percentage of accuracy below expected results from papers, all experiments performed in a similar way of what we’d expect. Also since we used different dataset for some of this experiments we are completely satisfied by the results.</a:t>
            </a:r>
            <a:endParaRPr lang="it-IT"/>
          </a:p>
          <a:p>
            <a:pPr algn="ctr">
              <a:defRPr/>
            </a:pPr>
            <a:endParaRPr/>
          </a:p>
          <a:p>
            <a:pPr algn="ctr">
              <a:defRPr/>
            </a:pPr>
            <a:r>
              <a:rPr lang="it-IT"/>
              <a:t>More evaluations of said results can be foung here:</a:t>
            </a:r>
            <a:br>
              <a:rPr lang="it-IT"/>
            </a:br>
            <a:r>
              <a:rPr lang="it-IT" sz="1400" b="0" i="0" u="none" strike="noStrike" cap="none" spc="0">
                <a:solidFill>
                  <a:srgbClr val="00B0F0"/>
                </a:solidFill>
                <a:latin typeface="Arial"/>
                <a:ea typeface="Arial"/>
                <a:cs typeface="Arial"/>
              </a:rPr>
              <a:t>https://vr3ed.github.io/data-semantics-project/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Minimalist for Business by Slidesgo">
  <a:themeElements>
    <a:clrScheme name="Simple Light">
      <a:dk1>
        <a:srgbClr val="191919"/>
      </a:dk1>
      <a:lt1>
        <a:srgbClr val="FFFFFF"/>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ONLYOFFICE/9.2.1.43</Application>
  <PresentationFormat>On-screen Show (4:3)</PresentationFormat>
  <Paragraphs>0</Paragraphs>
  <Slides>16</Slides>
  <Notes>16</Notes>
  <HiddenSlides>0</HiddenSlides>
  <MMClips>2</MMClips>
  <ScaleCrop>0</ScaleCrop>
  <HeadingPairs>
    <vt:vector size="4" baseType="variant">
      <vt:variant>
        <vt:lpstr>Theme</vt:lpstr>
      </vt:variant>
      <vt:variant>
        <vt:i4>1</vt:i4>
      </vt:variant>
      <vt:variant>
        <vt:lpstr>Slide Titles</vt:lpstr>
      </vt:variant>
      <vt:variant>
        <vt:i4>16</vt:i4>
      </vt:variant>
    </vt:vector>
  </HeadingPairs>
  <TitlesOfParts>
    <vt:vector size="17"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
</cp:coreProperties>
</file>